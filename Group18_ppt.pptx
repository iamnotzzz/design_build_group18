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mo" charset="1" panose="020B0604020202020204"/>
      <p:regular r:id="rId29"/>
    </p:embeddedFont>
    <p:embeddedFont>
      <p:font typeface="思源黑体" charset="1" panose="020B0500000000000000"/>
      <p:regular r:id="rId30"/>
    </p:embeddedFont>
    <p:embeddedFont>
      <p:font typeface="Times New Roman" charset="1" panose="02020603050405020304"/>
      <p:regular r:id="rId31"/>
    </p:embeddedFont>
    <p:embeddedFont>
      <p:font typeface="Times New Roman Bold" charset="1" panose="02020803070505020304"/>
      <p:regular r:id="rId32"/>
    </p:embeddedFont>
    <p:embeddedFont>
      <p:font typeface="Anton" charset="1" panose="00000500000000000000"/>
      <p:regular r:id="rId33"/>
    </p:embeddedFont>
    <p:embeddedFont>
      <p:font typeface="Times New Roman Italics" charset="1" panose="02020503050405090304"/>
      <p:regular r:id="rId34"/>
    </p:embeddedFont>
    <p:embeddedFont>
      <p:font typeface="Calibri (MS)" charset="1" panose="020F0502020204030204"/>
      <p:regular r:id="rId35"/>
    </p:embeddedFont>
    <p:embeddedFont>
      <p:font typeface="Arimo Bold" charset="1" panose="020B070402020202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18" Target="../media/image2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media/image45.png" Type="http://schemas.openxmlformats.org/officeDocument/2006/relationships/image"/><Relationship Id="rId15" Target="../media/image46.svg" Type="http://schemas.openxmlformats.org/officeDocument/2006/relationships/image"/><Relationship Id="rId16" Target="../media/image23.png" Type="http://schemas.openxmlformats.org/officeDocument/2006/relationships/image"/><Relationship Id="rId17" Target="../media/image47.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2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52.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 Id="rId7" Target="../media/image5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54.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11" Target="../media/image55.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5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18" Target="../media/image56.png" Type="http://schemas.openxmlformats.org/officeDocument/2006/relationships/image"/><Relationship Id="rId19" Target="../media/image57.svg" Type="http://schemas.openxmlformats.org/officeDocument/2006/relationships/image"/><Relationship Id="rId2" Target="../media/image15.png" Type="http://schemas.openxmlformats.org/officeDocument/2006/relationships/image"/><Relationship Id="rId20" Target="../media/image23.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3.png" Type="http://schemas.openxmlformats.org/officeDocument/2006/relationships/image"/><Relationship Id="rId9" Target="../media/image5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 Id="rId7" Target="../media/image6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 Id="rId7" Target="../media/image6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3.png" Type="http://schemas.openxmlformats.org/officeDocument/2006/relationships/image"/><Relationship Id="rId7" Target="../media/image62.png" Type="http://schemas.openxmlformats.org/officeDocument/2006/relationships/image"/><Relationship Id="rId8" Target="../media/image6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63D3D"/>
        </a:solidFill>
      </p:bgPr>
    </p:bg>
    <p:spTree>
      <p:nvGrpSpPr>
        <p:cNvPr id="1" name=""/>
        <p:cNvGrpSpPr/>
        <p:nvPr/>
      </p:nvGrpSpPr>
      <p:grpSpPr>
        <a:xfrm>
          <a:off x="0" y="0"/>
          <a:ext cx="0" cy="0"/>
          <a:chOff x="0" y="0"/>
          <a:chExt cx="0" cy="0"/>
        </a:xfrm>
      </p:grpSpPr>
      <p:sp>
        <p:nvSpPr>
          <p:cNvPr name="Freeform 2" id="2"/>
          <p:cNvSpPr/>
          <p:nvPr/>
        </p:nvSpPr>
        <p:spPr>
          <a:xfrm flipH="false" flipV="false" rot="0">
            <a:off x="510097" y="-611200"/>
            <a:ext cx="17267805" cy="8412822"/>
          </a:xfrm>
          <a:custGeom>
            <a:avLst/>
            <a:gdLst/>
            <a:ahLst/>
            <a:cxnLst/>
            <a:rect r="r" b="b" t="t" l="l"/>
            <a:pathLst>
              <a:path h="8412822" w="17267805">
                <a:moveTo>
                  <a:pt x="0" y="0"/>
                </a:moveTo>
                <a:lnTo>
                  <a:pt x="17267805" y="0"/>
                </a:lnTo>
                <a:lnTo>
                  <a:pt x="17267805" y="8412822"/>
                </a:lnTo>
                <a:lnTo>
                  <a:pt x="0" y="8412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90600"/>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558800" y="0"/>
                  </a:moveTo>
                  <a:lnTo>
                    <a:pt x="965200" y="0"/>
                  </a:lnTo>
                  <a:lnTo>
                    <a:pt x="965200" y="50800"/>
                  </a:lnTo>
                  <a:lnTo>
                    <a:pt x="558800" y="50800"/>
                  </a:lnTo>
                  <a:close/>
                  <a:moveTo>
                    <a:pt x="1117600" y="0"/>
                  </a:moveTo>
                  <a:lnTo>
                    <a:pt x="1524000" y="0"/>
                  </a:lnTo>
                  <a:lnTo>
                    <a:pt x="1524000" y="50800"/>
                  </a:lnTo>
                  <a:lnTo>
                    <a:pt x="1117600" y="50800"/>
                  </a:lnTo>
                  <a:close/>
                  <a:moveTo>
                    <a:pt x="1676400" y="50800"/>
                  </a:moveTo>
                  <a:lnTo>
                    <a:pt x="2082800" y="50800"/>
                  </a:lnTo>
                  <a:lnTo>
                    <a:pt x="1676400" y="50800"/>
                  </a:lnTo>
                  <a:close/>
                  <a:moveTo>
                    <a:pt x="2235200" y="50800"/>
                  </a:moveTo>
                  <a:lnTo>
                    <a:pt x="2641600" y="50800"/>
                  </a:lnTo>
                  <a:lnTo>
                    <a:pt x="2235200" y="50800"/>
                  </a:lnTo>
                  <a:close/>
                  <a:moveTo>
                    <a:pt x="2794000" y="50800"/>
                  </a:moveTo>
                  <a:lnTo>
                    <a:pt x="3200400" y="50800"/>
                  </a:lnTo>
                  <a:lnTo>
                    <a:pt x="2794000" y="50800"/>
                  </a:lnTo>
                  <a:close/>
                  <a:moveTo>
                    <a:pt x="3352800" y="50800"/>
                  </a:moveTo>
                  <a:lnTo>
                    <a:pt x="3759200" y="50800"/>
                  </a:lnTo>
                  <a:lnTo>
                    <a:pt x="3352800" y="50800"/>
                  </a:lnTo>
                  <a:close/>
                  <a:moveTo>
                    <a:pt x="3911600" y="50800"/>
                  </a:moveTo>
                  <a:lnTo>
                    <a:pt x="4318000" y="50800"/>
                  </a:lnTo>
                  <a:lnTo>
                    <a:pt x="3911600" y="50800"/>
                  </a:lnTo>
                  <a:close/>
                  <a:moveTo>
                    <a:pt x="4470400" y="50800"/>
                  </a:moveTo>
                  <a:lnTo>
                    <a:pt x="4876800" y="50800"/>
                  </a:lnTo>
                  <a:lnTo>
                    <a:pt x="4470400" y="50800"/>
                  </a:lnTo>
                  <a:close/>
                  <a:moveTo>
                    <a:pt x="5029200" y="50800"/>
                  </a:moveTo>
                  <a:lnTo>
                    <a:pt x="5435600" y="50800"/>
                  </a:lnTo>
                  <a:lnTo>
                    <a:pt x="5029200" y="50800"/>
                  </a:lnTo>
                  <a:close/>
                  <a:moveTo>
                    <a:pt x="5588000" y="50800"/>
                  </a:moveTo>
                  <a:lnTo>
                    <a:pt x="5994400" y="50800"/>
                  </a:lnTo>
                  <a:lnTo>
                    <a:pt x="5588000" y="50800"/>
                  </a:lnTo>
                  <a:close/>
                  <a:moveTo>
                    <a:pt x="6146800" y="50800"/>
                  </a:moveTo>
                  <a:lnTo>
                    <a:pt x="6553200" y="50800"/>
                  </a:lnTo>
                  <a:lnTo>
                    <a:pt x="6146800" y="50800"/>
                  </a:lnTo>
                  <a:close/>
                  <a:moveTo>
                    <a:pt x="6705600" y="50800"/>
                  </a:moveTo>
                  <a:lnTo>
                    <a:pt x="7112000" y="50800"/>
                  </a:lnTo>
                  <a:lnTo>
                    <a:pt x="6705600" y="50800"/>
                  </a:lnTo>
                  <a:close/>
                  <a:moveTo>
                    <a:pt x="7264400" y="50800"/>
                  </a:moveTo>
                  <a:lnTo>
                    <a:pt x="7670800" y="50800"/>
                  </a:lnTo>
                  <a:lnTo>
                    <a:pt x="7264400" y="50800"/>
                  </a:lnTo>
                  <a:close/>
                  <a:moveTo>
                    <a:pt x="7823200" y="50800"/>
                  </a:moveTo>
                  <a:lnTo>
                    <a:pt x="8229600" y="50800"/>
                  </a:lnTo>
                  <a:lnTo>
                    <a:pt x="7823200" y="50800"/>
                  </a:lnTo>
                  <a:close/>
                  <a:moveTo>
                    <a:pt x="8382000" y="50800"/>
                  </a:moveTo>
                  <a:lnTo>
                    <a:pt x="8788400" y="50800"/>
                  </a:lnTo>
                  <a:lnTo>
                    <a:pt x="8382000" y="50800"/>
                  </a:lnTo>
                  <a:close/>
                  <a:moveTo>
                    <a:pt x="8940800" y="50800"/>
                  </a:moveTo>
                  <a:lnTo>
                    <a:pt x="9347200" y="50800"/>
                  </a:lnTo>
                  <a:lnTo>
                    <a:pt x="8940800" y="50800"/>
                  </a:lnTo>
                  <a:close/>
                  <a:moveTo>
                    <a:pt x="9499600" y="50800"/>
                  </a:moveTo>
                  <a:lnTo>
                    <a:pt x="9906000" y="50800"/>
                  </a:lnTo>
                  <a:lnTo>
                    <a:pt x="9499600" y="50800"/>
                  </a:lnTo>
                  <a:close/>
                  <a:moveTo>
                    <a:pt x="10058400" y="50800"/>
                  </a:moveTo>
                  <a:lnTo>
                    <a:pt x="10464800" y="50800"/>
                  </a:lnTo>
                  <a:lnTo>
                    <a:pt x="10058400" y="50800"/>
                  </a:lnTo>
                  <a:close/>
                  <a:moveTo>
                    <a:pt x="10617200" y="50800"/>
                  </a:moveTo>
                  <a:lnTo>
                    <a:pt x="11023600" y="50800"/>
                  </a:lnTo>
                  <a:lnTo>
                    <a:pt x="10617200" y="50800"/>
                  </a:lnTo>
                  <a:close/>
                  <a:moveTo>
                    <a:pt x="11176000" y="50800"/>
                  </a:moveTo>
                  <a:lnTo>
                    <a:pt x="11582400" y="50800"/>
                  </a:lnTo>
                  <a:lnTo>
                    <a:pt x="11176000" y="50800"/>
                  </a:lnTo>
                  <a:close/>
                  <a:moveTo>
                    <a:pt x="11734800" y="50800"/>
                  </a:moveTo>
                  <a:lnTo>
                    <a:pt x="12141200" y="50800"/>
                  </a:lnTo>
                  <a:lnTo>
                    <a:pt x="11734800" y="50800"/>
                  </a:lnTo>
                  <a:close/>
                  <a:moveTo>
                    <a:pt x="12293600" y="50800"/>
                  </a:moveTo>
                  <a:lnTo>
                    <a:pt x="12700000" y="50800"/>
                  </a:lnTo>
                  <a:lnTo>
                    <a:pt x="12293600" y="50800"/>
                  </a:lnTo>
                  <a:close/>
                  <a:moveTo>
                    <a:pt x="12852400" y="50800"/>
                  </a:moveTo>
                  <a:lnTo>
                    <a:pt x="13258800" y="50800"/>
                  </a:lnTo>
                  <a:lnTo>
                    <a:pt x="12852400" y="50800"/>
                  </a:lnTo>
                  <a:close/>
                  <a:moveTo>
                    <a:pt x="13411200" y="50800"/>
                  </a:moveTo>
                  <a:lnTo>
                    <a:pt x="13817600" y="50800"/>
                  </a:lnTo>
                  <a:lnTo>
                    <a:pt x="13411200" y="50800"/>
                  </a:lnTo>
                  <a:close/>
                  <a:moveTo>
                    <a:pt x="13970000" y="50800"/>
                  </a:moveTo>
                  <a:lnTo>
                    <a:pt x="14376400" y="50800"/>
                  </a:lnTo>
                  <a:lnTo>
                    <a:pt x="13970000" y="50800"/>
                  </a:lnTo>
                  <a:close/>
                  <a:moveTo>
                    <a:pt x="14528800" y="50800"/>
                  </a:moveTo>
                  <a:lnTo>
                    <a:pt x="14935200" y="50800"/>
                  </a:lnTo>
                  <a:lnTo>
                    <a:pt x="14528800" y="50800"/>
                  </a:lnTo>
                  <a:close/>
                  <a:moveTo>
                    <a:pt x="15087600" y="50800"/>
                  </a:moveTo>
                  <a:lnTo>
                    <a:pt x="15494000" y="50800"/>
                  </a:lnTo>
                  <a:lnTo>
                    <a:pt x="15087600" y="50800"/>
                  </a:lnTo>
                  <a:close/>
                  <a:moveTo>
                    <a:pt x="15646400" y="50800"/>
                  </a:moveTo>
                  <a:lnTo>
                    <a:pt x="16052800" y="50800"/>
                  </a:lnTo>
                  <a:lnTo>
                    <a:pt x="15646400" y="50800"/>
                  </a:lnTo>
                  <a:close/>
                  <a:moveTo>
                    <a:pt x="16205200" y="50800"/>
                  </a:moveTo>
                  <a:lnTo>
                    <a:pt x="16611600" y="50800"/>
                  </a:lnTo>
                  <a:lnTo>
                    <a:pt x="16205200" y="50800"/>
                  </a:lnTo>
                  <a:close/>
                  <a:moveTo>
                    <a:pt x="16764000" y="50800"/>
                  </a:moveTo>
                  <a:lnTo>
                    <a:pt x="17170400" y="50800"/>
                  </a:lnTo>
                  <a:lnTo>
                    <a:pt x="16764000" y="50800"/>
                  </a:lnTo>
                  <a:close/>
                  <a:moveTo>
                    <a:pt x="17322800" y="50800"/>
                  </a:moveTo>
                  <a:lnTo>
                    <a:pt x="17729200" y="50800"/>
                  </a:lnTo>
                  <a:lnTo>
                    <a:pt x="17322800" y="50800"/>
                  </a:lnTo>
                  <a:close/>
                  <a:moveTo>
                    <a:pt x="17881600" y="50800"/>
                  </a:moveTo>
                  <a:lnTo>
                    <a:pt x="18288000" y="50800"/>
                  </a:lnTo>
                  <a:lnTo>
                    <a:pt x="17881600" y="50800"/>
                  </a:lnTo>
                  <a:close/>
                  <a:moveTo>
                    <a:pt x="18440400" y="50800"/>
                  </a:moveTo>
                  <a:lnTo>
                    <a:pt x="18846800" y="50800"/>
                  </a:lnTo>
                  <a:lnTo>
                    <a:pt x="18440400" y="50800"/>
                  </a:lnTo>
                  <a:close/>
                  <a:moveTo>
                    <a:pt x="18999200" y="50800"/>
                  </a:moveTo>
                  <a:lnTo>
                    <a:pt x="19405600" y="50800"/>
                  </a:lnTo>
                  <a:lnTo>
                    <a:pt x="18999200" y="50800"/>
                  </a:lnTo>
                  <a:close/>
                  <a:moveTo>
                    <a:pt x="19558000" y="50800"/>
                  </a:moveTo>
                  <a:lnTo>
                    <a:pt x="19964400" y="50800"/>
                  </a:lnTo>
                  <a:lnTo>
                    <a:pt x="19558000" y="50800"/>
                  </a:lnTo>
                  <a:close/>
                  <a:moveTo>
                    <a:pt x="20116800" y="50800"/>
                  </a:moveTo>
                  <a:lnTo>
                    <a:pt x="20523200" y="50800"/>
                  </a:lnTo>
                  <a:lnTo>
                    <a:pt x="20116800" y="50800"/>
                  </a:lnTo>
                  <a:close/>
                  <a:moveTo>
                    <a:pt x="20675600" y="50800"/>
                  </a:moveTo>
                  <a:lnTo>
                    <a:pt x="21082000" y="50800"/>
                  </a:lnTo>
                  <a:lnTo>
                    <a:pt x="20675600" y="50800"/>
                  </a:lnTo>
                  <a:close/>
                  <a:moveTo>
                    <a:pt x="21234400" y="50800"/>
                  </a:moveTo>
                  <a:lnTo>
                    <a:pt x="21640800" y="50800"/>
                  </a:lnTo>
                  <a:lnTo>
                    <a:pt x="21234400" y="50800"/>
                  </a:lnTo>
                  <a:close/>
                  <a:moveTo>
                    <a:pt x="21793200" y="50800"/>
                  </a:moveTo>
                  <a:lnTo>
                    <a:pt x="22199600" y="50800"/>
                  </a:lnTo>
                  <a:lnTo>
                    <a:pt x="21793200" y="50800"/>
                  </a:lnTo>
                  <a:close/>
                  <a:moveTo>
                    <a:pt x="22352000" y="50800"/>
                  </a:moveTo>
                  <a:lnTo>
                    <a:pt x="22758400" y="50800"/>
                  </a:lnTo>
                  <a:lnTo>
                    <a:pt x="22352000" y="50800"/>
                  </a:lnTo>
                  <a:close/>
                  <a:moveTo>
                    <a:pt x="22910800" y="50800"/>
                  </a:moveTo>
                  <a:lnTo>
                    <a:pt x="23317200" y="50800"/>
                  </a:lnTo>
                  <a:lnTo>
                    <a:pt x="22910800" y="50800"/>
                  </a:lnTo>
                  <a:close/>
                  <a:moveTo>
                    <a:pt x="23469600" y="50800"/>
                  </a:moveTo>
                  <a:lnTo>
                    <a:pt x="23876000" y="50800"/>
                  </a:lnTo>
                  <a:lnTo>
                    <a:pt x="23469600" y="50800"/>
                  </a:lnTo>
                  <a:close/>
                  <a:moveTo>
                    <a:pt x="24028400" y="50800"/>
                  </a:moveTo>
                  <a:lnTo>
                    <a:pt x="24434800" y="50800"/>
                  </a:lnTo>
                  <a:lnTo>
                    <a:pt x="24028400" y="50800"/>
                  </a:lnTo>
                  <a:close/>
                  <a:moveTo>
                    <a:pt x="24587200" y="50800"/>
                  </a:moveTo>
                  <a:lnTo>
                    <a:pt x="24866727" y="50800"/>
                  </a:lnTo>
                  <a:lnTo>
                    <a:pt x="24587200" y="50800"/>
                  </a:lnTo>
                  <a:close/>
                  <a:moveTo>
                    <a:pt x="0" y="0"/>
                  </a:moveTo>
                  <a:lnTo>
                    <a:pt x="406400" y="0"/>
                  </a:lnTo>
                  <a:lnTo>
                    <a:pt x="406400" y="50800"/>
                  </a:lnTo>
                  <a:lnTo>
                    <a:pt x="0" y="50800"/>
                  </a:lnTo>
                  <a:close/>
                </a:path>
              </a:pathLst>
            </a:custGeom>
            <a:solidFill>
              <a:srgbClr val="963D3D"/>
            </a:solidFill>
          </p:spPr>
        </p:sp>
      </p:grpSp>
      <p:grpSp>
        <p:nvGrpSpPr>
          <p:cNvPr name="Group 5" id="5"/>
          <p:cNvGrpSpPr/>
          <p:nvPr/>
        </p:nvGrpSpPr>
        <p:grpSpPr>
          <a:xfrm rot="0">
            <a:off x="543898" y="8085067"/>
            <a:ext cx="17200205" cy="38100"/>
            <a:chOff x="0" y="0"/>
            <a:chExt cx="22933607" cy="50800"/>
          </a:xfrm>
        </p:grpSpPr>
        <p:sp>
          <p:nvSpPr>
            <p:cNvPr name="Freeform 6" id="6"/>
            <p:cNvSpPr/>
            <p:nvPr/>
          </p:nvSpPr>
          <p:spPr>
            <a:xfrm flipH="false" flipV="false" rot="0">
              <a:off x="25400" y="0"/>
              <a:ext cx="22882861" cy="50800"/>
            </a:xfrm>
            <a:custGeom>
              <a:avLst/>
              <a:gdLst/>
              <a:ahLst/>
              <a:cxnLst/>
              <a:rect r="r" b="b" t="t" l="l"/>
              <a:pathLst>
                <a:path h="50800" w="22882861">
                  <a:moveTo>
                    <a:pt x="0" y="0"/>
                  </a:moveTo>
                  <a:lnTo>
                    <a:pt x="22882861" y="0"/>
                  </a:lnTo>
                  <a:lnTo>
                    <a:pt x="22882861" y="50800"/>
                  </a:lnTo>
                  <a:lnTo>
                    <a:pt x="0" y="50800"/>
                  </a:lnTo>
                  <a:close/>
                </a:path>
              </a:pathLst>
            </a:custGeom>
            <a:solidFill>
              <a:srgbClr val="FFFFFF"/>
            </a:solidFill>
          </p:spPr>
        </p:sp>
      </p:grpSp>
      <p:sp>
        <p:nvSpPr>
          <p:cNvPr name="Freeform 7" id="7"/>
          <p:cNvSpPr/>
          <p:nvPr/>
        </p:nvSpPr>
        <p:spPr>
          <a:xfrm flipH="false" flipV="false" rot="0">
            <a:off x="14537691" y="8919731"/>
            <a:ext cx="677138" cy="677138"/>
          </a:xfrm>
          <a:custGeom>
            <a:avLst/>
            <a:gdLst/>
            <a:ahLst/>
            <a:cxnLst/>
            <a:rect r="r" b="b" t="t" l="l"/>
            <a:pathLst>
              <a:path h="677138" w="677138">
                <a:moveTo>
                  <a:pt x="0" y="0"/>
                </a:moveTo>
                <a:lnTo>
                  <a:pt x="677138" y="0"/>
                </a:lnTo>
                <a:lnTo>
                  <a:pt x="677138" y="677138"/>
                </a:lnTo>
                <a:lnTo>
                  <a:pt x="0" y="6771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305360" y="-611200"/>
            <a:ext cx="7677280" cy="4625296"/>
          </a:xfrm>
          <a:custGeom>
            <a:avLst/>
            <a:gdLst/>
            <a:ahLst/>
            <a:cxnLst/>
            <a:rect r="r" b="b" t="t" l="l"/>
            <a:pathLst>
              <a:path h="4625296" w="7677280">
                <a:moveTo>
                  <a:pt x="0" y="0"/>
                </a:moveTo>
                <a:lnTo>
                  <a:pt x="7677280" y="0"/>
                </a:lnTo>
                <a:lnTo>
                  <a:pt x="7677280" y="4625296"/>
                </a:lnTo>
                <a:lnTo>
                  <a:pt x="0" y="46252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822892" y="613094"/>
            <a:ext cx="2642215" cy="793112"/>
            <a:chOff x="0" y="0"/>
            <a:chExt cx="3522953" cy="1057483"/>
          </a:xfrm>
        </p:grpSpPr>
        <p:sp>
          <p:nvSpPr>
            <p:cNvPr name="Freeform 10" id="10"/>
            <p:cNvSpPr/>
            <p:nvPr/>
          </p:nvSpPr>
          <p:spPr>
            <a:xfrm flipH="false" flipV="false" rot="0">
              <a:off x="0" y="0"/>
              <a:ext cx="3522980" cy="1057529"/>
            </a:xfrm>
            <a:custGeom>
              <a:avLst/>
              <a:gdLst/>
              <a:ahLst/>
              <a:cxnLst/>
              <a:rect r="r" b="b" t="t" l="l"/>
              <a:pathLst>
                <a:path h="1057529" w="3522980">
                  <a:moveTo>
                    <a:pt x="0" y="0"/>
                  </a:moveTo>
                  <a:lnTo>
                    <a:pt x="3522980" y="0"/>
                  </a:lnTo>
                  <a:lnTo>
                    <a:pt x="3522980" y="1057529"/>
                  </a:lnTo>
                  <a:lnTo>
                    <a:pt x="0" y="1057529"/>
                  </a:lnTo>
                  <a:lnTo>
                    <a:pt x="0" y="0"/>
                  </a:lnTo>
                  <a:close/>
                </a:path>
              </a:pathLst>
            </a:custGeom>
            <a:blipFill>
              <a:blip r:embed="rId8"/>
              <a:stretch>
                <a:fillRect l="0" t="-42" r="0" b="-37"/>
              </a:stretch>
            </a:blipFill>
          </p:spPr>
        </p:sp>
      </p:grpSp>
      <p:sp>
        <p:nvSpPr>
          <p:cNvPr name="Freeform 11" id="11"/>
          <p:cNvSpPr/>
          <p:nvPr/>
        </p:nvSpPr>
        <p:spPr>
          <a:xfrm flipH="false" flipV="false" rot="0">
            <a:off x="14620630" y="9002670"/>
            <a:ext cx="511260" cy="511260"/>
          </a:xfrm>
          <a:custGeom>
            <a:avLst/>
            <a:gdLst/>
            <a:ahLst/>
            <a:cxnLst/>
            <a:rect r="r" b="b" t="t" l="l"/>
            <a:pathLst>
              <a:path h="511260" w="511260">
                <a:moveTo>
                  <a:pt x="0" y="0"/>
                </a:moveTo>
                <a:lnTo>
                  <a:pt x="511260" y="0"/>
                </a:lnTo>
                <a:lnTo>
                  <a:pt x="511260" y="511260"/>
                </a:lnTo>
                <a:lnTo>
                  <a:pt x="0" y="5112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2093399" y="6138998"/>
            <a:ext cx="14101201" cy="447978"/>
          </a:xfrm>
          <a:prstGeom prst="rect">
            <a:avLst/>
          </a:prstGeom>
        </p:spPr>
        <p:txBody>
          <a:bodyPr anchor="t" rtlCol="false" tIns="0" lIns="0" bIns="0" rIns="0">
            <a:spAutoFit/>
          </a:bodyPr>
          <a:lstStyle/>
          <a:p>
            <a:pPr algn="ctr">
              <a:lnSpc>
                <a:spcPts val="3335"/>
              </a:lnSpc>
            </a:pPr>
            <a:r>
              <a:rPr lang="en-US" sz="2775">
                <a:solidFill>
                  <a:srgbClr val="404040"/>
                </a:solidFill>
                <a:latin typeface="Arimo"/>
                <a:ea typeface="Arimo"/>
                <a:cs typeface="Arimo"/>
                <a:sym typeface="Arimo"/>
              </a:rPr>
              <a:t>BEIJING UNIVERSITY OF POSTS AND TELECOMMUNICATIONS</a:t>
            </a:r>
          </a:p>
        </p:txBody>
      </p:sp>
      <p:sp>
        <p:nvSpPr>
          <p:cNvPr name="TextBox 13" id="13"/>
          <p:cNvSpPr txBox="true"/>
          <p:nvPr/>
        </p:nvSpPr>
        <p:spPr>
          <a:xfrm rot="0">
            <a:off x="15397400" y="9067818"/>
            <a:ext cx="3423428" cy="409575"/>
          </a:xfrm>
          <a:prstGeom prst="rect">
            <a:avLst/>
          </a:prstGeom>
        </p:spPr>
        <p:txBody>
          <a:bodyPr anchor="t" rtlCol="false" tIns="0" lIns="0" bIns="0" rIns="0">
            <a:spAutoFit/>
          </a:bodyPr>
          <a:lstStyle/>
          <a:p>
            <a:pPr algn="l">
              <a:lnSpc>
                <a:spcPts val="3360"/>
              </a:lnSpc>
            </a:pPr>
            <a:r>
              <a:rPr lang="en-US" sz="2799" spc="0">
                <a:solidFill>
                  <a:srgbClr val="FFFFFF"/>
                </a:solidFill>
                <a:latin typeface="思源黑体"/>
                <a:ea typeface="思源黑体"/>
                <a:cs typeface="思源黑体"/>
                <a:sym typeface="思源黑体"/>
              </a:rPr>
              <a:t>2025/10/20</a:t>
            </a:r>
          </a:p>
        </p:txBody>
      </p:sp>
      <p:sp>
        <p:nvSpPr>
          <p:cNvPr name="TextBox 14" id="14"/>
          <p:cNvSpPr txBox="true"/>
          <p:nvPr/>
        </p:nvSpPr>
        <p:spPr>
          <a:xfrm rot="0">
            <a:off x="1912285" y="4075166"/>
            <a:ext cx="14569131" cy="2876426"/>
          </a:xfrm>
          <a:prstGeom prst="rect">
            <a:avLst/>
          </a:prstGeom>
        </p:spPr>
        <p:txBody>
          <a:bodyPr anchor="t" rtlCol="false" tIns="0" lIns="0" bIns="0" rIns="0">
            <a:spAutoFit/>
          </a:bodyPr>
          <a:lstStyle/>
          <a:p>
            <a:pPr algn="ctr">
              <a:lnSpc>
                <a:spcPts val="10553"/>
              </a:lnSpc>
            </a:pPr>
            <a:r>
              <a:rPr lang="en-US" sz="8794">
                <a:solidFill>
                  <a:srgbClr val="000000"/>
                </a:solidFill>
                <a:latin typeface="Arimo"/>
                <a:ea typeface="Arimo"/>
                <a:cs typeface="Arimo"/>
                <a:sym typeface="Arimo"/>
              </a:rPr>
              <a:t>Design and build 2025</a:t>
            </a:r>
          </a:p>
          <a:p>
            <a:pPr algn="ctr">
              <a:lnSpc>
                <a:spcPts val="11875"/>
              </a:lnSpc>
            </a:pPr>
          </a:p>
        </p:txBody>
      </p:sp>
      <p:sp>
        <p:nvSpPr>
          <p:cNvPr name="TextBox 15" id="15"/>
          <p:cNvSpPr txBox="true"/>
          <p:nvPr/>
        </p:nvSpPr>
        <p:spPr>
          <a:xfrm rot="0">
            <a:off x="5305360" y="1810257"/>
            <a:ext cx="7677280" cy="1285880"/>
          </a:xfrm>
          <a:prstGeom prst="rect">
            <a:avLst/>
          </a:prstGeom>
        </p:spPr>
        <p:txBody>
          <a:bodyPr anchor="t" rtlCol="false" tIns="0" lIns="0" bIns="0" rIns="0">
            <a:spAutoFit/>
          </a:bodyPr>
          <a:lstStyle/>
          <a:p>
            <a:pPr algn="ctr">
              <a:lnSpc>
                <a:spcPts val="10499"/>
              </a:lnSpc>
              <a:spcBef>
                <a:spcPct val="0"/>
              </a:spcBef>
            </a:pPr>
            <a:r>
              <a:rPr lang="en-US" sz="6999">
                <a:solidFill>
                  <a:srgbClr val="FFFFFF"/>
                </a:solidFill>
                <a:latin typeface="Times New Roman"/>
                <a:ea typeface="Times New Roman"/>
                <a:cs typeface="Times New Roman"/>
                <a:sym typeface="Times New Roman"/>
              </a:rPr>
              <a:t>Group18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63D3D"/>
        </a:solidFill>
      </p:bgPr>
    </p:bg>
    <p:spTree>
      <p:nvGrpSpPr>
        <p:cNvPr id="1" name=""/>
        <p:cNvGrpSpPr/>
        <p:nvPr/>
      </p:nvGrpSpPr>
      <p:grpSpPr>
        <a:xfrm>
          <a:off x="0" y="0"/>
          <a:ext cx="0" cy="0"/>
          <a:chOff x="0" y="0"/>
          <a:chExt cx="0" cy="0"/>
        </a:xfrm>
      </p:grpSpPr>
      <p:sp>
        <p:nvSpPr>
          <p:cNvPr name="Freeform 2" id="2"/>
          <p:cNvSpPr/>
          <p:nvPr/>
        </p:nvSpPr>
        <p:spPr>
          <a:xfrm flipH="false" flipV="false" rot="0">
            <a:off x="510097" y="-611200"/>
            <a:ext cx="17267805" cy="9433080"/>
          </a:xfrm>
          <a:custGeom>
            <a:avLst/>
            <a:gdLst/>
            <a:ahLst/>
            <a:cxnLst/>
            <a:rect r="r" b="b" t="t" l="l"/>
            <a:pathLst>
              <a:path h="9433080" w="17267805">
                <a:moveTo>
                  <a:pt x="0" y="0"/>
                </a:moveTo>
                <a:lnTo>
                  <a:pt x="17267805" y="0"/>
                </a:lnTo>
                <a:lnTo>
                  <a:pt x="17267805" y="9433080"/>
                </a:lnTo>
                <a:lnTo>
                  <a:pt x="0" y="9433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90600"/>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558800" y="0"/>
                  </a:moveTo>
                  <a:lnTo>
                    <a:pt x="965200" y="0"/>
                  </a:lnTo>
                  <a:lnTo>
                    <a:pt x="965200" y="50800"/>
                  </a:lnTo>
                  <a:lnTo>
                    <a:pt x="558800" y="50800"/>
                  </a:lnTo>
                  <a:close/>
                  <a:moveTo>
                    <a:pt x="1117600" y="0"/>
                  </a:moveTo>
                  <a:lnTo>
                    <a:pt x="1524000" y="0"/>
                  </a:lnTo>
                  <a:lnTo>
                    <a:pt x="1524000" y="50800"/>
                  </a:lnTo>
                  <a:lnTo>
                    <a:pt x="1117600" y="50800"/>
                  </a:lnTo>
                  <a:close/>
                  <a:moveTo>
                    <a:pt x="1676400" y="50800"/>
                  </a:moveTo>
                  <a:lnTo>
                    <a:pt x="2082800" y="50800"/>
                  </a:lnTo>
                  <a:lnTo>
                    <a:pt x="1676400" y="50800"/>
                  </a:lnTo>
                  <a:close/>
                  <a:moveTo>
                    <a:pt x="2235200" y="50800"/>
                  </a:moveTo>
                  <a:lnTo>
                    <a:pt x="2641600" y="50800"/>
                  </a:lnTo>
                  <a:lnTo>
                    <a:pt x="2235200" y="50800"/>
                  </a:lnTo>
                  <a:close/>
                  <a:moveTo>
                    <a:pt x="2794000" y="50800"/>
                  </a:moveTo>
                  <a:lnTo>
                    <a:pt x="3200400" y="50800"/>
                  </a:lnTo>
                  <a:lnTo>
                    <a:pt x="2794000" y="50800"/>
                  </a:lnTo>
                  <a:close/>
                  <a:moveTo>
                    <a:pt x="3352800" y="50800"/>
                  </a:moveTo>
                  <a:lnTo>
                    <a:pt x="3759200" y="50800"/>
                  </a:lnTo>
                  <a:lnTo>
                    <a:pt x="3352800" y="50800"/>
                  </a:lnTo>
                  <a:close/>
                  <a:moveTo>
                    <a:pt x="3911600" y="50800"/>
                  </a:moveTo>
                  <a:lnTo>
                    <a:pt x="4318000" y="50800"/>
                  </a:lnTo>
                  <a:lnTo>
                    <a:pt x="3911600" y="50800"/>
                  </a:lnTo>
                  <a:close/>
                  <a:moveTo>
                    <a:pt x="4470400" y="50800"/>
                  </a:moveTo>
                  <a:lnTo>
                    <a:pt x="4876800" y="50800"/>
                  </a:lnTo>
                  <a:lnTo>
                    <a:pt x="4470400" y="50800"/>
                  </a:lnTo>
                  <a:close/>
                  <a:moveTo>
                    <a:pt x="5029200" y="50800"/>
                  </a:moveTo>
                  <a:lnTo>
                    <a:pt x="5435600" y="50800"/>
                  </a:lnTo>
                  <a:lnTo>
                    <a:pt x="5029200" y="50800"/>
                  </a:lnTo>
                  <a:close/>
                  <a:moveTo>
                    <a:pt x="5588000" y="50800"/>
                  </a:moveTo>
                  <a:lnTo>
                    <a:pt x="5994400" y="50800"/>
                  </a:lnTo>
                  <a:lnTo>
                    <a:pt x="5588000" y="50800"/>
                  </a:lnTo>
                  <a:close/>
                  <a:moveTo>
                    <a:pt x="6146800" y="50800"/>
                  </a:moveTo>
                  <a:lnTo>
                    <a:pt x="6553200" y="50800"/>
                  </a:lnTo>
                  <a:lnTo>
                    <a:pt x="6146800" y="50800"/>
                  </a:lnTo>
                  <a:close/>
                  <a:moveTo>
                    <a:pt x="6705600" y="50800"/>
                  </a:moveTo>
                  <a:lnTo>
                    <a:pt x="7112000" y="50800"/>
                  </a:lnTo>
                  <a:lnTo>
                    <a:pt x="6705600" y="50800"/>
                  </a:lnTo>
                  <a:close/>
                  <a:moveTo>
                    <a:pt x="7264400" y="50800"/>
                  </a:moveTo>
                  <a:lnTo>
                    <a:pt x="7670800" y="50800"/>
                  </a:lnTo>
                  <a:lnTo>
                    <a:pt x="7264400" y="50800"/>
                  </a:lnTo>
                  <a:close/>
                  <a:moveTo>
                    <a:pt x="7823200" y="50800"/>
                  </a:moveTo>
                  <a:lnTo>
                    <a:pt x="8229600" y="50800"/>
                  </a:lnTo>
                  <a:lnTo>
                    <a:pt x="7823200" y="50800"/>
                  </a:lnTo>
                  <a:close/>
                  <a:moveTo>
                    <a:pt x="8382000" y="50800"/>
                  </a:moveTo>
                  <a:lnTo>
                    <a:pt x="8788400" y="50800"/>
                  </a:lnTo>
                  <a:lnTo>
                    <a:pt x="8382000" y="50800"/>
                  </a:lnTo>
                  <a:close/>
                  <a:moveTo>
                    <a:pt x="8940800" y="50800"/>
                  </a:moveTo>
                  <a:lnTo>
                    <a:pt x="9347200" y="50800"/>
                  </a:lnTo>
                  <a:lnTo>
                    <a:pt x="8940800" y="50800"/>
                  </a:lnTo>
                  <a:close/>
                  <a:moveTo>
                    <a:pt x="9499600" y="50800"/>
                  </a:moveTo>
                  <a:lnTo>
                    <a:pt x="9906000" y="50800"/>
                  </a:lnTo>
                  <a:lnTo>
                    <a:pt x="9499600" y="50800"/>
                  </a:lnTo>
                  <a:close/>
                  <a:moveTo>
                    <a:pt x="10058400" y="50800"/>
                  </a:moveTo>
                  <a:lnTo>
                    <a:pt x="10464800" y="50800"/>
                  </a:lnTo>
                  <a:lnTo>
                    <a:pt x="10058400" y="50800"/>
                  </a:lnTo>
                  <a:close/>
                  <a:moveTo>
                    <a:pt x="10617200" y="50800"/>
                  </a:moveTo>
                  <a:lnTo>
                    <a:pt x="11023600" y="50800"/>
                  </a:lnTo>
                  <a:lnTo>
                    <a:pt x="10617200" y="50800"/>
                  </a:lnTo>
                  <a:close/>
                  <a:moveTo>
                    <a:pt x="11176000" y="50800"/>
                  </a:moveTo>
                  <a:lnTo>
                    <a:pt x="11582400" y="50800"/>
                  </a:lnTo>
                  <a:lnTo>
                    <a:pt x="11176000" y="50800"/>
                  </a:lnTo>
                  <a:close/>
                  <a:moveTo>
                    <a:pt x="11734800" y="50800"/>
                  </a:moveTo>
                  <a:lnTo>
                    <a:pt x="12141200" y="50800"/>
                  </a:lnTo>
                  <a:lnTo>
                    <a:pt x="11734800" y="50800"/>
                  </a:lnTo>
                  <a:close/>
                  <a:moveTo>
                    <a:pt x="12293600" y="50800"/>
                  </a:moveTo>
                  <a:lnTo>
                    <a:pt x="12700000" y="50800"/>
                  </a:lnTo>
                  <a:lnTo>
                    <a:pt x="12293600" y="50800"/>
                  </a:lnTo>
                  <a:close/>
                  <a:moveTo>
                    <a:pt x="12852400" y="50800"/>
                  </a:moveTo>
                  <a:lnTo>
                    <a:pt x="13258800" y="50800"/>
                  </a:lnTo>
                  <a:lnTo>
                    <a:pt x="12852400" y="50800"/>
                  </a:lnTo>
                  <a:close/>
                  <a:moveTo>
                    <a:pt x="13411200" y="50800"/>
                  </a:moveTo>
                  <a:lnTo>
                    <a:pt x="13817600" y="50800"/>
                  </a:lnTo>
                  <a:lnTo>
                    <a:pt x="13411200" y="50800"/>
                  </a:lnTo>
                  <a:close/>
                  <a:moveTo>
                    <a:pt x="13970000" y="50800"/>
                  </a:moveTo>
                  <a:lnTo>
                    <a:pt x="14376400" y="50800"/>
                  </a:lnTo>
                  <a:lnTo>
                    <a:pt x="13970000" y="50800"/>
                  </a:lnTo>
                  <a:close/>
                  <a:moveTo>
                    <a:pt x="14528800" y="50800"/>
                  </a:moveTo>
                  <a:lnTo>
                    <a:pt x="14935200" y="50800"/>
                  </a:lnTo>
                  <a:lnTo>
                    <a:pt x="14528800" y="50800"/>
                  </a:lnTo>
                  <a:close/>
                  <a:moveTo>
                    <a:pt x="15087600" y="50800"/>
                  </a:moveTo>
                  <a:lnTo>
                    <a:pt x="15494000" y="50800"/>
                  </a:lnTo>
                  <a:lnTo>
                    <a:pt x="15087600" y="50800"/>
                  </a:lnTo>
                  <a:close/>
                  <a:moveTo>
                    <a:pt x="15646400" y="50800"/>
                  </a:moveTo>
                  <a:lnTo>
                    <a:pt x="16052800" y="50800"/>
                  </a:lnTo>
                  <a:lnTo>
                    <a:pt x="15646400" y="50800"/>
                  </a:lnTo>
                  <a:close/>
                  <a:moveTo>
                    <a:pt x="16205200" y="50800"/>
                  </a:moveTo>
                  <a:lnTo>
                    <a:pt x="16611600" y="50800"/>
                  </a:lnTo>
                  <a:lnTo>
                    <a:pt x="16205200" y="50800"/>
                  </a:lnTo>
                  <a:close/>
                  <a:moveTo>
                    <a:pt x="16764000" y="50800"/>
                  </a:moveTo>
                  <a:lnTo>
                    <a:pt x="17170400" y="50800"/>
                  </a:lnTo>
                  <a:lnTo>
                    <a:pt x="16764000" y="50800"/>
                  </a:lnTo>
                  <a:close/>
                  <a:moveTo>
                    <a:pt x="17322800" y="50800"/>
                  </a:moveTo>
                  <a:lnTo>
                    <a:pt x="17729200" y="50800"/>
                  </a:lnTo>
                  <a:lnTo>
                    <a:pt x="17322800" y="50800"/>
                  </a:lnTo>
                  <a:close/>
                  <a:moveTo>
                    <a:pt x="17881600" y="50800"/>
                  </a:moveTo>
                  <a:lnTo>
                    <a:pt x="18288000" y="50800"/>
                  </a:lnTo>
                  <a:lnTo>
                    <a:pt x="17881600" y="50800"/>
                  </a:lnTo>
                  <a:close/>
                  <a:moveTo>
                    <a:pt x="18440400" y="50800"/>
                  </a:moveTo>
                  <a:lnTo>
                    <a:pt x="18846800" y="50800"/>
                  </a:lnTo>
                  <a:lnTo>
                    <a:pt x="18440400" y="50800"/>
                  </a:lnTo>
                  <a:close/>
                  <a:moveTo>
                    <a:pt x="18999200" y="50800"/>
                  </a:moveTo>
                  <a:lnTo>
                    <a:pt x="19405600" y="50800"/>
                  </a:lnTo>
                  <a:lnTo>
                    <a:pt x="18999200" y="50800"/>
                  </a:lnTo>
                  <a:close/>
                  <a:moveTo>
                    <a:pt x="19558000" y="50800"/>
                  </a:moveTo>
                  <a:lnTo>
                    <a:pt x="19964400" y="50800"/>
                  </a:lnTo>
                  <a:lnTo>
                    <a:pt x="19558000" y="50800"/>
                  </a:lnTo>
                  <a:close/>
                  <a:moveTo>
                    <a:pt x="20116800" y="50800"/>
                  </a:moveTo>
                  <a:lnTo>
                    <a:pt x="20523200" y="50800"/>
                  </a:lnTo>
                  <a:lnTo>
                    <a:pt x="20116800" y="50800"/>
                  </a:lnTo>
                  <a:close/>
                  <a:moveTo>
                    <a:pt x="20675600" y="50800"/>
                  </a:moveTo>
                  <a:lnTo>
                    <a:pt x="21082000" y="50800"/>
                  </a:lnTo>
                  <a:lnTo>
                    <a:pt x="20675600" y="50800"/>
                  </a:lnTo>
                  <a:close/>
                  <a:moveTo>
                    <a:pt x="21234400" y="50800"/>
                  </a:moveTo>
                  <a:lnTo>
                    <a:pt x="21640800" y="50800"/>
                  </a:lnTo>
                  <a:lnTo>
                    <a:pt x="21234400" y="50800"/>
                  </a:lnTo>
                  <a:close/>
                  <a:moveTo>
                    <a:pt x="21793200" y="50800"/>
                  </a:moveTo>
                  <a:lnTo>
                    <a:pt x="22199600" y="50800"/>
                  </a:lnTo>
                  <a:lnTo>
                    <a:pt x="21793200" y="50800"/>
                  </a:lnTo>
                  <a:close/>
                  <a:moveTo>
                    <a:pt x="22352000" y="50800"/>
                  </a:moveTo>
                  <a:lnTo>
                    <a:pt x="22758400" y="50800"/>
                  </a:lnTo>
                  <a:lnTo>
                    <a:pt x="22352000" y="50800"/>
                  </a:lnTo>
                  <a:close/>
                  <a:moveTo>
                    <a:pt x="22910800" y="50800"/>
                  </a:moveTo>
                  <a:lnTo>
                    <a:pt x="23317200" y="50800"/>
                  </a:lnTo>
                  <a:lnTo>
                    <a:pt x="22910800" y="50800"/>
                  </a:lnTo>
                  <a:close/>
                  <a:moveTo>
                    <a:pt x="23469600" y="50800"/>
                  </a:moveTo>
                  <a:lnTo>
                    <a:pt x="23876000" y="50800"/>
                  </a:lnTo>
                  <a:lnTo>
                    <a:pt x="23469600" y="50800"/>
                  </a:lnTo>
                  <a:close/>
                  <a:moveTo>
                    <a:pt x="24028400" y="50800"/>
                  </a:moveTo>
                  <a:lnTo>
                    <a:pt x="24434800" y="50800"/>
                  </a:lnTo>
                  <a:lnTo>
                    <a:pt x="24028400" y="50800"/>
                  </a:lnTo>
                  <a:close/>
                  <a:moveTo>
                    <a:pt x="24587200" y="50800"/>
                  </a:moveTo>
                  <a:lnTo>
                    <a:pt x="24866727" y="50800"/>
                  </a:lnTo>
                  <a:lnTo>
                    <a:pt x="24587200" y="50800"/>
                  </a:lnTo>
                  <a:close/>
                  <a:moveTo>
                    <a:pt x="0" y="0"/>
                  </a:moveTo>
                  <a:lnTo>
                    <a:pt x="406400" y="0"/>
                  </a:lnTo>
                  <a:lnTo>
                    <a:pt x="406400" y="50800"/>
                  </a:lnTo>
                  <a:lnTo>
                    <a:pt x="0" y="50800"/>
                  </a:lnTo>
                  <a:close/>
                </a:path>
              </a:pathLst>
            </a:custGeom>
            <a:solidFill>
              <a:srgbClr val="963D3D"/>
            </a:solidFill>
          </p:spPr>
        </p:sp>
      </p:grpSp>
      <p:grpSp>
        <p:nvGrpSpPr>
          <p:cNvPr name="Group 5" id="5"/>
          <p:cNvGrpSpPr/>
          <p:nvPr/>
        </p:nvGrpSpPr>
        <p:grpSpPr>
          <a:xfrm rot="0">
            <a:off x="543898" y="9258300"/>
            <a:ext cx="17200205" cy="38100"/>
            <a:chOff x="0" y="0"/>
            <a:chExt cx="22933607" cy="50800"/>
          </a:xfrm>
        </p:grpSpPr>
        <p:sp>
          <p:nvSpPr>
            <p:cNvPr name="Freeform 6" id="6"/>
            <p:cNvSpPr/>
            <p:nvPr/>
          </p:nvSpPr>
          <p:spPr>
            <a:xfrm flipH="false" flipV="false" rot="0">
              <a:off x="25400" y="0"/>
              <a:ext cx="22882861" cy="50800"/>
            </a:xfrm>
            <a:custGeom>
              <a:avLst/>
              <a:gdLst/>
              <a:ahLst/>
              <a:cxnLst/>
              <a:rect r="r" b="b" t="t" l="l"/>
              <a:pathLst>
                <a:path h="50800" w="22882861">
                  <a:moveTo>
                    <a:pt x="0" y="0"/>
                  </a:moveTo>
                  <a:lnTo>
                    <a:pt x="22882861" y="0"/>
                  </a:lnTo>
                  <a:lnTo>
                    <a:pt x="22882861" y="50800"/>
                  </a:lnTo>
                  <a:lnTo>
                    <a:pt x="0" y="50800"/>
                  </a:lnTo>
                  <a:close/>
                </a:path>
              </a:pathLst>
            </a:custGeom>
            <a:solidFill>
              <a:srgbClr val="FFFFFF"/>
            </a:solidFill>
          </p:spPr>
        </p:sp>
      </p:grpSp>
      <p:sp>
        <p:nvSpPr>
          <p:cNvPr name="Freeform 7" id="7"/>
          <p:cNvSpPr/>
          <p:nvPr/>
        </p:nvSpPr>
        <p:spPr>
          <a:xfrm flipH="false" flipV="false" rot="0">
            <a:off x="5305360" y="-1503929"/>
            <a:ext cx="7677280" cy="4625296"/>
          </a:xfrm>
          <a:custGeom>
            <a:avLst/>
            <a:gdLst/>
            <a:ahLst/>
            <a:cxnLst/>
            <a:rect r="r" b="b" t="t" l="l"/>
            <a:pathLst>
              <a:path h="4625296" w="7677280">
                <a:moveTo>
                  <a:pt x="0" y="0"/>
                </a:moveTo>
                <a:lnTo>
                  <a:pt x="7677280" y="0"/>
                </a:lnTo>
                <a:lnTo>
                  <a:pt x="7677280" y="4625296"/>
                </a:lnTo>
                <a:lnTo>
                  <a:pt x="0" y="4625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464396" y="1103080"/>
            <a:ext cx="5359206" cy="2063906"/>
          </a:xfrm>
          <a:prstGeom prst="rect">
            <a:avLst/>
          </a:prstGeom>
        </p:spPr>
        <p:txBody>
          <a:bodyPr anchor="t" rtlCol="false" tIns="0" lIns="0" bIns="0" rIns="0">
            <a:spAutoFit/>
          </a:bodyPr>
          <a:lstStyle/>
          <a:p>
            <a:pPr algn="ctr">
              <a:lnSpc>
                <a:spcPts val="5703"/>
              </a:lnSpc>
            </a:pPr>
            <a:r>
              <a:rPr lang="en-US" b="true" sz="4753" spc="874">
                <a:solidFill>
                  <a:srgbClr val="FFFFFF"/>
                </a:solidFill>
                <a:latin typeface="Times New Roman Bold"/>
                <a:ea typeface="Times New Roman Bold"/>
                <a:cs typeface="Times New Roman Bold"/>
                <a:sym typeface="Times New Roman Bold"/>
              </a:rPr>
              <a:t>Team members</a:t>
            </a:r>
          </a:p>
          <a:p>
            <a:pPr algn="ctr">
              <a:lnSpc>
                <a:spcPts val="10387"/>
              </a:lnSpc>
            </a:pPr>
          </a:p>
        </p:txBody>
      </p:sp>
      <p:sp>
        <p:nvSpPr>
          <p:cNvPr name="TextBox 9" id="9"/>
          <p:cNvSpPr txBox="true"/>
          <p:nvPr/>
        </p:nvSpPr>
        <p:spPr>
          <a:xfrm rot="0">
            <a:off x="9998018" y="7649483"/>
            <a:ext cx="68416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Jiaqi Yin: System Integration</a:t>
            </a:r>
          </a:p>
        </p:txBody>
      </p:sp>
      <p:sp>
        <p:nvSpPr>
          <p:cNvPr name="TextBox 10" id="10"/>
          <p:cNvSpPr txBox="true"/>
          <p:nvPr/>
        </p:nvSpPr>
        <p:spPr>
          <a:xfrm rot="0">
            <a:off x="8994792" y="7694399"/>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11</a:t>
            </a:r>
          </a:p>
        </p:txBody>
      </p:sp>
      <p:grpSp>
        <p:nvGrpSpPr>
          <p:cNvPr name="Group 11" id="11"/>
          <p:cNvGrpSpPr/>
          <p:nvPr/>
        </p:nvGrpSpPr>
        <p:grpSpPr>
          <a:xfrm rot="0">
            <a:off x="9757673" y="7702865"/>
            <a:ext cx="13812" cy="614895"/>
            <a:chOff x="0" y="0"/>
            <a:chExt cx="25400" cy="1130761"/>
          </a:xfrm>
        </p:grpSpPr>
        <p:sp>
          <p:nvSpPr>
            <p:cNvPr name="Freeform 12" id="12"/>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grpSp>
        <p:nvGrpSpPr>
          <p:cNvPr name="Group 13" id="13"/>
          <p:cNvGrpSpPr/>
          <p:nvPr/>
        </p:nvGrpSpPr>
        <p:grpSpPr>
          <a:xfrm rot="0">
            <a:off x="2402107" y="8847066"/>
            <a:ext cx="13483784" cy="1666875"/>
            <a:chOff x="0" y="0"/>
            <a:chExt cx="17978379" cy="2222500"/>
          </a:xfrm>
        </p:grpSpPr>
        <p:sp>
          <p:nvSpPr>
            <p:cNvPr name="Freeform 14" id="14"/>
            <p:cNvSpPr/>
            <p:nvPr/>
          </p:nvSpPr>
          <p:spPr>
            <a:xfrm flipH="false" flipV="false" rot="0">
              <a:off x="0" y="0"/>
              <a:ext cx="17978374" cy="2222500"/>
            </a:xfrm>
            <a:custGeom>
              <a:avLst/>
              <a:gdLst/>
              <a:ahLst/>
              <a:cxnLst/>
              <a:rect r="r" b="b" t="t" l="l"/>
              <a:pathLst>
                <a:path h="2222500" w="17978374">
                  <a:moveTo>
                    <a:pt x="0" y="0"/>
                  </a:moveTo>
                  <a:lnTo>
                    <a:pt x="17978374" y="0"/>
                  </a:lnTo>
                  <a:lnTo>
                    <a:pt x="17978374" y="2222500"/>
                  </a:lnTo>
                  <a:lnTo>
                    <a:pt x="0" y="2222500"/>
                  </a:lnTo>
                  <a:lnTo>
                    <a:pt x="0" y="0"/>
                  </a:lnTo>
                  <a:close/>
                </a:path>
              </a:pathLst>
            </a:custGeom>
            <a:blipFill>
              <a:blip r:embed="rId6"/>
              <a:stretch>
                <a:fillRect l="-3" t="0" r="-3" b="0"/>
              </a:stretch>
            </a:blipFill>
          </p:spPr>
        </p:sp>
      </p:grpSp>
      <p:sp>
        <p:nvSpPr>
          <p:cNvPr name="TextBox 15" id="15"/>
          <p:cNvSpPr txBox="true"/>
          <p:nvPr/>
        </p:nvSpPr>
        <p:spPr>
          <a:xfrm rot="0">
            <a:off x="1924516" y="4869070"/>
            <a:ext cx="68416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Zhenzhan Zhao: Visualization</a:t>
            </a:r>
          </a:p>
        </p:txBody>
      </p:sp>
      <p:sp>
        <p:nvSpPr>
          <p:cNvPr name="TextBox 16" id="16"/>
          <p:cNvSpPr txBox="true"/>
          <p:nvPr/>
        </p:nvSpPr>
        <p:spPr>
          <a:xfrm rot="0">
            <a:off x="921289" y="4913985"/>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02</a:t>
            </a:r>
          </a:p>
        </p:txBody>
      </p:sp>
      <p:grpSp>
        <p:nvGrpSpPr>
          <p:cNvPr name="Group 17" id="17"/>
          <p:cNvGrpSpPr/>
          <p:nvPr/>
        </p:nvGrpSpPr>
        <p:grpSpPr>
          <a:xfrm rot="0">
            <a:off x="1684170" y="4922451"/>
            <a:ext cx="13812" cy="614895"/>
            <a:chOff x="0" y="0"/>
            <a:chExt cx="25400" cy="1130761"/>
          </a:xfrm>
        </p:grpSpPr>
        <p:sp>
          <p:nvSpPr>
            <p:cNvPr name="Freeform 18" id="18"/>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19" id="19"/>
          <p:cNvSpPr txBox="true"/>
          <p:nvPr/>
        </p:nvSpPr>
        <p:spPr>
          <a:xfrm rot="0">
            <a:off x="1924516" y="5687240"/>
            <a:ext cx="68416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Tianxiao Ma: A*  Algorithm</a:t>
            </a:r>
          </a:p>
        </p:txBody>
      </p:sp>
      <p:sp>
        <p:nvSpPr>
          <p:cNvPr name="TextBox 20" id="20"/>
          <p:cNvSpPr txBox="true"/>
          <p:nvPr/>
        </p:nvSpPr>
        <p:spPr>
          <a:xfrm rot="0">
            <a:off x="921289" y="5732156"/>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03</a:t>
            </a:r>
          </a:p>
        </p:txBody>
      </p:sp>
      <p:grpSp>
        <p:nvGrpSpPr>
          <p:cNvPr name="Group 21" id="21"/>
          <p:cNvGrpSpPr/>
          <p:nvPr/>
        </p:nvGrpSpPr>
        <p:grpSpPr>
          <a:xfrm rot="0">
            <a:off x="1684170" y="5740621"/>
            <a:ext cx="13812" cy="614895"/>
            <a:chOff x="0" y="0"/>
            <a:chExt cx="25400" cy="1130761"/>
          </a:xfrm>
        </p:grpSpPr>
        <p:sp>
          <p:nvSpPr>
            <p:cNvPr name="Freeform 22" id="22"/>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23" id="23"/>
          <p:cNvSpPr txBox="true"/>
          <p:nvPr/>
        </p:nvSpPr>
        <p:spPr>
          <a:xfrm rot="0">
            <a:off x="1924516" y="6514935"/>
            <a:ext cx="70702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Zhichun Tang: Decoding Pose</a:t>
            </a:r>
          </a:p>
        </p:txBody>
      </p:sp>
      <p:sp>
        <p:nvSpPr>
          <p:cNvPr name="TextBox 24" id="24"/>
          <p:cNvSpPr txBox="true"/>
          <p:nvPr/>
        </p:nvSpPr>
        <p:spPr>
          <a:xfrm rot="0">
            <a:off x="921289" y="6559851"/>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04</a:t>
            </a:r>
          </a:p>
        </p:txBody>
      </p:sp>
      <p:grpSp>
        <p:nvGrpSpPr>
          <p:cNvPr name="Group 25" id="25"/>
          <p:cNvGrpSpPr/>
          <p:nvPr/>
        </p:nvGrpSpPr>
        <p:grpSpPr>
          <a:xfrm rot="0">
            <a:off x="1684170" y="6568316"/>
            <a:ext cx="13812" cy="614895"/>
            <a:chOff x="0" y="0"/>
            <a:chExt cx="25400" cy="1130761"/>
          </a:xfrm>
        </p:grpSpPr>
        <p:sp>
          <p:nvSpPr>
            <p:cNvPr name="Freeform 26" id="26"/>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27" id="27"/>
          <p:cNvSpPr txBox="true"/>
          <p:nvPr/>
        </p:nvSpPr>
        <p:spPr>
          <a:xfrm rot="0">
            <a:off x="1924516" y="7314055"/>
            <a:ext cx="70702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Zhengxiao Zha: SLAM Algorithm</a:t>
            </a:r>
          </a:p>
        </p:txBody>
      </p:sp>
      <p:sp>
        <p:nvSpPr>
          <p:cNvPr name="TextBox 28" id="28"/>
          <p:cNvSpPr txBox="true"/>
          <p:nvPr/>
        </p:nvSpPr>
        <p:spPr>
          <a:xfrm rot="0">
            <a:off x="921289" y="7358971"/>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05</a:t>
            </a:r>
          </a:p>
        </p:txBody>
      </p:sp>
      <p:grpSp>
        <p:nvGrpSpPr>
          <p:cNvPr name="Group 29" id="29"/>
          <p:cNvGrpSpPr/>
          <p:nvPr/>
        </p:nvGrpSpPr>
        <p:grpSpPr>
          <a:xfrm rot="0">
            <a:off x="1684170" y="7367436"/>
            <a:ext cx="13812" cy="614895"/>
            <a:chOff x="0" y="0"/>
            <a:chExt cx="25400" cy="1130761"/>
          </a:xfrm>
        </p:grpSpPr>
        <p:sp>
          <p:nvSpPr>
            <p:cNvPr name="Freeform 30" id="30"/>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31" id="31"/>
          <p:cNvSpPr txBox="true"/>
          <p:nvPr/>
        </p:nvSpPr>
        <p:spPr>
          <a:xfrm rot="0">
            <a:off x="9998018" y="3626828"/>
            <a:ext cx="7326479" cy="641419"/>
          </a:xfrm>
          <a:prstGeom prst="rect">
            <a:avLst/>
          </a:prstGeom>
        </p:spPr>
        <p:txBody>
          <a:bodyPr anchor="t" rtlCol="false" tIns="0" lIns="0" bIns="0" rIns="0">
            <a:spAutoFit/>
          </a:bodyPr>
          <a:lstStyle/>
          <a:p>
            <a:pPr algn="l">
              <a:lnSpc>
                <a:spcPts val="5092"/>
              </a:lnSpc>
            </a:pPr>
            <a:r>
              <a:rPr lang="en-US" sz="3639">
                <a:solidFill>
                  <a:srgbClr val="000000"/>
                </a:solidFill>
                <a:latin typeface="Times New Roman"/>
                <a:ea typeface="Times New Roman"/>
                <a:cs typeface="Times New Roman"/>
                <a:sym typeface="Times New Roman"/>
              </a:rPr>
              <a:t>Qiran Sun: System Architecture </a:t>
            </a:r>
          </a:p>
        </p:txBody>
      </p:sp>
      <p:sp>
        <p:nvSpPr>
          <p:cNvPr name="TextBox 32" id="32"/>
          <p:cNvSpPr txBox="true"/>
          <p:nvPr/>
        </p:nvSpPr>
        <p:spPr>
          <a:xfrm rot="0">
            <a:off x="8994792" y="3679249"/>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06</a:t>
            </a:r>
          </a:p>
        </p:txBody>
      </p:sp>
      <p:grpSp>
        <p:nvGrpSpPr>
          <p:cNvPr name="Group 33" id="33"/>
          <p:cNvGrpSpPr/>
          <p:nvPr/>
        </p:nvGrpSpPr>
        <p:grpSpPr>
          <a:xfrm rot="0">
            <a:off x="9757673" y="3687715"/>
            <a:ext cx="13812" cy="614895"/>
            <a:chOff x="0" y="0"/>
            <a:chExt cx="25400" cy="1130761"/>
          </a:xfrm>
        </p:grpSpPr>
        <p:sp>
          <p:nvSpPr>
            <p:cNvPr name="Freeform 34" id="34"/>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35" id="35"/>
          <p:cNvSpPr txBox="true"/>
          <p:nvPr/>
        </p:nvSpPr>
        <p:spPr>
          <a:xfrm rot="0">
            <a:off x="9998018" y="4465237"/>
            <a:ext cx="6841676"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Shangyang Li: Motor Drive</a:t>
            </a:r>
          </a:p>
        </p:txBody>
      </p:sp>
      <p:sp>
        <p:nvSpPr>
          <p:cNvPr name="TextBox 36" id="36"/>
          <p:cNvSpPr txBox="true"/>
          <p:nvPr/>
        </p:nvSpPr>
        <p:spPr>
          <a:xfrm rot="0">
            <a:off x="8994792" y="4510153"/>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07</a:t>
            </a:r>
          </a:p>
        </p:txBody>
      </p:sp>
      <p:grpSp>
        <p:nvGrpSpPr>
          <p:cNvPr name="Group 37" id="37"/>
          <p:cNvGrpSpPr/>
          <p:nvPr/>
        </p:nvGrpSpPr>
        <p:grpSpPr>
          <a:xfrm rot="0">
            <a:off x="9757673" y="4518618"/>
            <a:ext cx="13812" cy="614895"/>
            <a:chOff x="0" y="0"/>
            <a:chExt cx="25400" cy="1130761"/>
          </a:xfrm>
        </p:grpSpPr>
        <p:sp>
          <p:nvSpPr>
            <p:cNvPr name="Freeform 38" id="38"/>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39" id="39"/>
          <p:cNvSpPr txBox="true"/>
          <p:nvPr/>
        </p:nvSpPr>
        <p:spPr>
          <a:xfrm rot="0">
            <a:off x="9998018" y="5283407"/>
            <a:ext cx="8100343" cy="617782"/>
          </a:xfrm>
          <a:prstGeom prst="rect">
            <a:avLst/>
          </a:prstGeom>
        </p:spPr>
        <p:txBody>
          <a:bodyPr anchor="t" rtlCol="false" tIns="0" lIns="0" bIns="0" rIns="0">
            <a:spAutoFit/>
          </a:bodyPr>
          <a:lstStyle/>
          <a:p>
            <a:pPr algn="l">
              <a:lnSpc>
                <a:spcPts val="4819"/>
              </a:lnSpc>
            </a:pPr>
            <a:r>
              <a:rPr lang="en-US" sz="3444">
                <a:solidFill>
                  <a:srgbClr val="000000"/>
                </a:solidFill>
                <a:latin typeface="Times New Roman"/>
                <a:ea typeface="Times New Roman"/>
                <a:cs typeface="Times New Roman"/>
                <a:sym typeface="Times New Roman"/>
              </a:rPr>
              <a:t>Ran Sun: Bluetooth Data Transmission</a:t>
            </a:r>
          </a:p>
        </p:txBody>
      </p:sp>
      <p:sp>
        <p:nvSpPr>
          <p:cNvPr name="TextBox 40" id="40"/>
          <p:cNvSpPr txBox="true"/>
          <p:nvPr/>
        </p:nvSpPr>
        <p:spPr>
          <a:xfrm rot="0">
            <a:off x="8994792" y="5328323"/>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08</a:t>
            </a:r>
          </a:p>
        </p:txBody>
      </p:sp>
      <p:grpSp>
        <p:nvGrpSpPr>
          <p:cNvPr name="Group 41" id="41"/>
          <p:cNvGrpSpPr/>
          <p:nvPr/>
        </p:nvGrpSpPr>
        <p:grpSpPr>
          <a:xfrm rot="0">
            <a:off x="9757673" y="5336788"/>
            <a:ext cx="13812" cy="614895"/>
            <a:chOff x="0" y="0"/>
            <a:chExt cx="25400" cy="1130761"/>
          </a:xfrm>
        </p:grpSpPr>
        <p:sp>
          <p:nvSpPr>
            <p:cNvPr name="Freeform 42" id="42"/>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43" id="43"/>
          <p:cNvSpPr txBox="true"/>
          <p:nvPr/>
        </p:nvSpPr>
        <p:spPr>
          <a:xfrm rot="0">
            <a:off x="9998018" y="6111102"/>
            <a:ext cx="7156343"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Chuqi Liu: Radar Data Processing</a:t>
            </a:r>
          </a:p>
        </p:txBody>
      </p:sp>
      <p:sp>
        <p:nvSpPr>
          <p:cNvPr name="TextBox 44" id="44"/>
          <p:cNvSpPr txBox="true"/>
          <p:nvPr/>
        </p:nvSpPr>
        <p:spPr>
          <a:xfrm rot="0">
            <a:off x="8994792" y="6156018"/>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09</a:t>
            </a:r>
          </a:p>
        </p:txBody>
      </p:sp>
      <p:grpSp>
        <p:nvGrpSpPr>
          <p:cNvPr name="Group 45" id="45"/>
          <p:cNvGrpSpPr/>
          <p:nvPr/>
        </p:nvGrpSpPr>
        <p:grpSpPr>
          <a:xfrm rot="0">
            <a:off x="9757673" y="6164483"/>
            <a:ext cx="13812" cy="614895"/>
            <a:chOff x="0" y="0"/>
            <a:chExt cx="25400" cy="1130761"/>
          </a:xfrm>
        </p:grpSpPr>
        <p:sp>
          <p:nvSpPr>
            <p:cNvPr name="Freeform 46" id="46"/>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47" id="47"/>
          <p:cNvSpPr txBox="true"/>
          <p:nvPr/>
        </p:nvSpPr>
        <p:spPr>
          <a:xfrm rot="0">
            <a:off x="9998018" y="6910222"/>
            <a:ext cx="7156343" cy="64130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Kaixi Xu: MPU Attitude Sensing</a:t>
            </a:r>
          </a:p>
        </p:txBody>
      </p:sp>
      <p:sp>
        <p:nvSpPr>
          <p:cNvPr name="TextBox 48" id="48"/>
          <p:cNvSpPr txBox="true"/>
          <p:nvPr/>
        </p:nvSpPr>
        <p:spPr>
          <a:xfrm rot="0">
            <a:off x="8994792" y="6955138"/>
            <a:ext cx="852893" cy="649928"/>
          </a:xfrm>
          <a:prstGeom prst="rect">
            <a:avLst/>
          </a:prstGeom>
        </p:spPr>
        <p:txBody>
          <a:bodyPr anchor="t" rtlCol="false" tIns="0" lIns="0" bIns="0" rIns="0">
            <a:spAutoFit/>
          </a:bodyPr>
          <a:lstStyle/>
          <a:p>
            <a:pPr algn="ctr">
              <a:lnSpc>
                <a:spcPts val="5192"/>
              </a:lnSpc>
            </a:pPr>
            <a:r>
              <a:rPr lang="en-US" sz="4327" spc="0">
                <a:solidFill>
                  <a:srgbClr val="963D3D"/>
                </a:solidFill>
                <a:latin typeface="Anton"/>
                <a:ea typeface="Anton"/>
                <a:cs typeface="Anton"/>
                <a:sym typeface="Anton"/>
              </a:rPr>
              <a:t>10</a:t>
            </a:r>
          </a:p>
        </p:txBody>
      </p:sp>
      <p:grpSp>
        <p:nvGrpSpPr>
          <p:cNvPr name="Group 49" id="49"/>
          <p:cNvGrpSpPr/>
          <p:nvPr/>
        </p:nvGrpSpPr>
        <p:grpSpPr>
          <a:xfrm rot="0">
            <a:off x="9757673" y="6963604"/>
            <a:ext cx="13812" cy="614895"/>
            <a:chOff x="0" y="0"/>
            <a:chExt cx="25400" cy="1130761"/>
          </a:xfrm>
        </p:grpSpPr>
        <p:sp>
          <p:nvSpPr>
            <p:cNvPr name="Freeform 50" id="50"/>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
        <p:nvSpPr>
          <p:cNvPr name="TextBox 51" id="51"/>
          <p:cNvSpPr txBox="true"/>
          <p:nvPr/>
        </p:nvSpPr>
        <p:spPr>
          <a:xfrm rot="0">
            <a:off x="1884522" y="2760918"/>
            <a:ext cx="6841676" cy="1917652"/>
          </a:xfrm>
          <a:prstGeom prst="rect">
            <a:avLst/>
          </a:prstGeom>
        </p:spPr>
        <p:txBody>
          <a:bodyPr anchor="t" rtlCol="false" tIns="0" lIns="0" bIns="0" rIns="0">
            <a:spAutoFit/>
          </a:bodyPr>
          <a:lstStyle/>
          <a:p>
            <a:pPr algn="l">
              <a:lnSpc>
                <a:spcPts val="5098"/>
              </a:lnSpc>
            </a:pPr>
            <a:r>
              <a:rPr lang="en-US" sz="3644">
                <a:solidFill>
                  <a:srgbClr val="000000"/>
                </a:solidFill>
                <a:latin typeface="Times New Roman"/>
                <a:ea typeface="Times New Roman"/>
                <a:cs typeface="Times New Roman"/>
                <a:sym typeface="Times New Roman"/>
              </a:rPr>
              <a:t>Jialing Ma: Frontier Point Filtering, Map Denoising, Host System Architecture Design and coding</a:t>
            </a:r>
          </a:p>
        </p:txBody>
      </p:sp>
      <p:sp>
        <p:nvSpPr>
          <p:cNvPr name="TextBox 52" id="52"/>
          <p:cNvSpPr txBox="true"/>
          <p:nvPr/>
        </p:nvSpPr>
        <p:spPr>
          <a:xfrm rot="0">
            <a:off x="898347" y="3271761"/>
            <a:ext cx="875835" cy="683679"/>
          </a:xfrm>
          <a:prstGeom prst="rect">
            <a:avLst/>
          </a:prstGeom>
        </p:spPr>
        <p:txBody>
          <a:bodyPr anchor="t" rtlCol="false" tIns="0" lIns="0" bIns="0" rIns="0">
            <a:spAutoFit/>
          </a:bodyPr>
          <a:lstStyle/>
          <a:p>
            <a:pPr algn="ctr">
              <a:lnSpc>
                <a:spcPts val="5332"/>
              </a:lnSpc>
            </a:pPr>
            <a:r>
              <a:rPr lang="en-US" sz="4443" spc="0">
                <a:solidFill>
                  <a:srgbClr val="963D3D"/>
                </a:solidFill>
                <a:latin typeface="Anton"/>
                <a:ea typeface="Anton"/>
                <a:cs typeface="Anton"/>
                <a:sym typeface="Anton"/>
              </a:rPr>
              <a:t>01</a:t>
            </a:r>
          </a:p>
        </p:txBody>
      </p:sp>
      <p:grpSp>
        <p:nvGrpSpPr>
          <p:cNvPr name="Group 53" id="53"/>
          <p:cNvGrpSpPr/>
          <p:nvPr/>
        </p:nvGrpSpPr>
        <p:grpSpPr>
          <a:xfrm rot="0">
            <a:off x="1684170" y="3318016"/>
            <a:ext cx="13812" cy="614895"/>
            <a:chOff x="0" y="0"/>
            <a:chExt cx="25400" cy="1130761"/>
          </a:xfrm>
        </p:grpSpPr>
        <p:sp>
          <p:nvSpPr>
            <p:cNvPr name="Freeform 54" id="54"/>
            <p:cNvSpPr/>
            <p:nvPr/>
          </p:nvSpPr>
          <p:spPr>
            <a:xfrm flipH="false" flipV="false" rot="0">
              <a:off x="0" y="12700"/>
              <a:ext cx="25400" cy="1105408"/>
            </a:xfrm>
            <a:custGeom>
              <a:avLst/>
              <a:gdLst/>
              <a:ahLst/>
              <a:cxnLst/>
              <a:rect r="r" b="b" t="t" l="l"/>
              <a:pathLst>
                <a:path h="1105408" w="25400">
                  <a:moveTo>
                    <a:pt x="25400" y="0"/>
                  </a:moveTo>
                  <a:lnTo>
                    <a:pt x="25400" y="1105408"/>
                  </a:lnTo>
                  <a:lnTo>
                    <a:pt x="0" y="1105408"/>
                  </a:lnTo>
                  <a:lnTo>
                    <a:pt x="0" y="0"/>
                  </a:lnTo>
                  <a:close/>
                </a:path>
              </a:pathLst>
            </a:custGeom>
            <a:solidFill>
              <a:srgbClr val="404040"/>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63D3D"/>
        </a:solidFill>
      </p:bgPr>
    </p:bg>
    <p:spTree>
      <p:nvGrpSpPr>
        <p:cNvPr id="1" name=""/>
        <p:cNvGrpSpPr/>
        <p:nvPr/>
      </p:nvGrpSpPr>
      <p:grpSpPr>
        <a:xfrm>
          <a:off x="0" y="0"/>
          <a:ext cx="0" cy="0"/>
          <a:chOff x="0" y="0"/>
          <a:chExt cx="0" cy="0"/>
        </a:xfrm>
      </p:grpSpPr>
      <p:sp>
        <p:nvSpPr>
          <p:cNvPr name="Freeform 2" id="2"/>
          <p:cNvSpPr/>
          <p:nvPr/>
        </p:nvSpPr>
        <p:spPr>
          <a:xfrm flipH="false" flipV="false" rot="0">
            <a:off x="510097" y="-611200"/>
            <a:ext cx="17267805" cy="9369314"/>
          </a:xfrm>
          <a:custGeom>
            <a:avLst/>
            <a:gdLst/>
            <a:ahLst/>
            <a:cxnLst/>
            <a:rect r="r" b="b" t="t" l="l"/>
            <a:pathLst>
              <a:path h="9369314" w="17267805">
                <a:moveTo>
                  <a:pt x="0" y="0"/>
                </a:moveTo>
                <a:lnTo>
                  <a:pt x="17267805" y="0"/>
                </a:lnTo>
                <a:lnTo>
                  <a:pt x="17267805" y="9369314"/>
                </a:lnTo>
                <a:lnTo>
                  <a:pt x="0" y="9369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90600"/>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558800" y="0"/>
                  </a:moveTo>
                  <a:lnTo>
                    <a:pt x="965200" y="0"/>
                  </a:lnTo>
                  <a:lnTo>
                    <a:pt x="965200" y="50800"/>
                  </a:lnTo>
                  <a:lnTo>
                    <a:pt x="558800" y="50800"/>
                  </a:lnTo>
                  <a:close/>
                  <a:moveTo>
                    <a:pt x="1117600" y="0"/>
                  </a:moveTo>
                  <a:lnTo>
                    <a:pt x="1524000" y="0"/>
                  </a:lnTo>
                  <a:lnTo>
                    <a:pt x="1524000" y="50800"/>
                  </a:lnTo>
                  <a:lnTo>
                    <a:pt x="1117600" y="50800"/>
                  </a:lnTo>
                  <a:close/>
                  <a:moveTo>
                    <a:pt x="1676400" y="50800"/>
                  </a:moveTo>
                  <a:lnTo>
                    <a:pt x="2082800" y="50800"/>
                  </a:lnTo>
                  <a:lnTo>
                    <a:pt x="1676400" y="50800"/>
                  </a:lnTo>
                  <a:close/>
                  <a:moveTo>
                    <a:pt x="2235200" y="50800"/>
                  </a:moveTo>
                  <a:lnTo>
                    <a:pt x="2641600" y="50800"/>
                  </a:lnTo>
                  <a:lnTo>
                    <a:pt x="2235200" y="50800"/>
                  </a:lnTo>
                  <a:close/>
                  <a:moveTo>
                    <a:pt x="2794000" y="50800"/>
                  </a:moveTo>
                  <a:lnTo>
                    <a:pt x="3200400" y="50800"/>
                  </a:lnTo>
                  <a:lnTo>
                    <a:pt x="2794000" y="50800"/>
                  </a:lnTo>
                  <a:close/>
                  <a:moveTo>
                    <a:pt x="3352800" y="50800"/>
                  </a:moveTo>
                  <a:lnTo>
                    <a:pt x="3759200" y="50800"/>
                  </a:lnTo>
                  <a:lnTo>
                    <a:pt x="3352800" y="50800"/>
                  </a:lnTo>
                  <a:close/>
                  <a:moveTo>
                    <a:pt x="3911600" y="50800"/>
                  </a:moveTo>
                  <a:lnTo>
                    <a:pt x="4318000" y="50800"/>
                  </a:lnTo>
                  <a:lnTo>
                    <a:pt x="3911600" y="50800"/>
                  </a:lnTo>
                  <a:close/>
                  <a:moveTo>
                    <a:pt x="4470400" y="50800"/>
                  </a:moveTo>
                  <a:lnTo>
                    <a:pt x="4876800" y="50800"/>
                  </a:lnTo>
                  <a:lnTo>
                    <a:pt x="4470400" y="50800"/>
                  </a:lnTo>
                  <a:close/>
                  <a:moveTo>
                    <a:pt x="5029200" y="50800"/>
                  </a:moveTo>
                  <a:lnTo>
                    <a:pt x="5435600" y="50800"/>
                  </a:lnTo>
                  <a:lnTo>
                    <a:pt x="5029200" y="50800"/>
                  </a:lnTo>
                  <a:close/>
                  <a:moveTo>
                    <a:pt x="5588000" y="50800"/>
                  </a:moveTo>
                  <a:lnTo>
                    <a:pt x="5994400" y="50800"/>
                  </a:lnTo>
                  <a:lnTo>
                    <a:pt x="5588000" y="50800"/>
                  </a:lnTo>
                  <a:close/>
                  <a:moveTo>
                    <a:pt x="6146800" y="50800"/>
                  </a:moveTo>
                  <a:lnTo>
                    <a:pt x="6553200" y="50800"/>
                  </a:lnTo>
                  <a:lnTo>
                    <a:pt x="6146800" y="50800"/>
                  </a:lnTo>
                  <a:close/>
                  <a:moveTo>
                    <a:pt x="6705600" y="50800"/>
                  </a:moveTo>
                  <a:lnTo>
                    <a:pt x="7112000" y="50800"/>
                  </a:lnTo>
                  <a:lnTo>
                    <a:pt x="6705600" y="50800"/>
                  </a:lnTo>
                  <a:close/>
                  <a:moveTo>
                    <a:pt x="7264400" y="50800"/>
                  </a:moveTo>
                  <a:lnTo>
                    <a:pt x="7670800" y="50800"/>
                  </a:lnTo>
                  <a:lnTo>
                    <a:pt x="7264400" y="50800"/>
                  </a:lnTo>
                  <a:close/>
                  <a:moveTo>
                    <a:pt x="7823200" y="50800"/>
                  </a:moveTo>
                  <a:lnTo>
                    <a:pt x="8229600" y="50800"/>
                  </a:lnTo>
                  <a:lnTo>
                    <a:pt x="7823200" y="50800"/>
                  </a:lnTo>
                  <a:close/>
                  <a:moveTo>
                    <a:pt x="8382000" y="50800"/>
                  </a:moveTo>
                  <a:lnTo>
                    <a:pt x="8788400" y="50800"/>
                  </a:lnTo>
                  <a:lnTo>
                    <a:pt x="8382000" y="50800"/>
                  </a:lnTo>
                  <a:close/>
                  <a:moveTo>
                    <a:pt x="8940800" y="50800"/>
                  </a:moveTo>
                  <a:lnTo>
                    <a:pt x="9347200" y="50800"/>
                  </a:lnTo>
                  <a:lnTo>
                    <a:pt x="8940800" y="50800"/>
                  </a:lnTo>
                  <a:close/>
                  <a:moveTo>
                    <a:pt x="9499600" y="50800"/>
                  </a:moveTo>
                  <a:lnTo>
                    <a:pt x="9906000" y="50800"/>
                  </a:lnTo>
                  <a:lnTo>
                    <a:pt x="9499600" y="50800"/>
                  </a:lnTo>
                  <a:close/>
                  <a:moveTo>
                    <a:pt x="10058400" y="50800"/>
                  </a:moveTo>
                  <a:lnTo>
                    <a:pt x="10464800" y="50800"/>
                  </a:lnTo>
                  <a:lnTo>
                    <a:pt x="10058400" y="50800"/>
                  </a:lnTo>
                  <a:close/>
                  <a:moveTo>
                    <a:pt x="10617200" y="50800"/>
                  </a:moveTo>
                  <a:lnTo>
                    <a:pt x="11023600" y="50800"/>
                  </a:lnTo>
                  <a:lnTo>
                    <a:pt x="10617200" y="50800"/>
                  </a:lnTo>
                  <a:close/>
                  <a:moveTo>
                    <a:pt x="11176000" y="50800"/>
                  </a:moveTo>
                  <a:lnTo>
                    <a:pt x="11582400" y="50800"/>
                  </a:lnTo>
                  <a:lnTo>
                    <a:pt x="11176000" y="50800"/>
                  </a:lnTo>
                  <a:close/>
                  <a:moveTo>
                    <a:pt x="11734800" y="50800"/>
                  </a:moveTo>
                  <a:lnTo>
                    <a:pt x="12141200" y="50800"/>
                  </a:lnTo>
                  <a:lnTo>
                    <a:pt x="11734800" y="50800"/>
                  </a:lnTo>
                  <a:close/>
                  <a:moveTo>
                    <a:pt x="12293600" y="50800"/>
                  </a:moveTo>
                  <a:lnTo>
                    <a:pt x="12700000" y="50800"/>
                  </a:lnTo>
                  <a:lnTo>
                    <a:pt x="12293600" y="50800"/>
                  </a:lnTo>
                  <a:close/>
                  <a:moveTo>
                    <a:pt x="12852400" y="50800"/>
                  </a:moveTo>
                  <a:lnTo>
                    <a:pt x="13258800" y="50800"/>
                  </a:lnTo>
                  <a:lnTo>
                    <a:pt x="12852400" y="50800"/>
                  </a:lnTo>
                  <a:close/>
                  <a:moveTo>
                    <a:pt x="13411200" y="50800"/>
                  </a:moveTo>
                  <a:lnTo>
                    <a:pt x="13817600" y="50800"/>
                  </a:lnTo>
                  <a:lnTo>
                    <a:pt x="13411200" y="50800"/>
                  </a:lnTo>
                  <a:close/>
                  <a:moveTo>
                    <a:pt x="13970000" y="50800"/>
                  </a:moveTo>
                  <a:lnTo>
                    <a:pt x="14376400" y="50800"/>
                  </a:lnTo>
                  <a:lnTo>
                    <a:pt x="13970000" y="50800"/>
                  </a:lnTo>
                  <a:close/>
                  <a:moveTo>
                    <a:pt x="14528800" y="50800"/>
                  </a:moveTo>
                  <a:lnTo>
                    <a:pt x="14935200" y="50800"/>
                  </a:lnTo>
                  <a:lnTo>
                    <a:pt x="14528800" y="50800"/>
                  </a:lnTo>
                  <a:close/>
                  <a:moveTo>
                    <a:pt x="15087600" y="50800"/>
                  </a:moveTo>
                  <a:lnTo>
                    <a:pt x="15494000" y="50800"/>
                  </a:lnTo>
                  <a:lnTo>
                    <a:pt x="15087600" y="50800"/>
                  </a:lnTo>
                  <a:close/>
                  <a:moveTo>
                    <a:pt x="15646400" y="50800"/>
                  </a:moveTo>
                  <a:lnTo>
                    <a:pt x="16052800" y="50800"/>
                  </a:lnTo>
                  <a:lnTo>
                    <a:pt x="15646400" y="50800"/>
                  </a:lnTo>
                  <a:close/>
                  <a:moveTo>
                    <a:pt x="16205200" y="50800"/>
                  </a:moveTo>
                  <a:lnTo>
                    <a:pt x="16611600" y="50800"/>
                  </a:lnTo>
                  <a:lnTo>
                    <a:pt x="16205200" y="50800"/>
                  </a:lnTo>
                  <a:close/>
                  <a:moveTo>
                    <a:pt x="16764000" y="50800"/>
                  </a:moveTo>
                  <a:lnTo>
                    <a:pt x="17170400" y="50800"/>
                  </a:lnTo>
                  <a:lnTo>
                    <a:pt x="16764000" y="50800"/>
                  </a:lnTo>
                  <a:close/>
                  <a:moveTo>
                    <a:pt x="17322800" y="50800"/>
                  </a:moveTo>
                  <a:lnTo>
                    <a:pt x="17729200" y="50800"/>
                  </a:lnTo>
                  <a:lnTo>
                    <a:pt x="17322800" y="50800"/>
                  </a:lnTo>
                  <a:close/>
                  <a:moveTo>
                    <a:pt x="17881600" y="50800"/>
                  </a:moveTo>
                  <a:lnTo>
                    <a:pt x="18288000" y="50800"/>
                  </a:lnTo>
                  <a:lnTo>
                    <a:pt x="17881600" y="50800"/>
                  </a:lnTo>
                  <a:close/>
                  <a:moveTo>
                    <a:pt x="18440400" y="50800"/>
                  </a:moveTo>
                  <a:lnTo>
                    <a:pt x="18846800" y="50800"/>
                  </a:lnTo>
                  <a:lnTo>
                    <a:pt x="18440400" y="50800"/>
                  </a:lnTo>
                  <a:close/>
                  <a:moveTo>
                    <a:pt x="18999200" y="50800"/>
                  </a:moveTo>
                  <a:lnTo>
                    <a:pt x="19405600" y="50800"/>
                  </a:lnTo>
                  <a:lnTo>
                    <a:pt x="18999200" y="50800"/>
                  </a:lnTo>
                  <a:close/>
                  <a:moveTo>
                    <a:pt x="19558000" y="50800"/>
                  </a:moveTo>
                  <a:lnTo>
                    <a:pt x="19964400" y="50800"/>
                  </a:lnTo>
                  <a:lnTo>
                    <a:pt x="19558000" y="50800"/>
                  </a:lnTo>
                  <a:close/>
                  <a:moveTo>
                    <a:pt x="20116800" y="50800"/>
                  </a:moveTo>
                  <a:lnTo>
                    <a:pt x="20523200" y="50800"/>
                  </a:lnTo>
                  <a:lnTo>
                    <a:pt x="20116800" y="50800"/>
                  </a:lnTo>
                  <a:close/>
                  <a:moveTo>
                    <a:pt x="20675600" y="50800"/>
                  </a:moveTo>
                  <a:lnTo>
                    <a:pt x="21082000" y="50800"/>
                  </a:lnTo>
                  <a:lnTo>
                    <a:pt x="20675600" y="50800"/>
                  </a:lnTo>
                  <a:close/>
                  <a:moveTo>
                    <a:pt x="21234400" y="50800"/>
                  </a:moveTo>
                  <a:lnTo>
                    <a:pt x="21640800" y="50800"/>
                  </a:lnTo>
                  <a:lnTo>
                    <a:pt x="21234400" y="50800"/>
                  </a:lnTo>
                  <a:close/>
                  <a:moveTo>
                    <a:pt x="21793200" y="50800"/>
                  </a:moveTo>
                  <a:lnTo>
                    <a:pt x="22199600" y="50800"/>
                  </a:lnTo>
                  <a:lnTo>
                    <a:pt x="21793200" y="50800"/>
                  </a:lnTo>
                  <a:close/>
                  <a:moveTo>
                    <a:pt x="22352000" y="50800"/>
                  </a:moveTo>
                  <a:lnTo>
                    <a:pt x="22758400" y="50800"/>
                  </a:lnTo>
                  <a:lnTo>
                    <a:pt x="22352000" y="50800"/>
                  </a:lnTo>
                  <a:close/>
                  <a:moveTo>
                    <a:pt x="22910800" y="50800"/>
                  </a:moveTo>
                  <a:lnTo>
                    <a:pt x="23317200" y="50800"/>
                  </a:lnTo>
                  <a:lnTo>
                    <a:pt x="22910800" y="50800"/>
                  </a:lnTo>
                  <a:close/>
                  <a:moveTo>
                    <a:pt x="23469600" y="50800"/>
                  </a:moveTo>
                  <a:lnTo>
                    <a:pt x="23876000" y="50800"/>
                  </a:lnTo>
                  <a:lnTo>
                    <a:pt x="23469600" y="50800"/>
                  </a:lnTo>
                  <a:close/>
                  <a:moveTo>
                    <a:pt x="24028400" y="50800"/>
                  </a:moveTo>
                  <a:lnTo>
                    <a:pt x="24434800" y="50800"/>
                  </a:lnTo>
                  <a:lnTo>
                    <a:pt x="24028400" y="50800"/>
                  </a:lnTo>
                  <a:close/>
                  <a:moveTo>
                    <a:pt x="24587200" y="50800"/>
                  </a:moveTo>
                  <a:lnTo>
                    <a:pt x="24866727" y="50800"/>
                  </a:lnTo>
                  <a:lnTo>
                    <a:pt x="24587200" y="50800"/>
                  </a:lnTo>
                  <a:close/>
                  <a:moveTo>
                    <a:pt x="0" y="0"/>
                  </a:moveTo>
                  <a:lnTo>
                    <a:pt x="406400" y="0"/>
                  </a:lnTo>
                  <a:lnTo>
                    <a:pt x="406400" y="50800"/>
                  </a:lnTo>
                  <a:lnTo>
                    <a:pt x="0" y="50800"/>
                  </a:lnTo>
                  <a:close/>
                </a:path>
              </a:pathLst>
            </a:custGeom>
            <a:solidFill>
              <a:srgbClr val="963D3D"/>
            </a:solidFill>
          </p:spPr>
        </p:sp>
      </p:grpSp>
      <p:grpSp>
        <p:nvGrpSpPr>
          <p:cNvPr name="Group 5" id="5"/>
          <p:cNvGrpSpPr/>
          <p:nvPr/>
        </p:nvGrpSpPr>
        <p:grpSpPr>
          <a:xfrm rot="0">
            <a:off x="543898" y="9220200"/>
            <a:ext cx="17200205" cy="38100"/>
            <a:chOff x="0" y="0"/>
            <a:chExt cx="22933607" cy="50800"/>
          </a:xfrm>
        </p:grpSpPr>
        <p:sp>
          <p:nvSpPr>
            <p:cNvPr name="Freeform 6" id="6"/>
            <p:cNvSpPr/>
            <p:nvPr/>
          </p:nvSpPr>
          <p:spPr>
            <a:xfrm flipH="false" flipV="false" rot="0">
              <a:off x="25400" y="0"/>
              <a:ext cx="22882861" cy="50800"/>
            </a:xfrm>
            <a:custGeom>
              <a:avLst/>
              <a:gdLst/>
              <a:ahLst/>
              <a:cxnLst/>
              <a:rect r="r" b="b" t="t" l="l"/>
              <a:pathLst>
                <a:path h="50800" w="22882861">
                  <a:moveTo>
                    <a:pt x="0" y="0"/>
                  </a:moveTo>
                  <a:lnTo>
                    <a:pt x="22882861" y="0"/>
                  </a:lnTo>
                  <a:lnTo>
                    <a:pt x="22882861" y="50800"/>
                  </a:lnTo>
                  <a:lnTo>
                    <a:pt x="0" y="50800"/>
                  </a:lnTo>
                  <a:close/>
                </a:path>
              </a:pathLst>
            </a:custGeom>
            <a:solidFill>
              <a:srgbClr val="FFFFFF"/>
            </a:solidFill>
          </p:spPr>
        </p:sp>
      </p:grpSp>
      <p:sp>
        <p:nvSpPr>
          <p:cNvPr name="Freeform 7" id="7"/>
          <p:cNvSpPr/>
          <p:nvPr/>
        </p:nvSpPr>
        <p:spPr>
          <a:xfrm flipH="false" flipV="false" rot="0">
            <a:off x="5305360" y="-108496"/>
            <a:ext cx="7677280" cy="4625296"/>
          </a:xfrm>
          <a:custGeom>
            <a:avLst/>
            <a:gdLst/>
            <a:ahLst/>
            <a:cxnLst/>
            <a:rect r="r" b="b" t="t" l="l"/>
            <a:pathLst>
              <a:path h="4625296" w="7677280">
                <a:moveTo>
                  <a:pt x="0" y="0"/>
                </a:moveTo>
                <a:lnTo>
                  <a:pt x="7677280" y="0"/>
                </a:lnTo>
                <a:lnTo>
                  <a:pt x="7677280" y="4625296"/>
                </a:lnTo>
                <a:lnTo>
                  <a:pt x="0" y="4625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435395" y="2470583"/>
            <a:ext cx="3417209" cy="1381266"/>
          </a:xfrm>
          <a:prstGeom prst="rect">
            <a:avLst/>
          </a:prstGeom>
        </p:spPr>
        <p:txBody>
          <a:bodyPr anchor="t" rtlCol="false" tIns="0" lIns="0" bIns="0" rIns="0">
            <a:spAutoFit/>
          </a:bodyPr>
          <a:lstStyle/>
          <a:p>
            <a:pPr algn="ctr">
              <a:lnSpc>
                <a:spcPts val="10834"/>
              </a:lnSpc>
            </a:pPr>
            <a:r>
              <a:rPr lang="en-US" sz="9029" spc="1255">
                <a:solidFill>
                  <a:srgbClr val="FFFFFF"/>
                </a:solidFill>
                <a:latin typeface="Anton"/>
                <a:ea typeface="Anton"/>
                <a:cs typeface="Anton"/>
                <a:sym typeface="Anton"/>
              </a:rPr>
              <a:t>01</a:t>
            </a:r>
          </a:p>
        </p:txBody>
      </p:sp>
      <p:sp>
        <p:nvSpPr>
          <p:cNvPr name="TextBox 9" id="9"/>
          <p:cNvSpPr txBox="true"/>
          <p:nvPr/>
        </p:nvSpPr>
        <p:spPr>
          <a:xfrm rot="0">
            <a:off x="4476285" y="5423226"/>
            <a:ext cx="9335428" cy="1543304"/>
          </a:xfrm>
          <a:prstGeom prst="rect">
            <a:avLst/>
          </a:prstGeom>
        </p:spPr>
        <p:txBody>
          <a:bodyPr anchor="t" rtlCol="false" tIns="0" lIns="0" bIns="0" rIns="0">
            <a:spAutoFit/>
          </a:bodyPr>
          <a:lstStyle/>
          <a:p>
            <a:pPr algn="ctr">
              <a:lnSpc>
                <a:spcPts val="11710"/>
              </a:lnSpc>
            </a:pPr>
            <a:r>
              <a:rPr lang="en-US" b="true" sz="9760" spc="-1">
                <a:solidFill>
                  <a:srgbClr val="963D3D"/>
                </a:solidFill>
                <a:latin typeface="Times New Roman Bold"/>
                <a:ea typeface="Times New Roman Bold"/>
                <a:cs typeface="Times New Roman Bold"/>
                <a:sym typeface="Times New Roman Bold"/>
              </a:rPr>
              <a:t>Software Code</a:t>
            </a:r>
          </a:p>
        </p:txBody>
      </p:sp>
      <p:sp>
        <p:nvSpPr>
          <p:cNvPr name="TextBox 10" id="10"/>
          <p:cNvSpPr txBox="true"/>
          <p:nvPr/>
        </p:nvSpPr>
        <p:spPr>
          <a:xfrm rot="0">
            <a:off x="6226230" y="464683"/>
            <a:ext cx="5835539" cy="1628089"/>
          </a:xfrm>
          <a:prstGeom prst="rect">
            <a:avLst/>
          </a:prstGeom>
        </p:spPr>
        <p:txBody>
          <a:bodyPr anchor="t" rtlCol="false" tIns="0" lIns="0" bIns="0" rIns="0">
            <a:spAutoFit/>
          </a:bodyPr>
          <a:lstStyle/>
          <a:p>
            <a:pPr algn="ctr">
              <a:lnSpc>
                <a:spcPts val="12490"/>
              </a:lnSpc>
            </a:pPr>
            <a:r>
              <a:rPr lang="en-US" b="true" sz="10404" spc="1924">
                <a:solidFill>
                  <a:srgbClr val="FFFFFF"/>
                </a:solidFill>
                <a:latin typeface="Times New Roman Bold"/>
                <a:ea typeface="Times New Roman Bold"/>
                <a:cs typeface="Times New Roman Bold"/>
                <a:sym typeface="Times New Roman Bold"/>
              </a:rPr>
              <a:t>PART</a:t>
            </a:r>
          </a:p>
        </p:txBody>
      </p:sp>
      <p:grpSp>
        <p:nvGrpSpPr>
          <p:cNvPr name="Group 11" id="11"/>
          <p:cNvGrpSpPr/>
          <p:nvPr/>
        </p:nvGrpSpPr>
        <p:grpSpPr>
          <a:xfrm rot="0">
            <a:off x="2402107" y="8847066"/>
            <a:ext cx="13483784" cy="1666875"/>
            <a:chOff x="0" y="0"/>
            <a:chExt cx="17978379" cy="2222500"/>
          </a:xfrm>
        </p:grpSpPr>
        <p:sp>
          <p:nvSpPr>
            <p:cNvPr name="Freeform 12" id="12"/>
            <p:cNvSpPr/>
            <p:nvPr/>
          </p:nvSpPr>
          <p:spPr>
            <a:xfrm flipH="false" flipV="false" rot="0">
              <a:off x="0" y="0"/>
              <a:ext cx="17978374" cy="2222500"/>
            </a:xfrm>
            <a:custGeom>
              <a:avLst/>
              <a:gdLst/>
              <a:ahLst/>
              <a:cxnLst/>
              <a:rect r="r" b="b" t="t" l="l"/>
              <a:pathLst>
                <a:path h="2222500" w="17978374">
                  <a:moveTo>
                    <a:pt x="0" y="0"/>
                  </a:moveTo>
                  <a:lnTo>
                    <a:pt x="17978374" y="0"/>
                  </a:lnTo>
                  <a:lnTo>
                    <a:pt x="17978374" y="2222500"/>
                  </a:lnTo>
                  <a:lnTo>
                    <a:pt x="0" y="2222500"/>
                  </a:lnTo>
                  <a:lnTo>
                    <a:pt x="0" y="0"/>
                  </a:lnTo>
                  <a:close/>
                </a:path>
              </a:pathLst>
            </a:custGeom>
            <a:blipFill>
              <a:blip r:embed="rId6"/>
              <a:stretch>
                <a:fillRect l="-3" t="0" r="-3"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sp>
        <p:nvSpPr>
          <p:cNvPr name="TextBox 6" id="6"/>
          <p:cNvSpPr txBox="true"/>
          <p:nvPr/>
        </p:nvSpPr>
        <p:spPr>
          <a:xfrm rot="0">
            <a:off x="2214880" y="483235"/>
            <a:ext cx="6168419"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Software part</a:t>
            </a:r>
          </a:p>
        </p:txBody>
      </p:sp>
      <p:sp>
        <p:nvSpPr>
          <p:cNvPr name="Freeform 7" id="7"/>
          <p:cNvSpPr/>
          <p:nvPr/>
        </p:nvSpPr>
        <p:spPr>
          <a:xfrm flipH="false" flipV="false" rot="0">
            <a:off x="2056537" y="2811179"/>
            <a:ext cx="14174925" cy="5609528"/>
          </a:xfrm>
          <a:custGeom>
            <a:avLst/>
            <a:gdLst/>
            <a:ahLst/>
            <a:cxnLst/>
            <a:rect r="r" b="b" t="t" l="l"/>
            <a:pathLst>
              <a:path h="5609528" w="14174925">
                <a:moveTo>
                  <a:pt x="0" y="0"/>
                </a:moveTo>
                <a:lnTo>
                  <a:pt x="14174925" y="0"/>
                </a:lnTo>
                <a:lnTo>
                  <a:pt x="14174925" y="5609528"/>
                </a:lnTo>
                <a:lnTo>
                  <a:pt x="0" y="56095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192939" y="3025269"/>
            <a:ext cx="13912815" cy="5253678"/>
          </a:xfrm>
          <a:custGeom>
            <a:avLst/>
            <a:gdLst/>
            <a:ahLst/>
            <a:cxnLst/>
            <a:rect r="r" b="b" t="t" l="l"/>
            <a:pathLst>
              <a:path h="5253678" w="13912815">
                <a:moveTo>
                  <a:pt x="0" y="0"/>
                </a:moveTo>
                <a:lnTo>
                  <a:pt x="13912814" y="0"/>
                </a:lnTo>
                <a:lnTo>
                  <a:pt x="13912814" y="5253678"/>
                </a:lnTo>
                <a:lnTo>
                  <a:pt x="0" y="52536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507027" y="5307124"/>
            <a:ext cx="11507822" cy="2040255"/>
          </a:xfrm>
          <a:prstGeom prst="rect">
            <a:avLst/>
          </a:prstGeom>
        </p:spPr>
        <p:txBody>
          <a:bodyPr anchor="t" rtlCol="false" tIns="0" lIns="0" bIns="0" rIns="0">
            <a:spAutoFit/>
          </a:bodyPr>
          <a:lstStyle/>
          <a:p>
            <a:pPr algn="just">
              <a:lnSpc>
                <a:spcPts val="3299"/>
              </a:lnSpc>
            </a:pPr>
            <a:r>
              <a:rPr lang="en-US" sz="2199" b="true">
                <a:solidFill>
                  <a:srgbClr val="404040"/>
                </a:solidFill>
                <a:latin typeface="Times New Roman Bold"/>
                <a:ea typeface="Times New Roman Bold"/>
                <a:cs typeface="Times New Roman Bold"/>
                <a:sym typeface="Times New Roman Bold"/>
              </a:rPr>
              <a:t>The core objective of this project is to build a fully autonomous intelligent navigation system.</a:t>
            </a:r>
          </a:p>
          <a:p>
            <a:pPr algn="just">
              <a:lnSpc>
                <a:spcPts val="3299"/>
              </a:lnSpc>
            </a:pPr>
            <a:r>
              <a:rPr lang="en-US" sz="2199" b="true">
                <a:solidFill>
                  <a:srgbClr val="404040"/>
                </a:solidFill>
                <a:latin typeface="Times New Roman Bold"/>
                <a:ea typeface="Times New Roman Bold"/>
                <a:cs typeface="Times New Roman Bold"/>
                <a:sym typeface="Times New Roman Bold"/>
              </a:rPr>
              <a:t>This system serves as the "brain" of the car, enabling it to independently complete intelligent exploration, path planning and other tasks in a completely unknown maze environment, relying solely on the real-time map constructed by SLAM. Finally, within the shortest time, it can find and plan a path to the maze exit and successfully drive out of the maze.</a:t>
            </a:r>
          </a:p>
        </p:txBody>
      </p:sp>
      <p:sp>
        <p:nvSpPr>
          <p:cNvPr name="TextBox 10" id="10"/>
          <p:cNvSpPr txBox="true"/>
          <p:nvPr/>
        </p:nvSpPr>
        <p:spPr>
          <a:xfrm rot="0">
            <a:off x="4202043" y="3493155"/>
            <a:ext cx="9861436" cy="1518625"/>
          </a:xfrm>
          <a:prstGeom prst="rect">
            <a:avLst/>
          </a:prstGeom>
        </p:spPr>
        <p:txBody>
          <a:bodyPr anchor="t" rtlCol="false" tIns="0" lIns="0" bIns="0" rIns="0">
            <a:spAutoFit/>
          </a:bodyPr>
          <a:lstStyle/>
          <a:p>
            <a:pPr algn="ctr">
              <a:lnSpc>
                <a:spcPts val="6062"/>
              </a:lnSpc>
            </a:pPr>
            <a:r>
              <a:rPr lang="en-US" b="true" sz="4330" spc="428">
                <a:solidFill>
                  <a:srgbClr val="963D3D"/>
                </a:solidFill>
                <a:latin typeface="Times New Roman Bold"/>
                <a:ea typeface="Times New Roman Bold"/>
                <a:cs typeface="Times New Roman Bold"/>
                <a:sym typeface="Times New Roman Bold"/>
              </a:rPr>
              <a:t>Project objectives </a:t>
            </a:r>
          </a:p>
          <a:p>
            <a:pPr algn="ctr">
              <a:lnSpc>
                <a:spcPts val="6064"/>
              </a:lnSpc>
            </a:pPr>
            <a:r>
              <a:rPr lang="en-US" b="true" sz="4330" spc="433">
                <a:solidFill>
                  <a:srgbClr val="963D3D"/>
                </a:solidFill>
                <a:latin typeface="Times New Roman Bold"/>
                <a:ea typeface="Times New Roman Bold"/>
                <a:cs typeface="Times New Roman Bold"/>
                <a:sym typeface="Times New Roman Bold"/>
              </a:rPr>
              <a:t>and overall planning</a:t>
            </a:r>
          </a:p>
        </p:txBody>
      </p:sp>
      <p:grpSp>
        <p:nvGrpSpPr>
          <p:cNvPr name="Group 11" id="11"/>
          <p:cNvGrpSpPr/>
          <p:nvPr/>
        </p:nvGrpSpPr>
        <p:grpSpPr>
          <a:xfrm rot="0">
            <a:off x="3390672" y="5135606"/>
            <a:ext cx="11517347" cy="9525"/>
            <a:chOff x="0" y="0"/>
            <a:chExt cx="15356463" cy="12700"/>
          </a:xfrm>
        </p:grpSpPr>
        <p:sp>
          <p:nvSpPr>
            <p:cNvPr name="Freeform 12" id="12"/>
            <p:cNvSpPr/>
            <p:nvPr/>
          </p:nvSpPr>
          <p:spPr>
            <a:xfrm flipH="false" flipV="false" rot="0">
              <a:off x="6350" y="0"/>
              <a:ext cx="15343760" cy="12700"/>
            </a:xfrm>
            <a:custGeom>
              <a:avLst/>
              <a:gdLst/>
              <a:ahLst/>
              <a:cxnLst/>
              <a:rect r="r" b="b" t="t" l="l"/>
              <a:pathLst>
                <a:path h="12700" w="15343760">
                  <a:moveTo>
                    <a:pt x="0" y="0"/>
                  </a:moveTo>
                  <a:lnTo>
                    <a:pt x="15343760" y="0"/>
                  </a:lnTo>
                  <a:lnTo>
                    <a:pt x="15343760" y="12700"/>
                  </a:lnTo>
                  <a:lnTo>
                    <a:pt x="0" y="12700"/>
                  </a:lnTo>
                  <a:close/>
                </a:path>
              </a:pathLst>
            </a:custGeom>
            <a:solidFill>
              <a:srgbClr val="963D3D"/>
            </a:solidFill>
          </p:spPr>
        </p:sp>
      </p:grpSp>
      <p:grpSp>
        <p:nvGrpSpPr>
          <p:cNvPr name="Group 13" id="13"/>
          <p:cNvGrpSpPr/>
          <p:nvPr/>
        </p:nvGrpSpPr>
        <p:grpSpPr>
          <a:xfrm rot="0">
            <a:off x="3385327" y="7450317"/>
            <a:ext cx="11517347" cy="9525"/>
            <a:chOff x="0" y="0"/>
            <a:chExt cx="15356463" cy="12700"/>
          </a:xfrm>
        </p:grpSpPr>
        <p:sp>
          <p:nvSpPr>
            <p:cNvPr name="Freeform 14" id="14"/>
            <p:cNvSpPr/>
            <p:nvPr/>
          </p:nvSpPr>
          <p:spPr>
            <a:xfrm flipH="false" flipV="false" rot="0">
              <a:off x="6350" y="0"/>
              <a:ext cx="15343760" cy="12700"/>
            </a:xfrm>
            <a:custGeom>
              <a:avLst/>
              <a:gdLst/>
              <a:ahLst/>
              <a:cxnLst/>
              <a:rect r="r" b="b" t="t" l="l"/>
              <a:pathLst>
                <a:path h="12700" w="15343760">
                  <a:moveTo>
                    <a:pt x="0" y="0"/>
                  </a:moveTo>
                  <a:lnTo>
                    <a:pt x="15343760" y="0"/>
                  </a:lnTo>
                  <a:lnTo>
                    <a:pt x="15343760" y="12700"/>
                  </a:lnTo>
                  <a:lnTo>
                    <a:pt x="0" y="12700"/>
                  </a:lnTo>
                  <a:close/>
                </a:path>
              </a:pathLst>
            </a:custGeom>
            <a:solidFill>
              <a:srgbClr val="963D3D"/>
            </a:solidFill>
          </p:spPr>
        </p:sp>
      </p:grpSp>
      <p:grpSp>
        <p:nvGrpSpPr>
          <p:cNvPr name="Group 15" id="15"/>
          <p:cNvGrpSpPr/>
          <p:nvPr/>
        </p:nvGrpSpPr>
        <p:grpSpPr>
          <a:xfrm rot="0">
            <a:off x="731520" y="419100"/>
            <a:ext cx="1000760" cy="1000760"/>
            <a:chOff x="0" y="0"/>
            <a:chExt cx="1334347" cy="1334347"/>
          </a:xfrm>
        </p:grpSpPr>
        <p:sp>
          <p:nvSpPr>
            <p:cNvPr name="Freeform 16" id="16"/>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0"/>
              <a:stretch>
                <a:fillRect l="0" t="0" r="3" b="3"/>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544792"/>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5" id="5"/>
          <p:cNvGrpSpPr/>
          <p:nvPr/>
        </p:nvGrpSpPr>
        <p:grpSpPr>
          <a:xfrm rot="0">
            <a:off x="3390672" y="5135606"/>
            <a:ext cx="11517347" cy="9525"/>
            <a:chOff x="0" y="0"/>
            <a:chExt cx="15356463" cy="12700"/>
          </a:xfrm>
        </p:grpSpPr>
        <p:sp>
          <p:nvSpPr>
            <p:cNvPr name="Freeform 6" id="6"/>
            <p:cNvSpPr/>
            <p:nvPr/>
          </p:nvSpPr>
          <p:spPr>
            <a:xfrm flipH="false" flipV="false" rot="0">
              <a:off x="6350" y="0"/>
              <a:ext cx="15343760" cy="12700"/>
            </a:xfrm>
            <a:custGeom>
              <a:avLst/>
              <a:gdLst/>
              <a:ahLst/>
              <a:cxnLst/>
              <a:rect r="r" b="b" t="t" l="l"/>
              <a:pathLst>
                <a:path h="12700" w="15343760">
                  <a:moveTo>
                    <a:pt x="0" y="0"/>
                  </a:moveTo>
                  <a:lnTo>
                    <a:pt x="15343760" y="0"/>
                  </a:lnTo>
                  <a:lnTo>
                    <a:pt x="15343760" y="12700"/>
                  </a:lnTo>
                  <a:lnTo>
                    <a:pt x="0" y="12700"/>
                  </a:lnTo>
                  <a:close/>
                </a:path>
              </a:pathLst>
            </a:custGeom>
            <a:solidFill>
              <a:srgbClr val="963D3D"/>
            </a:solidFill>
          </p:spPr>
        </p:sp>
      </p:grpSp>
      <p:grpSp>
        <p:nvGrpSpPr>
          <p:cNvPr name="Group 7" id="7"/>
          <p:cNvGrpSpPr/>
          <p:nvPr/>
        </p:nvGrpSpPr>
        <p:grpSpPr>
          <a:xfrm rot="0">
            <a:off x="3385327" y="7450317"/>
            <a:ext cx="11517347" cy="9525"/>
            <a:chOff x="0" y="0"/>
            <a:chExt cx="15356463" cy="12700"/>
          </a:xfrm>
        </p:grpSpPr>
        <p:sp>
          <p:nvSpPr>
            <p:cNvPr name="Freeform 8" id="8"/>
            <p:cNvSpPr/>
            <p:nvPr/>
          </p:nvSpPr>
          <p:spPr>
            <a:xfrm flipH="false" flipV="false" rot="0">
              <a:off x="6350" y="0"/>
              <a:ext cx="15343760" cy="12700"/>
            </a:xfrm>
            <a:custGeom>
              <a:avLst/>
              <a:gdLst/>
              <a:ahLst/>
              <a:cxnLst/>
              <a:rect r="r" b="b" t="t" l="l"/>
              <a:pathLst>
                <a:path h="12700" w="15343760">
                  <a:moveTo>
                    <a:pt x="0" y="0"/>
                  </a:moveTo>
                  <a:lnTo>
                    <a:pt x="15343760" y="0"/>
                  </a:lnTo>
                  <a:lnTo>
                    <a:pt x="15343760" y="12700"/>
                  </a:lnTo>
                  <a:lnTo>
                    <a:pt x="0" y="12700"/>
                  </a:lnTo>
                  <a:close/>
                </a:path>
              </a:pathLst>
            </a:custGeom>
            <a:solidFill>
              <a:srgbClr val="963D3D"/>
            </a:solidFill>
          </p:spPr>
        </p:sp>
      </p:grpSp>
      <p:grpSp>
        <p:nvGrpSpPr>
          <p:cNvPr name="Group 9" id="9"/>
          <p:cNvGrpSpPr/>
          <p:nvPr/>
        </p:nvGrpSpPr>
        <p:grpSpPr>
          <a:xfrm rot="0">
            <a:off x="731520" y="419100"/>
            <a:ext cx="1000760" cy="1000760"/>
            <a:chOff x="0" y="0"/>
            <a:chExt cx="1334347" cy="1334347"/>
          </a:xfrm>
        </p:grpSpPr>
        <p:sp>
          <p:nvSpPr>
            <p:cNvPr name="Freeform 10" id="10"/>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4"/>
              <a:stretch>
                <a:fillRect l="0" t="0" r="3" b="3"/>
              </a:stretch>
            </a:blipFill>
          </p:spPr>
        </p:sp>
      </p:grpSp>
      <p:sp>
        <p:nvSpPr>
          <p:cNvPr name="Freeform 11" id="11"/>
          <p:cNvSpPr/>
          <p:nvPr/>
        </p:nvSpPr>
        <p:spPr>
          <a:xfrm flipH="false" flipV="false" rot="0">
            <a:off x="179619" y="458448"/>
            <a:ext cx="17939453" cy="9373364"/>
          </a:xfrm>
          <a:custGeom>
            <a:avLst/>
            <a:gdLst/>
            <a:ahLst/>
            <a:cxnLst/>
            <a:rect r="r" b="b" t="t" l="l"/>
            <a:pathLst>
              <a:path h="9373364" w="17939453">
                <a:moveTo>
                  <a:pt x="0" y="0"/>
                </a:moveTo>
                <a:lnTo>
                  <a:pt x="17939454" y="0"/>
                </a:lnTo>
                <a:lnTo>
                  <a:pt x="17939454" y="9373365"/>
                </a:lnTo>
                <a:lnTo>
                  <a:pt x="0" y="9373365"/>
                </a:lnTo>
                <a:lnTo>
                  <a:pt x="0" y="0"/>
                </a:lnTo>
                <a:close/>
              </a:path>
            </a:pathLst>
          </a:custGeom>
          <a:blipFill>
            <a:blip r:embed="rId5"/>
            <a:stretch>
              <a:fillRect l="0" t="0" r="0" b="0"/>
            </a:stretch>
          </a:blipFill>
        </p:spPr>
      </p:sp>
      <p:sp>
        <p:nvSpPr>
          <p:cNvPr name="TextBox 12" id="12"/>
          <p:cNvSpPr txBox="true"/>
          <p:nvPr/>
        </p:nvSpPr>
        <p:spPr>
          <a:xfrm rot="0">
            <a:off x="15519859" y="1038225"/>
            <a:ext cx="1739441" cy="3276600"/>
          </a:xfrm>
          <a:prstGeom prst="rect">
            <a:avLst/>
          </a:prstGeom>
        </p:spPr>
        <p:txBody>
          <a:bodyPr anchor="t" rtlCol="false" tIns="0" lIns="0" bIns="0" rIns="0">
            <a:spAutoFit/>
          </a:bodyPr>
          <a:lstStyle/>
          <a:p>
            <a:pPr algn="ctr">
              <a:lnSpc>
                <a:spcPts val="5192"/>
              </a:lnSpc>
              <a:spcBef>
                <a:spcPct val="0"/>
              </a:spcBef>
            </a:pPr>
            <a:r>
              <a:rPr lang="en-US" sz="4327" spc="0">
                <a:solidFill>
                  <a:srgbClr val="000000"/>
                </a:solidFill>
                <a:latin typeface="Anton"/>
                <a:ea typeface="Anton"/>
                <a:cs typeface="Anton"/>
                <a:sym typeface="Anton"/>
              </a:rPr>
              <a:t>host system architecture design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sp>
        <p:nvSpPr>
          <p:cNvPr name="Freeform 6" id="6"/>
          <p:cNvSpPr/>
          <p:nvPr/>
        </p:nvSpPr>
        <p:spPr>
          <a:xfrm flipH="false" flipV="false" rot="0">
            <a:off x="1417718" y="4304654"/>
            <a:ext cx="4015174" cy="5240138"/>
          </a:xfrm>
          <a:custGeom>
            <a:avLst/>
            <a:gdLst/>
            <a:ahLst/>
            <a:cxnLst/>
            <a:rect r="r" b="b" t="t" l="l"/>
            <a:pathLst>
              <a:path h="5240138" w="4015174">
                <a:moveTo>
                  <a:pt x="0" y="0"/>
                </a:moveTo>
                <a:lnTo>
                  <a:pt x="4015174" y="0"/>
                </a:lnTo>
                <a:lnTo>
                  <a:pt x="4015174" y="5240138"/>
                </a:lnTo>
                <a:lnTo>
                  <a:pt x="0" y="52401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387404" y="4304654"/>
            <a:ext cx="4015174" cy="5240138"/>
          </a:xfrm>
          <a:custGeom>
            <a:avLst/>
            <a:gdLst/>
            <a:ahLst/>
            <a:cxnLst/>
            <a:rect r="r" b="b" t="t" l="l"/>
            <a:pathLst>
              <a:path h="5240138" w="4015174">
                <a:moveTo>
                  <a:pt x="0" y="0"/>
                </a:moveTo>
                <a:lnTo>
                  <a:pt x="4015174" y="0"/>
                </a:lnTo>
                <a:lnTo>
                  <a:pt x="4015174" y="5240138"/>
                </a:lnTo>
                <a:lnTo>
                  <a:pt x="0" y="52401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511899" y="4304654"/>
            <a:ext cx="4044368" cy="5278238"/>
          </a:xfrm>
          <a:custGeom>
            <a:avLst/>
            <a:gdLst/>
            <a:ahLst/>
            <a:cxnLst/>
            <a:rect r="r" b="b" t="t" l="l"/>
            <a:pathLst>
              <a:path h="5278238" w="4044368">
                <a:moveTo>
                  <a:pt x="0" y="0"/>
                </a:moveTo>
                <a:lnTo>
                  <a:pt x="4044368" y="0"/>
                </a:lnTo>
                <a:lnTo>
                  <a:pt x="4044368" y="5278238"/>
                </a:lnTo>
                <a:lnTo>
                  <a:pt x="0" y="52782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 y="4412114"/>
            <a:ext cx="18432661" cy="239049"/>
          </a:xfrm>
          <a:custGeom>
            <a:avLst/>
            <a:gdLst/>
            <a:ahLst/>
            <a:cxnLst/>
            <a:rect r="r" b="b" t="t" l="l"/>
            <a:pathLst>
              <a:path h="239049" w="18432661">
                <a:moveTo>
                  <a:pt x="0" y="0"/>
                </a:moveTo>
                <a:lnTo>
                  <a:pt x="18432661" y="0"/>
                </a:lnTo>
                <a:lnTo>
                  <a:pt x="18432661" y="239048"/>
                </a:lnTo>
                <a:lnTo>
                  <a:pt x="0" y="2390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17718" y="292552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550935" y="2916044"/>
            <a:ext cx="1329861" cy="1329861"/>
          </a:xfrm>
          <a:custGeom>
            <a:avLst/>
            <a:gdLst/>
            <a:ahLst/>
            <a:cxnLst/>
            <a:rect r="r" b="b" t="t" l="l"/>
            <a:pathLst>
              <a:path h="1329861" w="1329861">
                <a:moveTo>
                  <a:pt x="0" y="0"/>
                </a:moveTo>
                <a:lnTo>
                  <a:pt x="1329862" y="0"/>
                </a:lnTo>
                <a:lnTo>
                  <a:pt x="1329862" y="1329862"/>
                </a:lnTo>
                <a:lnTo>
                  <a:pt x="0" y="13298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1524066" y="2908118"/>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867544" y="3385027"/>
            <a:ext cx="430207" cy="410848"/>
          </a:xfrm>
          <a:custGeom>
            <a:avLst/>
            <a:gdLst/>
            <a:ahLst/>
            <a:cxnLst/>
            <a:rect r="r" b="b" t="t" l="l"/>
            <a:pathLst>
              <a:path h="410848" w="430207">
                <a:moveTo>
                  <a:pt x="0" y="0"/>
                </a:moveTo>
                <a:lnTo>
                  <a:pt x="430207" y="0"/>
                </a:lnTo>
                <a:lnTo>
                  <a:pt x="430207" y="410848"/>
                </a:lnTo>
                <a:lnTo>
                  <a:pt x="0" y="410848"/>
                </a:lnTo>
                <a:lnTo>
                  <a:pt x="0" y="0"/>
                </a:lnTo>
                <a:close/>
              </a:path>
            </a:pathLst>
          </a:custGeom>
          <a:blipFill>
            <a:blip r:embed="rId12">
              <a:extLst>
                <a:ext uri="{96DAC541-7B7A-43D3-8B79-37D633B846F1}">
                  <asvg:svgBlip xmlns:asvg="http://schemas.microsoft.com/office/drawing/2016/SVG/main" r:embed="rId13"/>
                </a:ext>
              </a:extLst>
            </a:blip>
            <a:stretch>
              <a:fillRect l="0" t="-79" r="0" b="-79"/>
            </a:stretch>
          </a:blipFill>
        </p:spPr>
      </p:sp>
      <p:sp>
        <p:nvSpPr>
          <p:cNvPr name="Freeform 14" id="14"/>
          <p:cNvSpPr/>
          <p:nvPr/>
        </p:nvSpPr>
        <p:spPr>
          <a:xfrm flipH="false" flipV="false" rot="0">
            <a:off x="6989112" y="3321830"/>
            <a:ext cx="453505" cy="518292"/>
          </a:xfrm>
          <a:custGeom>
            <a:avLst/>
            <a:gdLst/>
            <a:ahLst/>
            <a:cxnLst/>
            <a:rect r="r" b="b" t="t" l="l"/>
            <a:pathLst>
              <a:path h="518292" w="453505">
                <a:moveTo>
                  <a:pt x="0" y="0"/>
                </a:moveTo>
                <a:lnTo>
                  <a:pt x="453505" y="0"/>
                </a:lnTo>
                <a:lnTo>
                  <a:pt x="453505" y="518292"/>
                </a:lnTo>
                <a:lnTo>
                  <a:pt x="0" y="518292"/>
                </a:lnTo>
                <a:lnTo>
                  <a:pt x="0" y="0"/>
                </a:lnTo>
                <a:close/>
              </a:path>
            </a:pathLst>
          </a:custGeom>
          <a:blipFill>
            <a:blip r:embed="rId14">
              <a:extLst>
                <a:ext uri="{96DAC541-7B7A-43D3-8B79-37D633B846F1}">
                  <asvg:svgBlip xmlns:asvg="http://schemas.microsoft.com/office/drawing/2016/SVG/main" r:embed="rId15"/>
                </a:ext>
              </a:extLst>
            </a:blip>
            <a:stretch>
              <a:fillRect l="0" t="-1041" r="0" b="-1041"/>
            </a:stretch>
          </a:blipFill>
        </p:spPr>
      </p:sp>
      <p:sp>
        <p:nvSpPr>
          <p:cNvPr name="Freeform 15" id="15"/>
          <p:cNvSpPr/>
          <p:nvPr/>
        </p:nvSpPr>
        <p:spPr>
          <a:xfrm flipH="false" flipV="false" rot="0">
            <a:off x="11928459" y="3349638"/>
            <a:ext cx="521075" cy="446821"/>
          </a:xfrm>
          <a:custGeom>
            <a:avLst/>
            <a:gdLst/>
            <a:ahLst/>
            <a:cxnLst/>
            <a:rect r="r" b="b" t="t" l="l"/>
            <a:pathLst>
              <a:path h="446821" w="521075">
                <a:moveTo>
                  <a:pt x="0" y="0"/>
                </a:moveTo>
                <a:lnTo>
                  <a:pt x="521075" y="0"/>
                </a:lnTo>
                <a:lnTo>
                  <a:pt x="521075" y="446821"/>
                </a:lnTo>
                <a:lnTo>
                  <a:pt x="0" y="446821"/>
                </a:lnTo>
                <a:lnTo>
                  <a:pt x="0" y="0"/>
                </a:lnTo>
                <a:close/>
              </a:path>
            </a:pathLst>
          </a:custGeom>
          <a:blipFill>
            <a:blip r:embed="rId16">
              <a:extLst>
                <a:ext uri="{96DAC541-7B7A-43D3-8B79-37D633B846F1}">
                  <asvg:svgBlip xmlns:asvg="http://schemas.microsoft.com/office/drawing/2016/SVG/main" r:embed="rId17"/>
                </a:ext>
              </a:extLst>
            </a:blip>
            <a:stretch>
              <a:fillRect l="0" t="-887" r="0" b="-887"/>
            </a:stretch>
          </a:blipFill>
        </p:spPr>
      </p:sp>
      <p:sp>
        <p:nvSpPr>
          <p:cNvPr name="TextBox 16" id="16"/>
          <p:cNvSpPr txBox="true"/>
          <p:nvPr/>
        </p:nvSpPr>
        <p:spPr>
          <a:xfrm rot="0">
            <a:off x="1610802" y="5303943"/>
            <a:ext cx="3483532" cy="3268980"/>
          </a:xfrm>
          <a:prstGeom prst="rect">
            <a:avLst/>
          </a:prstGeom>
        </p:spPr>
        <p:txBody>
          <a:bodyPr anchor="t" rtlCol="false" tIns="0" lIns="0" bIns="0" rIns="0">
            <a:spAutoFit/>
          </a:bodyPr>
          <a:lstStyle/>
          <a:p>
            <a:pPr algn="l">
              <a:lnSpc>
                <a:spcPts val="3299"/>
              </a:lnSpc>
            </a:pPr>
            <a:r>
              <a:rPr lang="en-US" sz="2199">
                <a:solidFill>
                  <a:srgbClr val="404040"/>
                </a:solidFill>
                <a:latin typeface="Times New Roman"/>
                <a:ea typeface="Times New Roman"/>
                <a:cs typeface="Times New Roman"/>
                <a:sym typeface="Times New Roman"/>
              </a:rPr>
              <a:t>We have defined clear task stages, including EXPLORE, GO_TO_EXIT, RETURN_HOME, etc.</a:t>
            </a:r>
          </a:p>
          <a:p>
            <a:pPr algn="l">
              <a:lnSpc>
                <a:spcPts val="3299"/>
              </a:lnSpc>
            </a:pPr>
            <a:r>
              <a:rPr lang="en-US" sz="2199">
                <a:solidFill>
                  <a:srgbClr val="404040"/>
                </a:solidFill>
                <a:latin typeface="Times New Roman"/>
                <a:ea typeface="Times New Roman"/>
                <a:cs typeface="Times New Roman"/>
                <a:sym typeface="Times New Roman"/>
              </a:rPr>
              <a:t>This is the "chief commander" of the system, ensuring that the car performs the correct macro tasks at the right time.</a:t>
            </a:r>
          </a:p>
        </p:txBody>
      </p:sp>
      <p:sp>
        <p:nvSpPr>
          <p:cNvPr name="TextBox 17" id="17"/>
          <p:cNvSpPr txBox="true"/>
          <p:nvPr/>
        </p:nvSpPr>
        <p:spPr>
          <a:xfrm rot="0">
            <a:off x="6550935" y="5552391"/>
            <a:ext cx="3654447" cy="2962275"/>
          </a:xfrm>
          <a:prstGeom prst="rect">
            <a:avLst/>
          </a:prstGeom>
        </p:spPr>
        <p:txBody>
          <a:bodyPr anchor="t" rtlCol="false" tIns="0" lIns="0" bIns="0" rIns="0">
            <a:spAutoFit/>
          </a:bodyPr>
          <a:lstStyle/>
          <a:p>
            <a:pPr algn="l">
              <a:lnSpc>
                <a:spcPts val="2999"/>
              </a:lnSpc>
            </a:pPr>
            <a:r>
              <a:rPr lang="en-US" sz="1999">
                <a:solidFill>
                  <a:srgbClr val="404040"/>
                </a:solidFill>
                <a:latin typeface="Times New Roman"/>
                <a:ea typeface="Times New Roman"/>
                <a:cs typeface="Times New Roman"/>
                <a:sym typeface="Times New Roman"/>
              </a:rPr>
              <a:t>OptimizedFrontierExplorer : Selects the best frontier point using a funnel-based algorithm considering connectivity and goal direction.</a:t>
            </a:r>
          </a:p>
          <a:p>
            <a:pPr algn="l">
              <a:lnSpc>
                <a:spcPts val="2999"/>
              </a:lnSpc>
            </a:pPr>
            <a:r>
              <a:rPr lang="en-US" sz="1999">
                <a:solidFill>
                  <a:srgbClr val="404040"/>
                </a:solidFill>
                <a:latin typeface="Times New Roman"/>
                <a:ea typeface="Times New Roman"/>
                <a:cs typeface="Times New Roman"/>
                <a:sym typeface="Times New Roman"/>
              </a:rPr>
              <a:t>GlobalPathPlanner: Uses the A* algorithm to compute the shortest pixel-level route to the target.</a:t>
            </a:r>
          </a:p>
        </p:txBody>
      </p:sp>
      <p:sp>
        <p:nvSpPr>
          <p:cNvPr name="TextBox 18" id="18"/>
          <p:cNvSpPr txBox="true"/>
          <p:nvPr/>
        </p:nvSpPr>
        <p:spPr>
          <a:xfrm rot="0">
            <a:off x="11583801" y="5320665"/>
            <a:ext cx="3900564" cy="3937635"/>
          </a:xfrm>
          <a:prstGeom prst="rect">
            <a:avLst/>
          </a:prstGeom>
        </p:spPr>
        <p:txBody>
          <a:bodyPr anchor="t" rtlCol="false" tIns="0" lIns="0" bIns="0" rIns="0">
            <a:spAutoFit/>
          </a:bodyPr>
          <a:lstStyle/>
          <a:p>
            <a:pPr algn="l">
              <a:lnSpc>
                <a:spcPts val="2850"/>
              </a:lnSpc>
            </a:pPr>
            <a:r>
              <a:rPr lang="en-US" sz="1900">
                <a:solidFill>
                  <a:srgbClr val="404040"/>
                </a:solidFill>
                <a:latin typeface="Times New Roman"/>
                <a:ea typeface="Times New Roman"/>
                <a:cs typeface="Times New Roman"/>
                <a:sym typeface="Times New Roman"/>
              </a:rPr>
              <a:t>MapRectifier: Identify the effective boundaries of the maze to prevent wasting time outside of it.</a:t>
            </a:r>
          </a:p>
          <a:p>
            <a:pPr algn="l">
              <a:lnSpc>
                <a:spcPts val="2850"/>
              </a:lnSpc>
            </a:pPr>
            <a:r>
              <a:rPr lang="en-US" sz="1900">
                <a:solidFill>
                  <a:srgbClr val="404040"/>
                </a:solidFill>
                <a:latin typeface="Times New Roman"/>
                <a:ea typeface="Times New Roman"/>
                <a:cs typeface="Times New Roman"/>
                <a:sym typeface="Times New Roman"/>
              </a:rPr>
              <a:t>Obstacle Inflation: Inflate all obstacles to ensure that all planned paths maintain a safe distance from the walls.</a:t>
            </a:r>
          </a:p>
          <a:p>
            <a:pPr algn="l">
              <a:lnSpc>
                <a:spcPts val="2849"/>
              </a:lnSpc>
            </a:pPr>
            <a:r>
              <a:rPr lang="en-US" sz="1899">
                <a:solidFill>
                  <a:srgbClr val="404040"/>
                </a:solidFill>
                <a:latin typeface="Times New Roman"/>
                <a:ea typeface="Times New Roman"/>
                <a:cs typeface="Times New Roman"/>
                <a:sym typeface="Times New Roman"/>
              </a:rPr>
              <a:t>waypoint_to_turn_and_go: Finally, the system decomposes the complex A* path into specific action instructions and hands them over to the underlying hardware for execution.</a:t>
            </a:r>
          </a:p>
        </p:txBody>
      </p:sp>
      <p:sp>
        <p:nvSpPr>
          <p:cNvPr name="TextBox 19" id="19"/>
          <p:cNvSpPr txBox="true"/>
          <p:nvPr/>
        </p:nvSpPr>
        <p:spPr>
          <a:xfrm rot="0">
            <a:off x="2925245" y="3114250"/>
            <a:ext cx="1074299" cy="923925"/>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01</a:t>
            </a:r>
          </a:p>
        </p:txBody>
      </p:sp>
      <p:sp>
        <p:nvSpPr>
          <p:cNvPr name="TextBox 20" id="20"/>
          <p:cNvSpPr txBox="true"/>
          <p:nvPr/>
        </p:nvSpPr>
        <p:spPr>
          <a:xfrm rot="0">
            <a:off x="8058462" y="3104775"/>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02</a:t>
            </a:r>
          </a:p>
        </p:txBody>
      </p:sp>
      <p:sp>
        <p:nvSpPr>
          <p:cNvPr name="TextBox 21" id="21"/>
          <p:cNvSpPr txBox="true"/>
          <p:nvPr/>
        </p:nvSpPr>
        <p:spPr>
          <a:xfrm rot="0">
            <a:off x="13034902" y="311637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03</a:t>
            </a:r>
          </a:p>
        </p:txBody>
      </p:sp>
      <p:sp>
        <p:nvSpPr>
          <p:cNvPr name="TextBox 22" id="22"/>
          <p:cNvSpPr txBox="true"/>
          <p:nvPr/>
        </p:nvSpPr>
        <p:spPr>
          <a:xfrm rot="0">
            <a:off x="1610802" y="4727363"/>
            <a:ext cx="3242902" cy="500380"/>
          </a:xfrm>
          <a:prstGeom prst="rect">
            <a:avLst/>
          </a:prstGeom>
        </p:spPr>
        <p:txBody>
          <a:bodyPr anchor="t" rtlCol="false" tIns="0" lIns="0" bIns="0" rIns="0">
            <a:spAutoFit/>
          </a:bodyPr>
          <a:lstStyle/>
          <a:p>
            <a:pPr algn="l">
              <a:lnSpc>
                <a:spcPts val="3919"/>
              </a:lnSpc>
            </a:pPr>
            <a:r>
              <a:rPr lang="en-US" b="true" sz="2799" spc="278">
                <a:solidFill>
                  <a:srgbClr val="404040"/>
                </a:solidFill>
                <a:latin typeface="Times New Roman Bold"/>
                <a:ea typeface="Times New Roman Bold"/>
                <a:cs typeface="Times New Roman Bold"/>
                <a:sym typeface="Times New Roman Bold"/>
              </a:rPr>
              <a:t>State Machine</a:t>
            </a:r>
          </a:p>
        </p:txBody>
      </p:sp>
      <p:sp>
        <p:nvSpPr>
          <p:cNvPr name="TextBox 23" id="23"/>
          <p:cNvSpPr txBox="true"/>
          <p:nvPr/>
        </p:nvSpPr>
        <p:spPr>
          <a:xfrm rot="0">
            <a:off x="6380003" y="4769908"/>
            <a:ext cx="3996312" cy="457835"/>
          </a:xfrm>
          <a:prstGeom prst="rect">
            <a:avLst/>
          </a:prstGeom>
        </p:spPr>
        <p:txBody>
          <a:bodyPr anchor="t" rtlCol="false" tIns="0" lIns="0" bIns="0" rIns="0">
            <a:spAutoFit/>
          </a:bodyPr>
          <a:lstStyle/>
          <a:p>
            <a:pPr algn="ctr">
              <a:lnSpc>
                <a:spcPts val="3640"/>
              </a:lnSpc>
            </a:pPr>
            <a:r>
              <a:rPr lang="en-US" b="true" sz="2600" spc="259">
                <a:solidFill>
                  <a:srgbClr val="404040"/>
                </a:solidFill>
                <a:latin typeface="Times New Roman Bold"/>
                <a:ea typeface="Times New Roman Bold"/>
                <a:cs typeface="Times New Roman Bold"/>
                <a:sym typeface="Times New Roman Bold"/>
              </a:rPr>
              <a:t>Decision &amp; Planning</a:t>
            </a:r>
          </a:p>
        </p:txBody>
      </p:sp>
      <p:sp>
        <p:nvSpPr>
          <p:cNvPr name="TextBox 24" id="24"/>
          <p:cNvSpPr txBox="true"/>
          <p:nvPr/>
        </p:nvSpPr>
        <p:spPr>
          <a:xfrm rot="0">
            <a:off x="11345553" y="4769908"/>
            <a:ext cx="4234082" cy="457835"/>
          </a:xfrm>
          <a:prstGeom prst="rect">
            <a:avLst/>
          </a:prstGeom>
        </p:spPr>
        <p:txBody>
          <a:bodyPr anchor="t" rtlCol="false" tIns="0" lIns="0" bIns="0" rIns="0">
            <a:spAutoFit/>
          </a:bodyPr>
          <a:lstStyle/>
          <a:p>
            <a:pPr algn="ctr">
              <a:lnSpc>
                <a:spcPts val="3640"/>
              </a:lnSpc>
            </a:pPr>
            <a:r>
              <a:rPr lang="en-US" b="true" sz="2600" spc="259">
                <a:solidFill>
                  <a:srgbClr val="404040"/>
                </a:solidFill>
                <a:latin typeface="Times New Roman Bold"/>
                <a:ea typeface="Times New Roman Bold"/>
                <a:cs typeface="Times New Roman Bold"/>
                <a:sym typeface="Times New Roman Bold"/>
              </a:rPr>
              <a:t> Safety &amp; Execution</a:t>
            </a:r>
          </a:p>
        </p:txBody>
      </p:sp>
      <p:sp>
        <p:nvSpPr>
          <p:cNvPr name="TextBox 25" id="25"/>
          <p:cNvSpPr txBox="true"/>
          <p:nvPr/>
        </p:nvSpPr>
        <p:spPr>
          <a:xfrm rot="0">
            <a:off x="2214880" y="483235"/>
            <a:ext cx="6459706"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Software part</a:t>
            </a:r>
          </a:p>
        </p:txBody>
      </p:sp>
      <p:grpSp>
        <p:nvGrpSpPr>
          <p:cNvPr name="Group 26" id="26"/>
          <p:cNvGrpSpPr/>
          <p:nvPr/>
        </p:nvGrpSpPr>
        <p:grpSpPr>
          <a:xfrm rot="0">
            <a:off x="731520" y="419100"/>
            <a:ext cx="1000760" cy="1000760"/>
            <a:chOff x="0" y="0"/>
            <a:chExt cx="1334347" cy="1334347"/>
          </a:xfrm>
        </p:grpSpPr>
        <p:sp>
          <p:nvSpPr>
            <p:cNvPr name="Freeform 27" id="2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8"/>
              <a:stretch>
                <a:fillRect l="0" t="0" r="3" b="3"/>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9251414" y="1000125"/>
            <a:ext cx="9279989" cy="19050"/>
            <a:chOff x="0" y="0"/>
            <a:chExt cx="12373319" cy="25400"/>
          </a:xfrm>
        </p:grpSpPr>
        <p:sp>
          <p:nvSpPr>
            <p:cNvPr name="Freeform 7" id="7"/>
            <p:cNvSpPr/>
            <p:nvPr/>
          </p:nvSpPr>
          <p:spPr>
            <a:xfrm flipH="false" flipV="false" rot="0">
              <a:off x="12700" y="0"/>
              <a:ext cx="12347956" cy="25400"/>
            </a:xfrm>
            <a:custGeom>
              <a:avLst/>
              <a:gdLst/>
              <a:ahLst/>
              <a:cxnLst/>
              <a:rect r="r" b="b" t="t" l="l"/>
              <a:pathLst>
                <a:path h="25400" w="12347956">
                  <a:moveTo>
                    <a:pt x="279400" y="0"/>
                  </a:moveTo>
                  <a:lnTo>
                    <a:pt x="482600" y="0"/>
                  </a:lnTo>
                  <a:lnTo>
                    <a:pt x="482600" y="25400"/>
                  </a:lnTo>
                  <a:lnTo>
                    <a:pt x="279400" y="25400"/>
                  </a:lnTo>
                  <a:close/>
                  <a:moveTo>
                    <a:pt x="558800" y="0"/>
                  </a:moveTo>
                  <a:lnTo>
                    <a:pt x="762000" y="0"/>
                  </a:lnTo>
                  <a:lnTo>
                    <a:pt x="762000" y="25400"/>
                  </a:lnTo>
                  <a:lnTo>
                    <a:pt x="558800" y="25400"/>
                  </a:lnTo>
                  <a:close/>
                  <a:moveTo>
                    <a:pt x="838200" y="0"/>
                  </a:moveTo>
                  <a:lnTo>
                    <a:pt x="1041400" y="0"/>
                  </a:lnTo>
                  <a:lnTo>
                    <a:pt x="1041400" y="25400"/>
                  </a:lnTo>
                  <a:lnTo>
                    <a:pt x="838200" y="25400"/>
                  </a:lnTo>
                  <a:close/>
                  <a:moveTo>
                    <a:pt x="1117600" y="0"/>
                  </a:moveTo>
                  <a:lnTo>
                    <a:pt x="1320800" y="0"/>
                  </a:lnTo>
                  <a:lnTo>
                    <a:pt x="1320800" y="25400"/>
                  </a:lnTo>
                  <a:lnTo>
                    <a:pt x="1117600" y="25400"/>
                  </a:lnTo>
                  <a:close/>
                  <a:moveTo>
                    <a:pt x="1397000" y="25400"/>
                  </a:moveTo>
                  <a:lnTo>
                    <a:pt x="1600200" y="25400"/>
                  </a:lnTo>
                  <a:lnTo>
                    <a:pt x="1397000" y="25400"/>
                  </a:lnTo>
                  <a:close/>
                  <a:moveTo>
                    <a:pt x="1676400" y="25400"/>
                  </a:moveTo>
                  <a:lnTo>
                    <a:pt x="1879600" y="25400"/>
                  </a:lnTo>
                  <a:lnTo>
                    <a:pt x="1676400" y="25400"/>
                  </a:lnTo>
                  <a:close/>
                  <a:moveTo>
                    <a:pt x="1955800" y="25400"/>
                  </a:moveTo>
                  <a:lnTo>
                    <a:pt x="2159000" y="25400"/>
                  </a:lnTo>
                  <a:lnTo>
                    <a:pt x="1955800" y="25400"/>
                  </a:lnTo>
                  <a:close/>
                  <a:moveTo>
                    <a:pt x="2235200" y="25400"/>
                  </a:moveTo>
                  <a:lnTo>
                    <a:pt x="2438400" y="25400"/>
                  </a:lnTo>
                  <a:lnTo>
                    <a:pt x="2235200" y="25400"/>
                  </a:lnTo>
                  <a:close/>
                  <a:moveTo>
                    <a:pt x="2514600" y="25400"/>
                  </a:moveTo>
                  <a:lnTo>
                    <a:pt x="2717800" y="25400"/>
                  </a:lnTo>
                  <a:lnTo>
                    <a:pt x="2514600" y="25400"/>
                  </a:lnTo>
                  <a:close/>
                  <a:moveTo>
                    <a:pt x="2794000" y="25400"/>
                  </a:moveTo>
                  <a:lnTo>
                    <a:pt x="2997200" y="25400"/>
                  </a:lnTo>
                  <a:lnTo>
                    <a:pt x="2794000" y="25400"/>
                  </a:lnTo>
                  <a:close/>
                  <a:moveTo>
                    <a:pt x="3073400" y="25400"/>
                  </a:moveTo>
                  <a:lnTo>
                    <a:pt x="3276600" y="25400"/>
                  </a:lnTo>
                  <a:lnTo>
                    <a:pt x="3073400" y="25400"/>
                  </a:lnTo>
                  <a:close/>
                  <a:moveTo>
                    <a:pt x="3352800" y="25400"/>
                  </a:moveTo>
                  <a:lnTo>
                    <a:pt x="3556000" y="25400"/>
                  </a:lnTo>
                  <a:lnTo>
                    <a:pt x="3352800" y="25400"/>
                  </a:lnTo>
                  <a:close/>
                  <a:moveTo>
                    <a:pt x="3632200" y="25400"/>
                  </a:moveTo>
                  <a:lnTo>
                    <a:pt x="3835400" y="25400"/>
                  </a:lnTo>
                  <a:lnTo>
                    <a:pt x="3632200" y="25400"/>
                  </a:lnTo>
                  <a:close/>
                  <a:moveTo>
                    <a:pt x="3911600" y="25400"/>
                  </a:moveTo>
                  <a:lnTo>
                    <a:pt x="4114800" y="25400"/>
                  </a:lnTo>
                  <a:lnTo>
                    <a:pt x="3911600" y="25400"/>
                  </a:lnTo>
                  <a:close/>
                  <a:moveTo>
                    <a:pt x="4191000" y="25400"/>
                  </a:moveTo>
                  <a:lnTo>
                    <a:pt x="4394200" y="25400"/>
                  </a:lnTo>
                  <a:lnTo>
                    <a:pt x="4191000" y="25400"/>
                  </a:lnTo>
                  <a:close/>
                  <a:moveTo>
                    <a:pt x="4470400" y="25400"/>
                  </a:moveTo>
                  <a:lnTo>
                    <a:pt x="4673600" y="25400"/>
                  </a:lnTo>
                  <a:lnTo>
                    <a:pt x="4470400" y="25400"/>
                  </a:lnTo>
                  <a:close/>
                  <a:moveTo>
                    <a:pt x="4749800" y="25400"/>
                  </a:moveTo>
                  <a:lnTo>
                    <a:pt x="4953000" y="25400"/>
                  </a:lnTo>
                  <a:lnTo>
                    <a:pt x="4749800" y="25400"/>
                  </a:lnTo>
                  <a:close/>
                  <a:moveTo>
                    <a:pt x="5029200" y="25400"/>
                  </a:moveTo>
                  <a:lnTo>
                    <a:pt x="5232400" y="25400"/>
                  </a:lnTo>
                  <a:lnTo>
                    <a:pt x="5029200" y="25400"/>
                  </a:lnTo>
                  <a:close/>
                  <a:moveTo>
                    <a:pt x="5308600" y="25400"/>
                  </a:moveTo>
                  <a:lnTo>
                    <a:pt x="5511800" y="25400"/>
                  </a:lnTo>
                  <a:lnTo>
                    <a:pt x="5308600" y="25400"/>
                  </a:lnTo>
                  <a:close/>
                  <a:moveTo>
                    <a:pt x="5588000" y="25400"/>
                  </a:moveTo>
                  <a:lnTo>
                    <a:pt x="5791200" y="25400"/>
                  </a:lnTo>
                  <a:lnTo>
                    <a:pt x="5588000" y="25400"/>
                  </a:lnTo>
                  <a:close/>
                  <a:moveTo>
                    <a:pt x="5867400" y="25400"/>
                  </a:moveTo>
                  <a:lnTo>
                    <a:pt x="6070600" y="25400"/>
                  </a:lnTo>
                  <a:lnTo>
                    <a:pt x="5867400" y="25400"/>
                  </a:lnTo>
                  <a:close/>
                  <a:moveTo>
                    <a:pt x="6146800" y="25400"/>
                  </a:moveTo>
                  <a:lnTo>
                    <a:pt x="6350000" y="25400"/>
                  </a:lnTo>
                  <a:lnTo>
                    <a:pt x="6146800" y="25400"/>
                  </a:lnTo>
                  <a:close/>
                  <a:moveTo>
                    <a:pt x="6426200" y="25400"/>
                  </a:moveTo>
                  <a:lnTo>
                    <a:pt x="6629400" y="25400"/>
                  </a:lnTo>
                  <a:lnTo>
                    <a:pt x="6426200" y="25400"/>
                  </a:lnTo>
                  <a:close/>
                  <a:moveTo>
                    <a:pt x="6705600" y="25400"/>
                  </a:moveTo>
                  <a:lnTo>
                    <a:pt x="6908800" y="25400"/>
                  </a:lnTo>
                  <a:lnTo>
                    <a:pt x="6705600" y="25400"/>
                  </a:lnTo>
                  <a:close/>
                  <a:moveTo>
                    <a:pt x="6985000" y="25400"/>
                  </a:moveTo>
                  <a:lnTo>
                    <a:pt x="7188200" y="25400"/>
                  </a:lnTo>
                  <a:lnTo>
                    <a:pt x="6985000" y="25400"/>
                  </a:lnTo>
                  <a:close/>
                  <a:moveTo>
                    <a:pt x="7264400" y="25400"/>
                  </a:moveTo>
                  <a:lnTo>
                    <a:pt x="7467600" y="25400"/>
                  </a:lnTo>
                  <a:lnTo>
                    <a:pt x="7264400" y="25400"/>
                  </a:lnTo>
                  <a:close/>
                  <a:moveTo>
                    <a:pt x="7543800" y="25400"/>
                  </a:moveTo>
                  <a:lnTo>
                    <a:pt x="7747000" y="25400"/>
                  </a:lnTo>
                  <a:lnTo>
                    <a:pt x="7543800" y="25400"/>
                  </a:lnTo>
                  <a:close/>
                  <a:moveTo>
                    <a:pt x="7823200" y="25400"/>
                  </a:moveTo>
                  <a:lnTo>
                    <a:pt x="8026400" y="25400"/>
                  </a:lnTo>
                  <a:lnTo>
                    <a:pt x="7823200" y="25400"/>
                  </a:lnTo>
                  <a:close/>
                  <a:moveTo>
                    <a:pt x="8102600" y="25400"/>
                  </a:moveTo>
                  <a:lnTo>
                    <a:pt x="8305800" y="25400"/>
                  </a:lnTo>
                  <a:lnTo>
                    <a:pt x="8102600" y="25400"/>
                  </a:lnTo>
                  <a:close/>
                  <a:moveTo>
                    <a:pt x="8382000" y="25400"/>
                  </a:moveTo>
                  <a:lnTo>
                    <a:pt x="8585200" y="25400"/>
                  </a:lnTo>
                  <a:lnTo>
                    <a:pt x="8382000" y="25400"/>
                  </a:lnTo>
                  <a:close/>
                  <a:moveTo>
                    <a:pt x="8661400" y="25400"/>
                  </a:moveTo>
                  <a:lnTo>
                    <a:pt x="8864600" y="25400"/>
                  </a:lnTo>
                  <a:lnTo>
                    <a:pt x="8661400" y="25400"/>
                  </a:lnTo>
                  <a:close/>
                  <a:moveTo>
                    <a:pt x="8940800" y="25400"/>
                  </a:moveTo>
                  <a:lnTo>
                    <a:pt x="9144000" y="25400"/>
                  </a:lnTo>
                  <a:lnTo>
                    <a:pt x="8940800" y="25400"/>
                  </a:lnTo>
                  <a:close/>
                  <a:moveTo>
                    <a:pt x="9220200" y="25400"/>
                  </a:moveTo>
                  <a:lnTo>
                    <a:pt x="9423400" y="25400"/>
                  </a:lnTo>
                  <a:lnTo>
                    <a:pt x="9220200" y="25400"/>
                  </a:lnTo>
                  <a:close/>
                  <a:moveTo>
                    <a:pt x="9499600" y="25400"/>
                  </a:moveTo>
                  <a:lnTo>
                    <a:pt x="9702800" y="25400"/>
                  </a:lnTo>
                  <a:lnTo>
                    <a:pt x="9499600" y="25400"/>
                  </a:lnTo>
                  <a:close/>
                  <a:moveTo>
                    <a:pt x="9779000" y="25400"/>
                  </a:moveTo>
                  <a:lnTo>
                    <a:pt x="9982200" y="25400"/>
                  </a:lnTo>
                  <a:lnTo>
                    <a:pt x="9779000" y="25400"/>
                  </a:lnTo>
                  <a:close/>
                  <a:moveTo>
                    <a:pt x="10058400" y="25400"/>
                  </a:moveTo>
                  <a:lnTo>
                    <a:pt x="10261600" y="25400"/>
                  </a:lnTo>
                  <a:lnTo>
                    <a:pt x="10058400" y="25400"/>
                  </a:lnTo>
                  <a:close/>
                  <a:moveTo>
                    <a:pt x="10337800" y="25400"/>
                  </a:moveTo>
                  <a:lnTo>
                    <a:pt x="10541000" y="25400"/>
                  </a:lnTo>
                  <a:lnTo>
                    <a:pt x="10337800" y="25400"/>
                  </a:lnTo>
                  <a:close/>
                  <a:moveTo>
                    <a:pt x="10617200" y="25400"/>
                  </a:moveTo>
                  <a:lnTo>
                    <a:pt x="10820400" y="25400"/>
                  </a:lnTo>
                  <a:lnTo>
                    <a:pt x="10617200" y="25400"/>
                  </a:lnTo>
                  <a:close/>
                  <a:moveTo>
                    <a:pt x="10896600" y="25400"/>
                  </a:moveTo>
                  <a:lnTo>
                    <a:pt x="11099800" y="25400"/>
                  </a:lnTo>
                  <a:lnTo>
                    <a:pt x="10896600" y="25400"/>
                  </a:lnTo>
                  <a:close/>
                  <a:moveTo>
                    <a:pt x="11176000" y="25400"/>
                  </a:moveTo>
                  <a:lnTo>
                    <a:pt x="11379200" y="25400"/>
                  </a:lnTo>
                  <a:lnTo>
                    <a:pt x="11176000" y="25400"/>
                  </a:lnTo>
                  <a:close/>
                  <a:moveTo>
                    <a:pt x="11455400" y="25400"/>
                  </a:moveTo>
                  <a:lnTo>
                    <a:pt x="11658600" y="25400"/>
                  </a:lnTo>
                  <a:lnTo>
                    <a:pt x="11455400" y="25400"/>
                  </a:lnTo>
                  <a:close/>
                  <a:moveTo>
                    <a:pt x="11734800" y="25400"/>
                  </a:moveTo>
                  <a:lnTo>
                    <a:pt x="11938000" y="25400"/>
                  </a:lnTo>
                  <a:lnTo>
                    <a:pt x="11734800" y="25400"/>
                  </a:lnTo>
                  <a:close/>
                  <a:moveTo>
                    <a:pt x="12014200" y="25400"/>
                  </a:moveTo>
                  <a:lnTo>
                    <a:pt x="12217400" y="25400"/>
                  </a:lnTo>
                  <a:lnTo>
                    <a:pt x="12014200" y="25400"/>
                  </a:lnTo>
                  <a:close/>
                  <a:moveTo>
                    <a:pt x="12293600" y="25400"/>
                  </a:moveTo>
                  <a:lnTo>
                    <a:pt x="12347956" y="25400"/>
                  </a:lnTo>
                  <a:lnTo>
                    <a:pt x="12293600" y="25400"/>
                  </a:lnTo>
                  <a:close/>
                  <a:moveTo>
                    <a:pt x="0" y="0"/>
                  </a:moveTo>
                  <a:lnTo>
                    <a:pt x="203200" y="0"/>
                  </a:lnTo>
                  <a:lnTo>
                    <a:pt x="203200" y="25400"/>
                  </a:lnTo>
                  <a:lnTo>
                    <a:pt x="0" y="25400"/>
                  </a:lnTo>
                  <a:close/>
                </a:path>
              </a:pathLst>
            </a:custGeom>
            <a:solidFill>
              <a:srgbClr val="FFFFFF"/>
            </a:solidFill>
          </p:spPr>
        </p:sp>
      </p:grpSp>
      <p:sp>
        <p:nvSpPr>
          <p:cNvPr name="Freeform 8" id="8"/>
          <p:cNvSpPr/>
          <p:nvPr/>
        </p:nvSpPr>
        <p:spPr>
          <a:xfrm flipH="false" flipV="false" rot="0">
            <a:off x="6619767" y="3057357"/>
            <a:ext cx="4915237" cy="4915237"/>
          </a:xfrm>
          <a:custGeom>
            <a:avLst/>
            <a:gdLst/>
            <a:ahLst/>
            <a:cxnLst/>
            <a:rect r="r" b="b" t="t" l="l"/>
            <a:pathLst>
              <a:path h="4915237" w="4915237">
                <a:moveTo>
                  <a:pt x="0" y="0"/>
                </a:moveTo>
                <a:lnTo>
                  <a:pt x="4915236" y="0"/>
                </a:lnTo>
                <a:lnTo>
                  <a:pt x="4915236" y="4915236"/>
                </a:lnTo>
                <a:lnTo>
                  <a:pt x="0" y="49152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7258767" y="3696357"/>
            <a:ext cx="3637236" cy="3637236"/>
          </a:xfrm>
          <a:custGeom>
            <a:avLst/>
            <a:gdLst/>
            <a:ahLst/>
            <a:cxnLst/>
            <a:rect r="r" b="b" t="t" l="l"/>
            <a:pathLst>
              <a:path h="3637236" w="3637236">
                <a:moveTo>
                  <a:pt x="0" y="0"/>
                </a:moveTo>
                <a:lnTo>
                  <a:pt x="3637236" y="0"/>
                </a:lnTo>
                <a:lnTo>
                  <a:pt x="3637236" y="3637236"/>
                </a:lnTo>
                <a:lnTo>
                  <a:pt x="0" y="3637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518578" y="3956168"/>
            <a:ext cx="3117613" cy="3117613"/>
          </a:xfrm>
          <a:custGeom>
            <a:avLst/>
            <a:gdLst/>
            <a:ahLst/>
            <a:cxnLst/>
            <a:rect r="r" b="b" t="t" l="l"/>
            <a:pathLst>
              <a:path h="3117613" w="3117613">
                <a:moveTo>
                  <a:pt x="0" y="0"/>
                </a:moveTo>
                <a:lnTo>
                  <a:pt x="3117613" y="0"/>
                </a:lnTo>
                <a:lnTo>
                  <a:pt x="3117613" y="3117613"/>
                </a:lnTo>
                <a:lnTo>
                  <a:pt x="0" y="31176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560721" y="3514274"/>
            <a:ext cx="1091087" cy="1091087"/>
          </a:xfrm>
          <a:custGeom>
            <a:avLst/>
            <a:gdLst/>
            <a:ahLst/>
            <a:cxnLst/>
            <a:rect r="r" b="b" t="t" l="l"/>
            <a:pathLst>
              <a:path h="1091087" w="1091087">
                <a:moveTo>
                  <a:pt x="0" y="0"/>
                </a:moveTo>
                <a:lnTo>
                  <a:pt x="1091087" y="0"/>
                </a:lnTo>
                <a:lnTo>
                  <a:pt x="1091087" y="1091087"/>
                </a:lnTo>
                <a:lnTo>
                  <a:pt x="0" y="10910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638659" y="3592212"/>
            <a:ext cx="935212" cy="935212"/>
          </a:xfrm>
          <a:custGeom>
            <a:avLst/>
            <a:gdLst/>
            <a:ahLst/>
            <a:cxnLst/>
            <a:rect r="r" b="b" t="t" l="l"/>
            <a:pathLst>
              <a:path h="935212" w="935212">
                <a:moveTo>
                  <a:pt x="0" y="0"/>
                </a:moveTo>
                <a:lnTo>
                  <a:pt x="935212" y="0"/>
                </a:lnTo>
                <a:lnTo>
                  <a:pt x="935212" y="935212"/>
                </a:lnTo>
                <a:lnTo>
                  <a:pt x="0" y="93521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6513096" y="6356253"/>
            <a:ext cx="1091087" cy="1091087"/>
          </a:xfrm>
          <a:custGeom>
            <a:avLst/>
            <a:gdLst/>
            <a:ahLst/>
            <a:cxnLst/>
            <a:rect r="r" b="b" t="t" l="l"/>
            <a:pathLst>
              <a:path h="1091087" w="1091087">
                <a:moveTo>
                  <a:pt x="0" y="0"/>
                </a:moveTo>
                <a:lnTo>
                  <a:pt x="1091087" y="0"/>
                </a:lnTo>
                <a:lnTo>
                  <a:pt x="1091087" y="1091087"/>
                </a:lnTo>
                <a:lnTo>
                  <a:pt x="0" y="10910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6591034" y="6434191"/>
            <a:ext cx="935212" cy="935212"/>
          </a:xfrm>
          <a:custGeom>
            <a:avLst/>
            <a:gdLst/>
            <a:ahLst/>
            <a:cxnLst/>
            <a:rect r="r" b="b" t="t" l="l"/>
            <a:pathLst>
              <a:path h="935212" w="935212">
                <a:moveTo>
                  <a:pt x="0" y="0"/>
                </a:moveTo>
                <a:lnTo>
                  <a:pt x="935212" y="0"/>
                </a:lnTo>
                <a:lnTo>
                  <a:pt x="935212" y="935212"/>
                </a:lnTo>
                <a:lnTo>
                  <a:pt x="0" y="93521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731520" y="419100"/>
            <a:ext cx="1000760" cy="1000760"/>
            <a:chOff x="0" y="0"/>
            <a:chExt cx="1334347" cy="1334347"/>
          </a:xfrm>
        </p:grpSpPr>
        <p:sp>
          <p:nvSpPr>
            <p:cNvPr name="Freeform 16" id="16"/>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6"/>
              <a:stretch>
                <a:fillRect l="0" t="0" r="3" b="3"/>
              </a:stretch>
            </a:blipFill>
          </p:spPr>
        </p:sp>
      </p:grpSp>
      <p:sp>
        <p:nvSpPr>
          <p:cNvPr name="Freeform 17" id="17"/>
          <p:cNvSpPr/>
          <p:nvPr/>
        </p:nvSpPr>
        <p:spPr>
          <a:xfrm flipH="false" flipV="false" rot="0">
            <a:off x="12061514" y="2564347"/>
            <a:ext cx="5706616" cy="5901254"/>
          </a:xfrm>
          <a:custGeom>
            <a:avLst/>
            <a:gdLst/>
            <a:ahLst/>
            <a:cxnLst/>
            <a:rect r="r" b="b" t="t" l="l"/>
            <a:pathLst>
              <a:path h="5901254" w="5706616">
                <a:moveTo>
                  <a:pt x="0" y="0"/>
                </a:moveTo>
                <a:lnTo>
                  <a:pt x="5706616" y="0"/>
                </a:lnTo>
                <a:lnTo>
                  <a:pt x="5706616" y="5901255"/>
                </a:lnTo>
                <a:lnTo>
                  <a:pt x="0" y="5901255"/>
                </a:lnTo>
                <a:lnTo>
                  <a:pt x="0" y="0"/>
                </a:lnTo>
                <a:close/>
              </a:path>
            </a:pathLst>
          </a:custGeom>
          <a:blipFill>
            <a:blip r:embed="rId17"/>
            <a:stretch>
              <a:fillRect l="0" t="0" r="-1471" b="0"/>
            </a:stretch>
          </a:blipFill>
        </p:spPr>
      </p:sp>
      <p:sp>
        <p:nvSpPr>
          <p:cNvPr name="TextBox 18" id="18"/>
          <p:cNvSpPr txBox="true"/>
          <p:nvPr/>
        </p:nvSpPr>
        <p:spPr>
          <a:xfrm rot="0">
            <a:off x="6743006" y="3938447"/>
            <a:ext cx="706727" cy="444428"/>
          </a:xfrm>
          <a:prstGeom prst="rect">
            <a:avLst/>
          </a:prstGeom>
        </p:spPr>
        <p:txBody>
          <a:bodyPr anchor="t" rtlCol="false" tIns="0" lIns="0" bIns="0" rIns="0">
            <a:spAutoFit/>
          </a:bodyPr>
          <a:lstStyle/>
          <a:p>
            <a:pPr algn="ctr">
              <a:lnSpc>
                <a:spcPts val="4000"/>
              </a:lnSpc>
            </a:pPr>
            <a:r>
              <a:rPr lang="en-US" sz="4000">
                <a:solidFill>
                  <a:srgbClr val="FFFFFF"/>
                </a:solidFill>
                <a:latin typeface="Anton"/>
                <a:ea typeface="Anton"/>
                <a:cs typeface="Anton"/>
                <a:sym typeface="Anton"/>
              </a:rPr>
              <a:t>01</a:t>
            </a:r>
          </a:p>
        </p:txBody>
      </p:sp>
      <p:sp>
        <p:nvSpPr>
          <p:cNvPr name="TextBox 19" id="19"/>
          <p:cNvSpPr txBox="true"/>
          <p:nvPr/>
        </p:nvSpPr>
        <p:spPr>
          <a:xfrm rot="0">
            <a:off x="6705276" y="6718343"/>
            <a:ext cx="706727" cy="443109"/>
          </a:xfrm>
          <a:prstGeom prst="rect">
            <a:avLst/>
          </a:prstGeom>
        </p:spPr>
        <p:txBody>
          <a:bodyPr anchor="t" rtlCol="false" tIns="0" lIns="0" bIns="0" rIns="0">
            <a:spAutoFit/>
          </a:bodyPr>
          <a:lstStyle/>
          <a:p>
            <a:pPr algn="ctr">
              <a:lnSpc>
                <a:spcPts val="4000"/>
              </a:lnSpc>
            </a:pPr>
            <a:r>
              <a:rPr lang="en-US" sz="4000">
                <a:solidFill>
                  <a:srgbClr val="FFFFFF"/>
                </a:solidFill>
                <a:latin typeface="Anton"/>
                <a:ea typeface="Anton"/>
                <a:cs typeface="Anton"/>
                <a:sym typeface="Anton"/>
              </a:rPr>
              <a:t>02</a:t>
            </a:r>
          </a:p>
        </p:txBody>
      </p:sp>
      <p:sp>
        <p:nvSpPr>
          <p:cNvPr name="TextBox 20" id="20"/>
          <p:cNvSpPr txBox="true"/>
          <p:nvPr/>
        </p:nvSpPr>
        <p:spPr>
          <a:xfrm rot="0">
            <a:off x="7651808" y="4641753"/>
            <a:ext cx="2900260" cy="1714500"/>
          </a:xfrm>
          <a:prstGeom prst="rect">
            <a:avLst/>
          </a:prstGeom>
        </p:spPr>
        <p:txBody>
          <a:bodyPr anchor="t" rtlCol="false" tIns="0" lIns="0" bIns="0" rIns="0">
            <a:spAutoFit/>
          </a:bodyPr>
          <a:lstStyle/>
          <a:p>
            <a:pPr algn="ctr">
              <a:lnSpc>
                <a:spcPts val="4500"/>
              </a:lnSpc>
            </a:pPr>
            <a:r>
              <a:rPr lang="en-US" b="true" sz="3000" spc="299">
                <a:solidFill>
                  <a:srgbClr val="FFFFFF"/>
                </a:solidFill>
                <a:latin typeface="Times New Roman Bold"/>
                <a:ea typeface="Times New Roman Bold"/>
                <a:cs typeface="Times New Roman Bold"/>
                <a:sym typeface="Times New Roman Bold"/>
              </a:rPr>
              <a:t>SLAM Map Visualization Framework</a:t>
            </a:r>
          </a:p>
        </p:txBody>
      </p:sp>
      <p:sp>
        <p:nvSpPr>
          <p:cNvPr name="TextBox 21" id="21"/>
          <p:cNvSpPr txBox="true"/>
          <p:nvPr/>
        </p:nvSpPr>
        <p:spPr>
          <a:xfrm rot="0">
            <a:off x="731520" y="2348680"/>
            <a:ext cx="5159379" cy="3316790"/>
          </a:xfrm>
          <a:prstGeom prst="rect">
            <a:avLst/>
          </a:prstGeom>
        </p:spPr>
        <p:txBody>
          <a:bodyPr anchor="t" rtlCol="false" tIns="0" lIns="0" bIns="0" rIns="0">
            <a:spAutoFit/>
          </a:bodyPr>
          <a:lstStyle/>
          <a:p>
            <a:pPr algn="l" marL="430755" indent="-215377" lvl="1">
              <a:lnSpc>
                <a:spcPts val="2992"/>
              </a:lnSpc>
              <a:buFont typeface="Arial"/>
              <a:buChar char="•"/>
            </a:pPr>
            <a:r>
              <a:rPr lang="en-US" b="true" sz="1995">
                <a:solidFill>
                  <a:srgbClr val="404040"/>
                </a:solidFill>
                <a:latin typeface="Times New Roman Bold"/>
                <a:ea typeface="Times New Roman Bold"/>
                <a:cs typeface="Times New Roman Bold"/>
                <a:sym typeface="Times New Roman Bold"/>
              </a:rPr>
              <a:t>Display SLAM occupancy grid map dynamically</a:t>
            </a:r>
          </a:p>
          <a:p>
            <a:pPr algn="l" marL="430755" indent="-215377" lvl="1">
              <a:lnSpc>
                <a:spcPts val="2992"/>
              </a:lnSpc>
              <a:buFont typeface="Arial"/>
              <a:buChar char="•"/>
            </a:pPr>
            <a:r>
              <a:rPr lang="en-US" b="true" sz="1995">
                <a:solidFill>
                  <a:srgbClr val="404040"/>
                </a:solidFill>
                <a:latin typeface="Times New Roman Bold"/>
                <a:ea typeface="Times New Roman Bold"/>
                <a:cs typeface="Times New Roman Bold"/>
                <a:sym typeface="Times New Roman Bold"/>
              </a:rPr>
              <a:t>Track robot pose and trajectory in real time</a:t>
            </a:r>
          </a:p>
          <a:p>
            <a:pPr algn="l" marL="430753" indent="-215376" lvl="1">
              <a:lnSpc>
                <a:spcPts val="2992"/>
              </a:lnSpc>
              <a:buFont typeface="Arial"/>
              <a:buChar char="•"/>
            </a:pPr>
            <a:r>
              <a:rPr lang="en-US" b="true" sz="1995">
                <a:solidFill>
                  <a:srgbClr val="404040"/>
                </a:solidFill>
                <a:latin typeface="Times New Roman Bold"/>
                <a:ea typeface="Times New Roman Bold"/>
                <a:cs typeface="Times New Roman Bold"/>
                <a:sym typeface="Times New Roman Bold"/>
              </a:rPr>
              <a:t>Overlay additional markers (frontier points, exit points, ROI)</a:t>
            </a:r>
          </a:p>
          <a:p>
            <a:pPr algn="l" marL="430753" indent="-215376" lvl="1">
              <a:lnSpc>
                <a:spcPts val="2992"/>
              </a:lnSpc>
              <a:buFont typeface="Arial"/>
              <a:buChar char="•"/>
            </a:pPr>
            <a:r>
              <a:rPr lang="en-US" b="true" sz="1995">
                <a:solidFill>
                  <a:srgbClr val="404040"/>
                </a:solidFill>
                <a:latin typeface="Times New Roman Bold"/>
                <a:ea typeface="Times New Roman Bold"/>
                <a:cs typeface="Times New Roman Bold"/>
                <a:sym typeface="Times New Roman Bold"/>
              </a:rPr>
              <a:t>Provide intuitive visualization tools for debugging and experiments</a:t>
            </a:r>
          </a:p>
          <a:p>
            <a:pPr algn="just">
              <a:lnSpc>
                <a:spcPts val="2842"/>
              </a:lnSpc>
            </a:pPr>
          </a:p>
        </p:txBody>
      </p:sp>
      <p:sp>
        <p:nvSpPr>
          <p:cNvPr name="TextBox 22" id="22"/>
          <p:cNvSpPr txBox="true"/>
          <p:nvPr/>
        </p:nvSpPr>
        <p:spPr>
          <a:xfrm rot="0">
            <a:off x="731520" y="1919738"/>
            <a:ext cx="3722355" cy="415290"/>
          </a:xfrm>
          <a:prstGeom prst="rect">
            <a:avLst/>
          </a:prstGeom>
        </p:spPr>
        <p:txBody>
          <a:bodyPr anchor="t" rtlCol="false" tIns="0" lIns="0" bIns="0" rIns="0">
            <a:spAutoFit/>
          </a:bodyPr>
          <a:lstStyle/>
          <a:p>
            <a:pPr algn="just">
              <a:lnSpc>
                <a:spcPts val="3359"/>
              </a:lnSpc>
            </a:pPr>
            <a:r>
              <a:rPr lang="en-US" sz="2400" b="true">
                <a:solidFill>
                  <a:srgbClr val="963D3D"/>
                </a:solidFill>
                <a:latin typeface="Times New Roman Bold"/>
                <a:ea typeface="Times New Roman Bold"/>
                <a:cs typeface="Times New Roman Bold"/>
                <a:sym typeface="Times New Roman Bold"/>
              </a:rPr>
              <a:t>Core Objectives</a:t>
            </a:r>
          </a:p>
        </p:txBody>
      </p:sp>
      <p:sp>
        <p:nvSpPr>
          <p:cNvPr name="TextBox 23" id="23"/>
          <p:cNvSpPr txBox="true"/>
          <p:nvPr/>
        </p:nvSpPr>
        <p:spPr>
          <a:xfrm rot="0">
            <a:off x="731520" y="5334210"/>
            <a:ext cx="3532576" cy="421191"/>
          </a:xfrm>
          <a:prstGeom prst="rect">
            <a:avLst/>
          </a:prstGeom>
        </p:spPr>
        <p:txBody>
          <a:bodyPr anchor="t" rtlCol="false" tIns="0" lIns="0" bIns="0" rIns="0">
            <a:spAutoFit/>
          </a:bodyPr>
          <a:lstStyle/>
          <a:p>
            <a:pPr algn="l">
              <a:lnSpc>
                <a:spcPts val="3364"/>
              </a:lnSpc>
            </a:pPr>
            <a:r>
              <a:rPr lang="en-US" sz="2403" b="true">
                <a:solidFill>
                  <a:srgbClr val="963D3D"/>
                </a:solidFill>
                <a:latin typeface="Times New Roman Bold"/>
                <a:ea typeface="Times New Roman Bold"/>
                <a:cs typeface="Times New Roman Bold"/>
                <a:sym typeface="Times New Roman Bold"/>
              </a:rPr>
              <a:t>System Structure</a:t>
            </a:r>
          </a:p>
        </p:txBody>
      </p:sp>
      <p:sp>
        <p:nvSpPr>
          <p:cNvPr name="TextBox 24" id="24"/>
          <p:cNvSpPr txBox="true"/>
          <p:nvPr/>
        </p:nvSpPr>
        <p:spPr>
          <a:xfrm rot="0">
            <a:off x="2214880" y="483235"/>
            <a:ext cx="5234853"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Visualization</a:t>
            </a:r>
          </a:p>
        </p:txBody>
      </p:sp>
      <p:sp>
        <p:nvSpPr>
          <p:cNvPr name="TextBox 25" id="25"/>
          <p:cNvSpPr txBox="true"/>
          <p:nvPr/>
        </p:nvSpPr>
        <p:spPr>
          <a:xfrm rot="0">
            <a:off x="731520" y="5829458"/>
            <a:ext cx="5772051" cy="3880485"/>
          </a:xfrm>
          <a:prstGeom prst="rect">
            <a:avLst/>
          </a:prstGeom>
        </p:spPr>
        <p:txBody>
          <a:bodyPr anchor="t" rtlCol="false" tIns="0" lIns="0" bIns="0" rIns="0">
            <a:spAutoFit/>
          </a:bodyPr>
          <a:lstStyle/>
          <a:p>
            <a:pPr algn="l" marL="410209" indent="-205105" lvl="1">
              <a:lnSpc>
                <a:spcPts val="2849"/>
              </a:lnSpc>
              <a:buFont typeface="Arial"/>
              <a:buChar char="•"/>
            </a:pPr>
            <a:r>
              <a:rPr lang="en-US" b="true" sz="1899">
                <a:solidFill>
                  <a:srgbClr val="000000"/>
                </a:solidFill>
                <a:latin typeface="Times New Roman Bold"/>
                <a:ea typeface="Times New Roman Bold"/>
                <a:cs typeface="Times New Roman Bold"/>
                <a:sym typeface="Times New Roman Bold"/>
              </a:rPr>
              <a:t>Map Display: Occupancy grid shown as grayscale image (imshow)</a:t>
            </a:r>
          </a:p>
          <a:p>
            <a:pPr algn="l" marL="410209" indent="-205105" lvl="1">
              <a:lnSpc>
                <a:spcPts val="2849"/>
              </a:lnSpc>
              <a:buFont typeface="Arial"/>
              <a:buChar char="•"/>
            </a:pPr>
            <a:r>
              <a:rPr lang="en-US" b="true" sz="1899">
                <a:solidFill>
                  <a:srgbClr val="000000"/>
                </a:solidFill>
                <a:latin typeface="Times New Roman Bold"/>
                <a:ea typeface="Times New Roman Bold"/>
                <a:cs typeface="Times New Roman Bold"/>
                <a:sym typeface="Times New Roman Bold"/>
              </a:rPr>
              <a:t>Robot Rendering: Red arrow indicating position and orientation</a:t>
            </a:r>
          </a:p>
          <a:p>
            <a:pPr algn="l" marL="410209" indent="-205105" lvl="1">
              <a:lnSpc>
                <a:spcPts val="2849"/>
              </a:lnSpc>
              <a:buFont typeface="Arial"/>
              <a:buChar char="•"/>
            </a:pPr>
            <a:r>
              <a:rPr lang="en-US" b="true" sz="1899">
                <a:solidFill>
                  <a:srgbClr val="000000"/>
                </a:solidFill>
                <a:latin typeface="Times New Roman Bold"/>
                <a:ea typeface="Times New Roman Bold"/>
                <a:cs typeface="Times New Roman Bold"/>
                <a:sym typeface="Times New Roman Bold"/>
              </a:rPr>
              <a:t>Trajectory Tracking: Blue polyline recording historical path</a:t>
            </a:r>
          </a:p>
          <a:p>
            <a:pPr algn="l" marL="410209" indent="-205105" lvl="1">
              <a:lnSpc>
                <a:spcPts val="2849"/>
              </a:lnSpc>
              <a:buFont typeface="Arial"/>
              <a:buChar char="•"/>
            </a:pPr>
            <a:r>
              <a:rPr lang="en-US" b="true" sz="1899">
                <a:solidFill>
                  <a:srgbClr val="000000"/>
                </a:solidFill>
                <a:latin typeface="Times New Roman Bold"/>
                <a:ea typeface="Times New Roman Bold"/>
                <a:cs typeface="Times New Roman Bold"/>
                <a:sym typeface="Times New Roman Bold"/>
              </a:rPr>
              <a:t>HUD Text: Extra debugging information (yellow text with black background)</a:t>
            </a:r>
          </a:p>
          <a:p>
            <a:pPr algn="l" marL="410209" indent="-205105" lvl="1">
              <a:lnSpc>
                <a:spcPts val="2849"/>
              </a:lnSpc>
              <a:buFont typeface="Arial"/>
              <a:buChar char="•"/>
            </a:pPr>
            <a:r>
              <a:rPr lang="en-US" b="true" sz="1899">
                <a:solidFill>
                  <a:srgbClr val="000000"/>
                </a:solidFill>
                <a:latin typeface="Times New Roman Bold"/>
                <a:ea typeface="Times New Roman Bold"/>
                <a:cs typeface="Times New Roman Bold"/>
                <a:sym typeface="Times New Roman Bold"/>
              </a:rPr>
              <a:t>ROI Rectangle: Green dashed box highlighting region of interest</a:t>
            </a:r>
          </a:p>
          <a:p>
            <a:pPr algn="ctr">
              <a:lnSpc>
                <a:spcPts val="284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9251414" y="1000125"/>
            <a:ext cx="9279989" cy="19050"/>
            <a:chOff x="0" y="0"/>
            <a:chExt cx="12373319" cy="25400"/>
          </a:xfrm>
        </p:grpSpPr>
        <p:sp>
          <p:nvSpPr>
            <p:cNvPr name="Freeform 7" id="7"/>
            <p:cNvSpPr/>
            <p:nvPr/>
          </p:nvSpPr>
          <p:spPr>
            <a:xfrm flipH="false" flipV="false" rot="0">
              <a:off x="12700" y="0"/>
              <a:ext cx="12347956" cy="25400"/>
            </a:xfrm>
            <a:custGeom>
              <a:avLst/>
              <a:gdLst/>
              <a:ahLst/>
              <a:cxnLst/>
              <a:rect r="r" b="b" t="t" l="l"/>
              <a:pathLst>
                <a:path h="25400" w="12347956">
                  <a:moveTo>
                    <a:pt x="279400" y="0"/>
                  </a:moveTo>
                  <a:lnTo>
                    <a:pt x="482600" y="0"/>
                  </a:lnTo>
                  <a:lnTo>
                    <a:pt x="482600" y="25400"/>
                  </a:lnTo>
                  <a:lnTo>
                    <a:pt x="279400" y="25400"/>
                  </a:lnTo>
                  <a:close/>
                  <a:moveTo>
                    <a:pt x="558800" y="0"/>
                  </a:moveTo>
                  <a:lnTo>
                    <a:pt x="762000" y="0"/>
                  </a:lnTo>
                  <a:lnTo>
                    <a:pt x="762000" y="25400"/>
                  </a:lnTo>
                  <a:lnTo>
                    <a:pt x="558800" y="25400"/>
                  </a:lnTo>
                  <a:close/>
                  <a:moveTo>
                    <a:pt x="838200" y="0"/>
                  </a:moveTo>
                  <a:lnTo>
                    <a:pt x="1041400" y="0"/>
                  </a:lnTo>
                  <a:lnTo>
                    <a:pt x="1041400" y="25400"/>
                  </a:lnTo>
                  <a:lnTo>
                    <a:pt x="838200" y="25400"/>
                  </a:lnTo>
                  <a:close/>
                  <a:moveTo>
                    <a:pt x="1117600" y="0"/>
                  </a:moveTo>
                  <a:lnTo>
                    <a:pt x="1320800" y="0"/>
                  </a:lnTo>
                  <a:lnTo>
                    <a:pt x="1320800" y="25400"/>
                  </a:lnTo>
                  <a:lnTo>
                    <a:pt x="1117600" y="25400"/>
                  </a:lnTo>
                  <a:close/>
                  <a:moveTo>
                    <a:pt x="1397000" y="25400"/>
                  </a:moveTo>
                  <a:lnTo>
                    <a:pt x="1600200" y="25400"/>
                  </a:lnTo>
                  <a:lnTo>
                    <a:pt x="1397000" y="25400"/>
                  </a:lnTo>
                  <a:close/>
                  <a:moveTo>
                    <a:pt x="1676400" y="25400"/>
                  </a:moveTo>
                  <a:lnTo>
                    <a:pt x="1879600" y="25400"/>
                  </a:lnTo>
                  <a:lnTo>
                    <a:pt x="1676400" y="25400"/>
                  </a:lnTo>
                  <a:close/>
                  <a:moveTo>
                    <a:pt x="1955800" y="25400"/>
                  </a:moveTo>
                  <a:lnTo>
                    <a:pt x="2159000" y="25400"/>
                  </a:lnTo>
                  <a:lnTo>
                    <a:pt x="1955800" y="25400"/>
                  </a:lnTo>
                  <a:close/>
                  <a:moveTo>
                    <a:pt x="2235200" y="25400"/>
                  </a:moveTo>
                  <a:lnTo>
                    <a:pt x="2438400" y="25400"/>
                  </a:lnTo>
                  <a:lnTo>
                    <a:pt x="2235200" y="25400"/>
                  </a:lnTo>
                  <a:close/>
                  <a:moveTo>
                    <a:pt x="2514600" y="25400"/>
                  </a:moveTo>
                  <a:lnTo>
                    <a:pt x="2717800" y="25400"/>
                  </a:lnTo>
                  <a:lnTo>
                    <a:pt x="2514600" y="25400"/>
                  </a:lnTo>
                  <a:close/>
                  <a:moveTo>
                    <a:pt x="2794000" y="25400"/>
                  </a:moveTo>
                  <a:lnTo>
                    <a:pt x="2997200" y="25400"/>
                  </a:lnTo>
                  <a:lnTo>
                    <a:pt x="2794000" y="25400"/>
                  </a:lnTo>
                  <a:close/>
                  <a:moveTo>
                    <a:pt x="3073400" y="25400"/>
                  </a:moveTo>
                  <a:lnTo>
                    <a:pt x="3276600" y="25400"/>
                  </a:lnTo>
                  <a:lnTo>
                    <a:pt x="3073400" y="25400"/>
                  </a:lnTo>
                  <a:close/>
                  <a:moveTo>
                    <a:pt x="3352800" y="25400"/>
                  </a:moveTo>
                  <a:lnTo>
                    <a:pt x="3556000" y="25400"/>
                  </a:lnTo>
                  <a:lnTo>
                    <a:pt x="3352800" y="25400"/>
                  </a:lnTo>
                  <a:close/>
                  <a:moveTo>
                    <a:pt x="3632200" y="25400"/>
                  </a:moveTo>
                  <a:lnTo>
                    <a:pt x="3835400" y="25400"/>
                  </a:lnTo>
                  <a:lnTo>
                    <a:pt x="3632200" y="25400"/>
                  </a:lnTo>
                  <a:close/>
                  <a:moveTo>
                    <a:pt x="3911600" y="25400"/>
                  </a:moveTo>
                  <a:lnTo>
                    <a:pt x="4114800" y="25400"/>
                  </a:lnTo>
                  <a:lnTo>
                    <a:pt x="3911600" y="25400"/>
                  </a:lnTo>
                  <a:close/>
                  <a:moveTo>
                    <a:pt x="4191000" y="25400"/>
                  </a:moveTo>
                  <a:lnTo>
                    <a:pt x="4394200" y="25400"/>
                  </a:lnTo>
                  <a:lnTo>
                    <a:pt x="4191000" y="25400"/>
                  </a:lnTo>
                  <a:close/>
                  <a:moveTo>
                    <a:pt x="4470400" y="25400"/>
                  </a:moveTo>
                  <a:lnTo>
                    <a:pt x="4673600" y="25400"/>
                  </a:lnTo>
                  <a:lnTo>
                    <a:pt x="4470400" y="25400"/>
                  </a:lnTo>
                  <a:close/>
                  <a:moveTo>
                    <a:pt x="4749800" y="25400"/>
                  </a:moveTo>
                  <a:lnTo>
                    <a:pt x="4953000" y="25400"/>
                  </a:lnTo>
                  <a:lnTo>
                    <a:pt x="4749800" y="25400"/>
                  </a:lnTo>
                  <a:close/>
                  <a:moveTo>
                    <a:pt x="5029200" y="25400"/>
                  </a:moveTo>
                  <a:lnTo>
                    <a:pt x="5232400" y="25400"/>
                  </a:lnTo>
                  <a:lnTo>
                    <a:pt x="5029200" y="25400"/>
                  </a:lnTo>
                  <a:close/>
                  <a:moveTo>
                    <a:pt x="5308600" y="25400"/>
                  </a:moveTo>
                  <a:lnTo>
                    <a:pt x="5511800" y="25400"/>
                  </a:lnTo>
                  <a:lnTo>
                    <a:pt x="5308600" y="25400"/>
                  </a:lnTo>
                  <a:close/>
                  <a:moveTo>
                    <a:pt x="5588000" y="25400"/>
                  </a:moveTo>
                  <a:lnTo>
                    <a:pt x="5791200" y="25400"/>
                  </a:lnTo>
                  <a:lnTo>
                    <a:pt x="5588000" y="25400"/>
                  </a:lnTo>
                  <a:close/>
                  <a:moveTo>
                    <a:pt x="5867400" y="25400"/>
                  </a:moveTo>
                  <a:lnTo>
                    <a:pt x="6070600" y="25400"/>
                  </a:lnTo>
                  <a:lnTo>
                    <a:pt x="5867400" y="25400"/>
                  </a:lnTo>
                  <a:close/>
                  <a:moveTo>
                    <a:pt x="6146800" y="25400"/>
                  </a:moveTo>
                  <a:lnTo>
                    <a:pt x="6350000" y="25400"/>
                  </a:lnTo>
                  <a:lnTo>
                    <a:pt x="6146800" y="25400"/>
                  </a:lnTo>
                  <a:close/>
                  <a:moveTo>
                    <a:pt x="6426200" y="25400"/>
                  </a:moveTo>
                  <a:lnTo>
                    <a:pt x="6629400" y="25400"/>
                  </a:lnTo>
                  <a:lnTo>
                    <a:pt x="6426200" y="25400"/>
                  </a:lnTo>
                  <a:close/>
                  <a:moveTo>
                    <a:pt x="6705600" y="25400"/>
                  </a:moveTo>
                  <a:lnTo>
                    <a:pt x="6908800" y="25400"/>
                  </a:lnTo>
                  <a:lnTo>
                    <a:pt x="6705600" y="25400"/>
                  </a:lnTo>
                  <a:close/>
                  <a:moveTo>
                    <a:pt x="6985000" y="25400"/>
                  </a:moveTo>
                  <a:lnTo>
                    <a:pt x="7188200" y="25400"/>
                  </a:lnTo>
                  <a:lnTo>
                    <a:pt x="6985000" y="25400"/>
                  </a:lnTo>
                  <a:close/>
                  <a:moveTo>
                    <a:pt x="7264400" y="25400"/>
                  </a:moveTo>
                  <a:lnTo>
                    <a:pt x="7467600" y="25400"/>
                  </a:lnTo>
                  <a:lnTo>
                    <a:pt x="7264400" y="25400"/>
                  </a:lnTo>
                  <a:close/>
                  <a:moveTo>
                    <a:pt x="7543800" y="25400"/>
                  </a:moveTo>
                  <a:lnTo>
                    <a:pt x="7747000" y="25400"/>
                  </a:lnTo>
                  <a:lnTo>
                    <a:pt x="7543800" y="25400"/>
                  </a:lnTo>
                  <a:close/>
                  <a:moveTo>
                    <a:pt x="7823200" y="25400"/>
                  </a:moveTo>
                  <a:lnTo>
                    <a:pt x="8026400" y="25400"/>
                  </a:lnTo>
                  <a:lnTo>
                    <a:pt x="7823200" y="25400"/>
                  </a:lnTo>
                  <a:close/>
                  <a:moveTo>
                    <a:pt x="8102600" y="25400"/>
                  </a:moveTo>
                  <a:lnTo>
                    <a:pt x="8305800" y="25400"/>
                  </a:lnTo>
                  <a:lnTo>
                    <a:pt x="8102600" y="25400"/>
                  </a:lnTo>
                  <a:close/>
                  <a:moveTo>
                    <a:pt x="8382000" y="25400"/>
                  </a:moveTo>
                  <a:lnTo>
                    <a:pt x="8585200" y="25400"/>
                  </a:lnTo>
                  <a:lnTo>
                    <a:pt x="8382000" y="25400"/>
                  </a:lnTo>
                  <a:close/>
                  <a:moveTo>
                    <a:pt x="8661400" y="25400"/>
                  </a:moveTo>
                  <a:lnTo>
                    <a:pt x="8864600" y="25400"/>
                  </a:lnTo>
                  <a:lnTo>
                    <a:pt x="8661400" y="25400"/>
                  </a:lnTo>
                  <a:close/>
                  <a:moveTo>
                    <a:pt x="8940800" y="25400"/>
                  </a:moveTo>
                  <a:lnTo>
                    <a:pt x="9144000" y="25400"/>
                  </a:lnTo>
                  <a:lnTo>
                    <a:pt x="8940800" y="25400"/>
                  </a:lnTo>
                  <a:close/>
                  <a:moveTo>
                    <a:pt x="9220200" y="25400"/>
                  </a:moveTo>
                  <a:lnTo>
                    <a:pt x="9423400" y="25400"/>
                  </a:lnTo>
                  <a:lnTo>
                    <a:pt x="9220200" y="25400"/>
                  </a:lnTo>
                  <a:close/>
                  <a:moveTo>
                    <a:pt x="9499600" y="25400"/>
                  </a:moveTo>
                  <a:lnTo>
                    <a:pt x="9702800" y="25400"/>
                  </a:lnTo>
                  <a:lnTo>
                    <a:pt x="9499600" y="25400"/>
                  </a:lnTo>
                  <a:close/>
                  <a:moveTo>
                    <a:pt x="9779000" y="25400"/>
                  </a:moveTo>
                  <a:lnTo>
                    <a:pt x="9982200" y="25400"/>
                  </a:lnTo>
                  <a:lnTo>
                    <a:pt x="9779000" y="25400"/>
                  </a:lnTo>
                  <a:close/>
                  <a:moveTo>
                    <a:pt x="10058400" y="25400"/>
                  </a:moveTo>
                  <a:lnTo>
                    <a:pt x="10261600" y="25400"/>
                  </a:lnTo>
                  <a:lnTo>
                    <a:pt x="10058400" y="25400"/>
                  </a:lnTo>
                  <a:close/>
                  <a:moveTo>
                    <a:pt x="10337800" y="25400"/>
                  </a:moveTo>
                  <a:lnTo>
                    <a:pt x="10541000" y="25400"/>
                  </a:lnTo>
                  <a:lnTo>
                    <a:pt x="10337800" y="25400"/>
                  </a:lnTo>
                  <a:close/>
                  <a:moveTo>
                    <a:pt x="10617200" y="25400"/>
                  </a:moveTo>
                  <a:lnTo>
                    <a:pt x="10820400" y="25400"/>
                  </a:lnTo>
                  <a:lnTo>
                    <a:pt x="10617200" y="25400"/>
                  </a:lnTo>
                  <a:close/>
                  <a:moveTo>
                    <a:pt x="10896600" y="25400"/>
                  </a:moveTo>
                  <a:lnTo>
                    <a:pt x="11099800" y="25400"/>
                  </a:lnTo>
                  <a:lnTo>
                    <a:pt x="10896600" y="25400"/>
                  </a:lnTo>
                  <a:close/>
                  <a:moveTo>
                    <a:pt x="11176000" y="25400"/>
                  </a:moveTo>
                  <a:lnTo>
                    <a:pt x="11379200" y="25400"/>
                  </a:lnTo>
                  <a:lnTo>
                    <a:pt x="11176000" y="25400"/>
                  </a:lnTo>
                  <a:close/>
                  <a:moveTo>
                    <a:pt x="11455400" y="25400"/>
                  </a:moveTo>
                  <a:lnTo>
                    <a:pt x="11658600" y="25400"/>
                  </a:lnTo>
                  <a:lnTo>
                    <a:pt x="11455400" y="25400"/>
                  </a:lnTo>
                  <a:close/>
                  <a:moveTo>
                    <a:pt x="11734800" y="25400"/>
                  </a:moveTo>
                  <a:lnTo>
                    <a:pt x="11938000" y="25400"/>
                  </a:lnTo>
                  <a:lnTo>
                    <a:pt x="11734800" y="25400"/>
                  </a:lnTo>
                  <a:close/>
                  <a:moveTo>
                    <a:pt x="12014200" y="25400"/>
                  </a:moveTo>
                  <a:lnTo>
                    <a:pt x="12217400" y="25400"/>
                  </a:lnTo>
                  <a:lnTo>
                    <a:pt x="12014200" y="25400"/>
                  </a:lnTo>
                  <a:close/>
                  <a:moveTo>
                    <a:pt x="12293600" y="25400"/>
                  </a:moveTo>
                  <a:lnTo>
                    <a:pt x="12347956" y="25400"/>
                  </a:lnTo>
                  <a:lnTo>
                    <a:pt x="12293600" y="25400"/>
                  </a:lnTo>
                  <a:close/>
                  <a:moveTo>
                    <a:pt x="0" y="0"/>
                  </a:moveTo>
                  <a:lnTo>
                    <a:pt x="203200" y="0"/>
                  </a:lnTo>
                  <a:lnTo>
                    <a:pt x="203200" y="25400"/>
                  </a:lnTo>
                  <a:lnTo>
                    <a:pt x="0" y="25400"/>
                  </a:lnTo>
                  <a:close/>
                </a:path>
              </a:pathLst>
            </a:custGeom>
            <a:solidFill>
              <a:srgbClr val="FFFFFF"/>
            </a:solidFill>
          </p:spPr>
        </p:sp>
      </p:grpSp>
      <p:sp>
        <p:nvSpPr>
          <p:cNvPr name="Freeform 8" id="8"/>
          <p:cNvSpPr/>
          <p:nvPr/>
        </p:nvSpPr>
        <p:spPr>
          <a:xfrm flipH="false" flipV="false" rot="0">
            <a:off x="523172"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4359772"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375223" y="441211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215839" y="4586028"/>
            <a:ext cx="3383416" cy="4415641"/>
          </a:xfrm>
          <a:custGeom>
            <a:avLst/>
            <a:gdLst/>
            <a:ahLst/>
            <a:cxnLst/>
            <a:rect r="r" b="b" t="t" l="l"/>
            <a:pathLst>
              <a:path h="4415641" w="3383416">
                <a:moveTo>
                  <a:pt x="0" y="0"/>
                </a:moveTo>
                <a:lnTo>
                  <a:pt x="3383417" y="0"/>
                </a:lnTo>
                <a:lnTo>
                  <a:pt x="3383417" y="4415642"/>
                </a:lnTo>
                <a:lnTo>
                  <a:pt x="0" y="44156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 y="4412114"/>
            <a:ext cx="18432661" cy="239049"/>
          </a:xfrm>
          <a:custGeom>
            <a:avLst/>
            <a:gdLst/>
            <a:ahLst/>
            <a:cxnLst/>
            <a:rect r="r" b="b" t="t" l="l"/>
            <a:pathLst>
              <a:path h="239049" w="18432661">
                <a:moveTo>
                  <a:pt x="0" y="0"/>
                </a:moveTo>
                <a:lnTo>
                  <a:pt x="18432661" y="0"/>
                </a:lnTo>
                <a:lnTo>
                  <a:pt x="18432661" y="239048"/>
                </a:lnTo>
                <a:lnTo>
                  <a:pt x="0" y="2390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566969" y="2920780"/>
            <a:ext cx="1329861" cy="1329861"/>
          </a:xfrm>
          <a:custGeom>
            <a:avLst/>
            <a:gdLst/>
            <a:ahLst/>
            <a:cxnLst/>
            <a:rect r="r" b="b" t="t" l="l"/>
            <a:pathLst>
              <a:path h="1329861" w="1329861">
                <a:moveTo>
                  <a:pt x="0" y="0"/>
                </a:moveTo>
                <a:lnTo>
                  <a:pt x="1329862" y="0"/>
                </a:lnTo>
                <a:lnTo>
                  <a:pt x="1329862"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359772" y="292078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8375223" y="292078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2170033" y="292078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731520" y="5819291"/>
            <a:ext cx="2781786" cy="2592705"/>
          </a:xfrm>
          <a:prstGeom prst="rect">
            <a:avLst/>
          </a:prstGeom>
        </p:spPr>
        <p:txBody>
          <a:bodyPr anchor="t" rtlCol="false" tIns="0" lIns="0" bIns="0" rIns="0">
            <a:spAutoFit/>
          </a:bodyPr>
          <a:lstStyle/>
          <a:p>
            <a:pPr algn="l" marL="367031" indent="-183515" lvl="1">
              <a:lnSpc>
                <a:spcPts val="2550"/>
              </a:lnSpc>
              <a:buFont typeface="Arial"/>
              <a:buChar char="•"/>
            </a:pPr>
            <a:r>
              <a:rPr lang="en-US" sz="1700">
                <a:solidFill>
                  <a:srgbClr val="404040"/>
                </a:solidFill>
                <a:latin typeface="Times New Roman"/>
                <a:ea typeface="Times New Roman"/>
                <a:cs typeface="Times New Roman"/>
                <a:sym typeface="Times New Roman"/>
              </a:rPr>
              <a:t>Red Arrow → Current robot pose and heading (_draw_car())</a:t>
            </a:r>
          </a:p>
          <a:p>
            <a:pPr algn="l" marL="367032" indent="-183516" lvl="1">
              <a:lnSpc>
                <a:spcPts val="2550"/>
              </a:lnSpc>
              <a:buFont typeface="Arial"/>
              <a:buChar char="•"/>
            </a:pPr>
            <a:r>
              <a:rPr lang="en-US" sz="1700">
                <a:solidFill>
                  <a:srgbClr val="404040"/>
                </a:solidFill>
                <a:latin typeface="Times New Roman"/>
                <a:ea typeface="Times New Roman"/>
                <a:cs typeface="Times New Roman"/>
                <a:sym typeface="Times New Roman"/>
              </a:rPr>
              <a:t>Text Label → Real-time state (x, y, θ) (_draw_car())</a:t>
            </a:r>
          </a:p>
          <a:p>
            <a:pPr algn="l" marL="367032" indent="-183516" lvl="1">
              <a:lnSpc>
                <a:spcPts val="2550"/>
              </a:lnSpc>
              <a:buFont typeface="Arial"/>
              <a:buChar char="•"/>
            </a:pPr>
            <a:r>
              <a:rPr lang="en-US" sz="1700">
                <a:solidFill>
                  <a:srgbClr val="404040"/>
                </a:solidFill>
                <a:latin typeface="Times New Roman"/>
                <a:ea typeface="Times New Roman"/>
                <a:cs typeface="Times New Roman"/>
                <a:sym typeface="Times New Roman"/>
              </a:rPr>
              <a:t>Blue Line → Historical trajectory (_update_traj())</a:t>
            </a:r>
          </a:p>
          <a:p>
            <a:pPr algn="l">
              <a:lnSpc>
                <a:spcPts val="2550"/>
              </a:lnSpc>
            </a:pPr>
          </a:p>
        </p:txBody>
      </p:sp>
      <p:sp>
        <p:nvSpPr>
          <p:cNvPr name="TextBox 18" id="18"/>
          <p:cNvSpPr txBox="true"/>
          <p:nvPr/>
        </p:nvSpPr>
        <p:spPr>
          <a:xfrm rot="0">
            <a:off x="4401257" y="5522011"/>
            <a:ext cx="3300447" cy="3240405"/>
          </a:xfrm>
          <a:prstGeom prst="rect">
            <a:avLst/>
          </a:prstGeom>
        </p:spPr>
        <p:txBody>
          <a:bodyPr anchor="t" rtlCol="false" tIns="0" lIns="0" bIns="0" rIns="0">
            <a:spAutoFit/>
          </a:bodyPr>
          <a:lstStyle/>
          <a:p>
            <a:pPr algn="l" marL="367032" indent="-183516" lvl="1">
              <a:lnSpc>
                <a:spcPts val="2550"/>
              </a:lnSpc>
              <a:buFont typeface="Arial"/>
              <a:buChar char="•"/>
            </a:pPr>
            <a:r>
              <a:rPr lang="en-US" sz="1700">
                <a:solidFill>
                  <a:srgbClr val="404040"/>
                </a:solidFill>
                <a:latin typeface="Times New Roman"/>
                <a:ea typeface="Times New Roman"/>
                <a:cs typeface="Times New Roman"/>
                <a:sym typeface="Times New Roman"/>
              </a:rPr>
              <a:t>Frontier Points → Exploration boundaries (green/blue small circles) (_draw_frontier_points_extra())</a:t>
            </a:r>
          </a:p>
          <a:p>
            <a:pPr algn="l" marL="367032" indent="-183516" lvl="1">
              <a:lnSpc>
                <a:spcPts val="2550"/>
              </a:lnSpc>
              <a:buFont typeface="Arial"/>
              <a:buChar char="•"/>
            </a:pPr>
            <a:r>
              <a:rPr lang="en-US" sz="1700">
                <a:solidFill>
                  <a:srgbClr val="404040"/>
                </a:solidFill>
                <a:latin typeface="Times New Roman"/>
                <a:ea typeface="Times New Roman"/>
                <a:cs typeface="Times New Roman"/>
                <a:sym typeface="Times New Roman"/>
              </a:rPr>
              <a:t>Best Frontier → Highlighted red circle (_draw_frontier_points_extra())</a:t>
            </a:r>
          </a:p>
          <a:p>
            <a:pPr algn="l" marL="367031" indent="-183515" lvl="1">
              <a:lnSpc>
                <a:spcPts val="2550"/>
              </a:lnSpc>
              <a:buFont typeface="Arial"/>
              <a:buChar char="•"/>
            </a:pPr>
            <a:r>
              <a:rPr lang="en-US" sz="1700">
                <a:solidFill>
                  <a:srgbClr val="404040"/>
                </a:solidFill>
                <a:latin typeface="Times New Roman"/>
                <a:ea typeface="Times New Roman"/>
                <a:cs typeface="Times New Roman"/>
                <a:sym typeface="Times New Roman"/>
              </a:rPr>
              <a:t>Exit Pose → Blue hollow circle (_draw_exit_pose())</a:t>
            </a:r>
          </a:p>
          <a:p>
            <a:pPr algn="l">
              <a:lnSpc>
                <a:spcPts val="2550"/>
              </a:lnSpc>
            </a:pPr>
          </a:p>
        </p:txBody>
      </p:sp>
      <p:sp>
        <p:nvSpPr>
          <p:cNvPr name="TextBox 19" id="19"/>
          <p:cNvSpPr txBox="true"/>
          <p:nvPr/>
        </p:nvSpPr>
        <p:spPr>
          <a:xfrm rot="0">
            <a:off x="8673973" y="5712375"/>
            <a:ext cx="2611081" cy="1524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Green Dashed Box → Marks region of interest (display() with mpatches.Rectangle)</a:t>
            </a:r>
          </a:p>
        </p:txBody>
      </p:sp>
      <p:sp>
        <p:nvSpPr>
          <p:cNvPr name="TextBox 20" id="20"/>
          <p:cNvSpPr txBox="true"/>
          <p:nvPr/>
        </p:nvSpPr>
        <p:spPr>
          <a:xfrm rot="0">
            <a:off x="12530477" y="5533271"/>
            <a:ext cx="2624870" cy="2667000"/>
          </a:xfrm>
          <a:prstGeom prst="rect">
            <a:avLst/>
          </a:prstGeom>
        </p:spPr>
        <p:txBody>
          <a:bodyPr anchor="t" rtlCol="false" tIns="0" lIns="0" bIns="0" rIns="0">
            <a:spAutoFit/>
          </a:bodyPr>
          <a:lstStyle/>
          <a:p>
            <a:pPr algn="l" marL="431801" indent="-215900" lvl="1">
              <a:lnSpc>
                <a:spcPts val="3000"/>
              </a:lnSpc>
              <a:buFont typeface="Arial"/>
              <a:buChar char="•"/>
            </a:pPr>
            <a:r>
              <a:rPr lang="en-US" sz="2000">
                <a:solidFill>
                  <a:srgbClr val="404040"/>
                </a:solidFill>
                <a:latin typeface="Times New Roman"/>
                <a:ea typeface="Times New Roman"/>
                <a:cs typeface="Times New Roman"/>
                <a:sym typeface="Times New Roman"/>
              </a:rPr>
              <a:t>Real-time Update → plt.pause(0.01)</a:t>
            </a:r>
          </a:p>
          <a:p>
            <a:pPr algn="l" marL="431801" indent="-215900" lvl="1">
              <a:lnSpc>
                <a:spcPts val="3000"/>
              </a:lnSpc>
              <a:buFont typeface="Arial"/>
              <a:buChar char="•"/>
            </a:pPr>
            <a:r>
              <a:rPr lang="en-US" sz="2000">
                <a:solidFill>
                  <a:srgbClr val="404040"/>
                </a:solidFill>
                <a:latin typeface="Times New Roman"/>
                <a:ea typeface="Times New Roman"/>
                <a:cs typeface="Times New Roman"/>
                <a:sym typeface="Times New Roman"/>
              </a:rPr>
              <a:t>Artist Reuse → Prevents ghosting, improves performance</a:t>
            </a:r>
          </a:p>
          <a:p>
            <a:pPr algn="l">
              <a:lnSpc>
                <a:spcPts val="3000"/>
              </a:lnSpc>
            </a:pPr>
          </a:p>
        </p:txBody>
      </p:sp>
      <p:sp>
        <p:nvSpPr>
          <p:cNvPr name="TextBox 21" id="21"/>
          <p:cNvSpPr txBox="true"/>
          <p:nvPr/>
        </p:nvSpPr>
        <p:spPr>
          <a:xfrm rot="0">
            <a:off x="2019567"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01</a:t>
            </a:r>
          </a:p>
        </p:txBody>
      </p:sp>
      <p:sp>
        <p:nvSpPr>
          <p:cNvPr name="TextBox 22" id="22"/>
          <p:cNvSpPr txBox="true"/>
          <p:nvPr/>
        </p:nvSpPr>
        <p:spPr>
          <a:xfrm rot="0">
            <a:off x="5818620"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02</a:t>
            </a:r>
          </a:p>
        </p:txBody>
      </p:sp>
      <p:sp>
        <p:nvSpPr>
          <p:cNvPr name="TextBox 23" id="23"/>
          <p:cNvSpPr txBox="true"/>
          <p:nvPr/>
        </p:nvSpPr>
        <p:spPr>
          <a:xfrm rot="0">
            <a:off x="9828909"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03</a:t>
            </a:r>
          </a:p>
        </p:txBody>
      </p:sp>
      <p:sp>
        <p:nvSpPr>
          <p:cNvPr name="TextBox 24" id="24"/>
          <p:cNvSpPr txBox="true"/>
          <p:nvPr/>
        </p:nvSpPr>
        <p:spPr>
          <a:xfrm rot="0">
            <a:off x="13677560" y="310951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04</a:t>
            </a:r>
          </a:p>
        </p:txBody>
      </p:sp>
      <p:sp>
        <p:nvSpPr>
          <p:cNvPr name="TextBox 25" id="25"/>
          <p:cNvSpPr txBox="true"/>
          <p:nvPr/>
        </p:nvSpPr>
        <p:spPr>
          <a:xfrm rot="0">
            <a:off x="853294" y="4846201"/>
            <a:ext cx="2942068" cy="391795"/>
          </a:xfrm>
          <a:prstGeom prst="rect">
            <a:avLst/>
          </a:prstGeom>
        </p:spPr>
        <p:txBody>
          <a:bodyPr anchor="t" rtlCol="false" tIns="0" lIns="0" bIns="0" rIns="0">
            <a:spAutoFit/>
          </a:bodyPr>
          <a:lstStyle/>
          <a:p>
            <a:pPr algn="l">
              <a:lnSpc>
                <a:spcPts val="3080"/>
              </a:lnSpc>
            </a:pPr>
            <a:r>
              <a:rPr lang="en-US" sz="2200" b="true">
                <a:solidFill>
                  <a:srgbClr val="404040"/>
                </a:solidFill>
                <a:latin typeface="Times New Roman Bold"/>
                <a:ea typeface="Times New Roman Bold"/>
                <a:cs typeface="Times New Roman Bold"/>
                <a:sym typeface="Times New Roman Bold"/>
              </a:rPr>
              <a:t>Robot &amp; Trajectory</a:t>
            </a:r>
          </a:p>
        </p:txBody>
      </p:sp>
      <p:sp>
        <p:nvSpPr>
          <p:cNvPr name="TextBox 26" id="26"/>
          <p:cNvSpPr txBox="true"/>
          <p:nvPr/>
        </p:nvSpPr>
        <p:spPr>
          <a:xfrm rot="0">
            <a:off x="4693884" y="4746412"/>
            <a:ext cx="2608659" cy="782320"/>
          </a:xfrm>
          <a:prstGeom prst="rect">
            <a:avLst/>
          </a:prstGeom>
        </p:spPr>
        <p:txBody>
          <a:bodyPr anchor="t" rtlCol="false" tIns="0" lIns="0" bIns="0" rIns="0">
            <a:spAutoFit/>
          </a:bodyPr>
          <a:lstStyle/>
          <a:p>
            <a:pPr algn="l">
              <a:lnSpc>
                <a:spcPts val="3080"/>
              </a:lnSpc>
            </a:pPr>
            <a:r>
              <a:rPr lang="en-US" sz="2200" b="true">
                <a:solidFill>
                  <a:srgbClr val="404040"/>
                </a:solidFill>
                <a:latin typeface="Times New Roman Bold"/>
                <a:ea typeface="Times New Roman Bold"/>
                <a:cs typeface="Times New Roman Bold"/>
                <a:sym typeface="Times New Roman Bold"/>
              </a:rPr>
              <a:t>Frontier &amp; Exit Points</a:t>
            </a:r>
          </a:p>
        </p:txBody>
      </p:sp>
      <p:sp>
        <p:nvSpPr>
          <p:cNvPr name="TextBox 27" id="27"/>
          <p:cNvSpPr txBox="true"/>
          <p:nvPr/>
        </p:nvSpPr>
        <p:spPr>
          <a:xfrm rot="0">
            <a:off x="8766995" y="4846201"/>
            <a:ext cx="2425037" cy="391795"/>
          </a:xfrm>
          <a:prstGeom prst="rect">
            <a:avLst/>
          </a:prstGeom>
        </p:spPr>
        <p:txBody>
          <a:bodyPr anchor="t" rtlCol="false" tIns="0" lIns="0" bIns="0" rIns="0">
            <a:spAutoFit/>
          </a:bodyPr>
          <a:lstStyle/>
          <a:p>
            <a:pPr algn="l">
              <a:lnSpc>
                <a:spcPts val="3080"/>
              </a:lnSpc>
            </a:pPr>
            <a:r>
              <a:rPr lang="en-US" sz="2200" b="true">
                <a:solidFill>
                  <a:srgbClr val="404040"/>
                </a:solidFill>
                <a:latin typeface="Times New Roman Bold"/>
                <a:ea typeface="Times New Roman Bold"/>
                <a:cs typeface="Times New Roman Bold"/>
                <a:sym typeface="Times New Roman Bold"/>
              </a:rPr>
              <a:t>ROI Region</a:t>
            </a:r>
          </a:p>
        </p:txBody>
      </p:sp>
      <p:sp>
        <p:nvSpPr>
          <p:cNvPr name="TextBox 28" id="28"/>
          <p:cNvSpPr txBox="true"/>
          <p:nvPr/>
        </p:nvSpPr>
        <p:spPr>
          <a:xfrm rot="0">
            <a:off x="12458947" y="4846201"/>
            <a:ext cx="2767930" cy="391795"/>
          </a:xfrm>
          <a:prstGeom prst="rect">
            <a:avLst/>
          </a:prstGeom>
        </p:spPr>
        <p:txBody>
          <a:bodyPr anchor="t" rtlCol="false" tIns="0" lIns="0" bIns="0" rIns="0">
            <a:spAutoFit/>
          </a:bodyPr>
          <a:lstStyle/>
          <a:p>
            <a:pPr algn="l">
              <a:lnSpc>
                <a:spcPts val="3080"/>
              </a:lnSpc>
            </a:pPr>
            <a:r>
              <a:rPr lang="en-US" sz="2200" b="true">
                <a:solidFill>
                  <a:srgbClr val="404040"/>
                </a:solidFill>
                <a:latin typeface="Times New Roman Bold"/>
                <a:ea typeface="Times New Roman Bold"/>
                <a:cs typeface="Times New Roman Bold"/>
                <a:sym typeface="Times New Roman Bold"/>
              </a:rPr>
              <a:t> Dynamic Refresh</a:t>
            </a:r>
          </a:p>
        </p:txBody>
      </p:sp>
      <p:sp>
        <p:nvSpPr>
          <p:cNvPr name="TextBox 29" id="29"/>
          <p:cNvSpPr txBox="true"/>
          <p:nvPr/>
        </p:nvSpPr>
        <p:spPr>
          <a:xfrm rot="0">
            <a:off x="2214880" y="483235"/>
            <a:ext cx="4124814"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Visualization</a:t>
            </a:r>
          </a:p>
        </p:txBody>
      </p:sp>
      <p:grpSp>
        <p:nvGrpSpPr>
          <p:cNvPr name="Group 30" id="30"/>
          <p:cNvGrpSpPr/>
          <p:nvPr/>
        </p:nvGrpSpPr>
        <p:grpSpPr>
          <a:xfrm rot="0">
            <a:off x="731520" y="419100"/>
            <a:ext cx="1000760" cy="1000760"/>
            <a:chOff x="0" y="0"/>
            <a:chExt cx="1334347" cy="1334347"/>
          </a:xfrm>
        </p:grpSpPr>
        <p:sp>
          <p:nvSpPr>
            <p:cNvPr name="Freeform 31" id="31"/>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2"/>
              <a:stretch>
                <a:fillRect l="0" t="0" r="3" b="3"/>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909993" cy="3093976"/>
          </a:xfrm>
          <a:custGeom>
            <a:avLst/>
            <a:gdLst/>
            <a:ahLst/>
            <a:cxnLst/>
            <a:rect r="r" b="b" t="t" l="l"/>
            <a:pathLst>
              <a:path h="3093976" w="18909993">
                <a:moveTo>
                  <a:pt x="0" y="0"/>
                </a:moveTo>
                <a:lnTo>
                  <a:pt x="18909993" y="0"/>
                </a:lnTo>
                <a:lnTo>
                  <a:pt x="18909993" y="3093976"/>
                </a:lnTo>
                <a:lnTo>
                  <a:pt x="0" y="3093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8599559" y="1877511"/>
            <a:ext cx="9279989" cy="19050"/>
            <a:chOff x="0" y="0"/>
            <a:chExt cx="12373319" cy="25400"/>
          </a:xfrm>
        </p:grpSpPr>
        <p:sp>
          <p:nvSpPr>
            <p:cNvPr name="Freeform 7" id="7"/>
            <p:cNvSpPr/>
            <p:nvPr/>
          </p:nvSpPr>
          <p:spPr>
            <a:xfrm flipH="false" flipV="false" rot="0">
              <a:off x="12700" y="0"/>
              <a:ext cx="12347956" cy="25400"/>
            </a:xfrm>
            <a:custGeom>
              <a:avLst/>
              <a:gdLst/>
              <a:ahLst/>
              <a:cxnLst/>
              <a:rect r="r" b="b" t="t" l="l"/>
              <a:pathLst>
                <a:path h="25400" w="12347956">
                  <a:moveTo>
                    <a:pt x="279400" y="0"/>
                  </a:moveTo>
                  <a:lnTo>
                    <a:pt x="482600" y="0"/>
                  </a:lnTo>
                  <a:lnTo>
                    <a:pt x="482600" y="25400"/>
                  </a:lnTo>
                  <a:lnTo>
                    <a:pt x="279400" y="25400"/>
                  </a:lnTo>
                  <a:close/>
                  <a:moveTo>
                    <a:pt x="558800" y="0"/>
                  </a:moveTo>
                  <a:lnTo>
                    <a:pt x="762000" y="0"/>
                  </a:lnTo>
                  <a:lnTo>
                    <a:pt x="762000" y="25400"/>
                  </a:lnTo>
                  <a:lnTo>
                    <a:pt x="558800" y="25400"/>
                  </a:lnTo>
                  <a:close/>
                  <a:moveTo>
                    <a:pt x="838200" y="0"/>
                  </a:moveTo>
                  <a:lnTo>
                    <a:pt x="1041400" y="0"/>
                  </a:lnTo>
                  <a:lnTo>
                    <a:pt x="1041400" y="25400"/>
                  </a:lnTo>
                  <a:lnTo>
                    <a:pt x="838200" y="25400"/>
                  </a:lnTo>
                  <a:close/>
                  <a:moveTo>
                    <a:pt x="1117600" y="0"/>
                  </a:moveTo>
                  <a:lnTo>
                    <a:pt x="1320800" y="0"/>
                  </a:lnTo>
                  <a:lnTo>
                    <a:pt x="1320800" y="25400"/>
                  </a:lnTo>
                  <a:lnTo>
                    <a:pt x="1117600" y="25400"/>
                  </a:lnTo>
                  <a:close/>
                  <a:moveTo>
                    <a:pt x="1397000" y="25400"/>
                  </a:moveTo>
                  <a:lnTo>
                    <a:pt x="1600200" y="25400"/>
                  </a:lnTo>
                  <a:lnTo>
                    <a:pt x="1397000" y="25400"/>
                  </a:lnTo>
                  <a:close/>
                  <a:moveTo>
                    <a:pt x="1676400" y="25400"/>
                  </a:moveTo>
                  <a:lnTo>
                    <a:pt x="1879600" y="25400"/>
                  </a:lnTo>
                  <a:lnTo>
                    <a:pt x="1676400" y="25400"/>
                  </a:lnTo>
                  <a:close/>
                  <a:moveTo>
                    <a:pt x="1955800" y="25400"/>
                  </a:moveTo>
                  <a:lnTo>
                    <a:pt x="2159000" y="25400"/>
                  </a:lnTo>
                  <a:lnTo>
                    <a:pt x="1955800" y="25400"/>
                  </a:lnTo>
                  <a:close/>
                  <a:moveTo>
                    <a:pt x="2235200" y="25400"/>
                  </a:moveTo>
                  <a:lnTo>
                    <a:pt x="2438400" y="25400"/>
                  </a:lnTo>
                  <a:lnTo>
                    <a:pt x="2235200" y="25400"/>
                  </a:lnTo>
                  <a:close/>
                  <a:moveTo>
                    <a:pt x="2514600" y="25400"/>
                  </a:moveTo>
                  <a:lnTo>
                    <a:pt x="2717800" y="25400"/>
                  </a:lnTo>
                  <a:lnTo>
                    <a:pt x="2514600" y="25400"/>
                  </a:lnTo>
                  <a:close/>
                  <a:moveTo>
                    <a:pt x="2794000" y="25400"/>
                  </a:moveTo>
                  <a:lnTo>
                    <a:pt x="2997200" y="25400"/>
                  </a:lnTo>
                  <a:lnTo>
                    <a:pt x="2794000" y="25400"/>
                  </a:lnTo>
                  <a:close/>
                  <a:moveTo>
                    <a:pt x="3073400" y="25400"/>
                  </a:moveTo>
                  <a:lnTo>
                    <a:pt x="3276600" y="25400"/>
                  </a:lnTo>
                  <a:lnTo>
                    <a:pt x="3073400" y="25400"/>
                  </a:lnTo>
                  <a:close/>
                  <a:moveTo>
                    <a:pt x="3352800" y="25400"/>
                  </a:moveTo>
                  <a:lnTo>
                    <a:pt x="3556000" y="25400"/>
                  </a:lnTo>
                  <a:lnTo>
                    <a:pt x="3352800" y="25400"/>
                  </a:lnTo>
                  <a:close/>
                  <a:moveTo>
                    <a:pt x="3632200" y="25400"/>
                  </a:moveTo>
                  <a:lnTo>
                    <a:pt x="3835400" y="25400"/>
                  </a:lnTo>
                  <a:lnTo>
                    <a:pt x="3632200" y="25400"/>
                  </a:lnTo>
                  <a:close/>
                  <a:moveTo>
                    <a:pt x="3911600" y="25400"/>
                  </a:moveTo>
                  <a:lnTo>
                    <a:pt x="4114800" y="25400"/>
                  </a:lnTo>
                  <a:lnTo>
                    <a:pt x="3911600" y="25400"/>
                  </a:lnTo>
                  <a:close/>
                  <a:moveTo>
                    <a:pt x="4191000" y="25400"/>
                  </a:moveTo>
                  <a:lnTo>
                    <a:pt x="4394200" y="25400"/>
                  </a:lnTo>
                  <a:lnTo>
                    <a:pt x="4191000" y="25400"/>
                  </a:lnTo>
                  <a:close/>
                  <a:moveTo>
                    <a:pt x="4470400" y="25400"/>
                  </a:moveTo>
                  <a:lnTo>
                    <a:pt x="4673600" y="25400"/>
                  </a:lnTo>
                  <a:lnTo>
                    <a:pt x="4470400" y="25400"/>
                  </a:lnTo>
                  <a:close/>
                  <a:moveTo>
                    <a:pt x="4749800" y="25400"/>
                  </a:moveTo>
                  <a:lnTo>
                    <a:pt x="4953000" y="25400"/>
                  </a:lnTo>
                  <a:lnTo>
                    <a:pt x="4749800" y="25400"/>
                  </a:lnTo>
                  <a:close/>
                  <a:moveTo>
                    <a:pt x="5029200" y="25400"/>
                  </a:moveTo>
                  <a:lnTo>
                    <a:pt x="5232400" y="25400"/>
                  </a:lnTo>
                  <a:lnTo>
                    <a:pt x="5029200" y="25400"/>
                  </a:lnTo>
                  <a:close/>
                  <a:moveTo>
                    <a:pt x="5308600" y="25400"/>
                  </a:moveTo>
                  <a:lnTo>
                    <a:pt x="5511800" y="25400"/>
                  </a:lnTo>
                  <a:lnTo>
                    <a:pt x="5308600" y="25400"/>
                  </a:lnTo>
                  <a:close/>
                  <a:moveTo>
                    <a:pt x="5588000" y="25400"/>
                  </a:moveTo>
                  <a:lnTo>
                    <a:pt x="5791200" y="25400"/>
                  </a:lnTo>
                  <a:lnTo>
                    <a:pt x="5588000" y="25400"/>
                  </a:lnTo>
                  <a:close/>
                  <a:moveTo>
                    <a:pt x="5867400" y="25400"/>
                  </a:moveTo>
                  <a:lnTo>
                    <a:pt x="6070600" y="25400"/>
                  </a:lnTo>
                  <a:lnTo>
                    <a:pt x="5867400" y="25400"/>
                  </a:lnTo>
                  <a:close/>
                  <a:moveTo>
                    <a:pt x="6146800" y="25400"/>
                  </a:moveTo>
                  <a:lnTo>
                    <a:pt x="6350000" y="25400"/>
                  </a:lnTo>
                  <a:lnTo>
                    <a:pt x="6146800" y="25400"/>
                  </a:lnTo>
                  <a:close/>
                  <a:moveTo>
                    <a:pt x="6426200" y="25400"/>
                  </a:moveTo>
                  <a:lnTo>
                    <a:pt x="6629400" y="25400"/>
                  </a:lnTo>
                  <a:lnTo>
                    <a:pt x="6426200" y="25400"/>
                  </a:lnTo>
                  <a:close/>
                  <a:moveTo>
                    <a:pt x="6705600" y="25400"/>
                  </a:moveTo>
                  <a:lnTo>
                    <a:pt x="6908800" y="25400"/>
                  </a:lnTo>
                  <a:lnTo>
                    <a:pt x="6705600" y="25400"/>
                  </a:lnTo>
                  <a:close/>
                  <a:moveTo>
                    <a:pt x="6985000" y="25400"/>
                  </a:moveTo>
                  <a:lnTo>
                    <a:pt x="7188200" y="25400"/>
                  </a:lnTo>
                  <a:lnTo>
                    <a:pt x="6985000" y="25400"/>
                  </a:lnTo>
                  <a:close/>
                  <a:moveTo>
                    <a:pt x="7264400" y="25400"/>
                  </a:moveTo>
                  <a:lnTo>
                    <a:pt x="7467600" y="25400"/>
                  </a:lnTo>
                  <a:lnTo>
                    <a:pt x="7264400" y="25400"/>
                  </a:lnTo>
                  <a:close/>
                  <a:moveTo>
                    <a:pt x="7543800" y="25400"/>
                  </a:moveTo>
                  <a:lnTo>
                    <a:pt x="7747000" y="25400"/>
                  </a:lnTo>
                  <a:lnTo>
                    <a:pt x="7543800" y="25400"/>
                  </a:lnTo>
                  <a:close/>
                  <a:moveTo>
                    <a:pt x="7823200" y="25400"/>
                  </a:moveTo>
                  <a:lnTo>
                    <a:pt x="8026400" y="25400"/>
                  </a:lnTo>
                  <a:lnTo>
                    <a:pt x="7823200" y="25400"/>
                  </a:lnTo>
                  <a:close/>
                  <a:moveTo>
                    <a:pt x="8102600" y="25400"/>
                  </a:moveTo>
                  <a:lnTo>
                    <a:pt x="8305800" y="25400"/>
                  </a:lnTo>
                  <a:lnTo>
                    <a:pt x="8102600" y="25400"/>
                  </a:lnTo>
                  <a:close/>
                  <a:moveTo>
                    <a:pt x="8382000" y="25400"/>
                  </a:moveTo>
                  <a:lnTo>
                    <a:pt x="8585200" y="25400"/>
                  </a:lnTo>
                  <a:lnTo>
                    <a:pt x="8382000" y="25400"/>
                  </a:lnTo>
                  <a:close/>
                  <a:moveTo>
                    <a:pt x="8661400" y="25400"/>
                  </a:moveTo>
                  <a:lnTo>
                    <a:pt x="8864600" y="25400"/>
                  </a:lnTo>
                  <a:lnTo>
                    <a:pt x="8661400" y="25400"/>
                  </a:lnTo>
                  <a:close/>
                  <a:moveTo>
                    <a:pt x="8940800" y="25400"/>
                  </a:moveTo>
                  <a:lnTo>
                    <a:pt x="9144000" y="25400"/>
                  </a:lnTo>
                  <a:lnTo>
                    <a:pt x="8940800" y="25400"/>
                  </a:lnTo>
                  <a:close/>
                  <a:moveTo>
                    <a:pt x="9220200" y="25400"/>
                  </a:moveTo>
                  <a:lnTo>
                    <a:pt x="9423400" y="25400"/>
                  </a:lnTo>
                  <a:lnTo>
                    <a:pt x="9220200" y="25400"/>
                  </a:lnTo>
                  <a:close/>
                  <a:moveTo>
                    <a:pt x="9499600" y="25400"/>
                  </a:moveTo>
                  <a:lnTo>
                    <a:pt x="9702800" y="25400"/>
                  </a:lnTo>
                  <a:lnTo>
                    <a:pt x="9499600" y="25400"/>
                  </a:lnTo>
                  <a:close/>
                  <a:moveTo>
                    <a:pt x="9779000" y="25400"/>
                  </a:moveTo>
                  <a:lnTo>
                    <a:pt x="9982200" y="25400"/>
                  </a:lnTo>
                  <a:lnTo>
                    <a:pt x="9779000" y="25400"/>
                  </a:lnTo>
                  <a:close/>
                  <a:moveTo>
                    <a:pt x="10058400" y="25400"/>
                  </a:moveTo>
                  <a:lnTo>
                    <a:pt x="10261600" y="25400"/>
                  </a:lnTo>
                  <a:lnTo>
                    <a:pt x="10058400" y="25400"/>
                  </a:lnTo>
                  <a:close/>
                  <a:moveTo>
                    <a:pt x="10337800" y="25400"/>
                  </a:moveTo>
                  <a:lnTo>
                    <a:pt x="10541000" y="25400"/>
                  </a:lnTo>
                  <a:lnTo>
                    <a:pt x="10337800" y="25400"/>
                  </a:lnTo>
                  <a:close/>
                  <a:moveTo>
                    <a:pt x="10617200" y="25400"/>
                  </a:moveTo>
                  <a:lnTo>
                    <a:pt x="10820400" y="25400"/>
                  </a:lnTo>
                  <a:lnTo>
                    <a:pt x="10617200" y="25400"/>
                  </a:lnTo>
                  <a:close/>
                  <a:moveTo>
                    <a:pt x="10896600" y="25400"/>
                  </a:moveTo>
                  <a:lnTo>
                    <a:pt x="11099800" y="25400"/>
                  </a:lnTo>
                  <a:lnTo>
                    <a:pt x="10896600" y="25400"/>
                  </a:lnTo>
                  <a:close/>
                  <a:moveTo>
                    <a:pt x="11176000" y="25400"/>
                  </a:moveTo>
                  <a:lnTo>
                    <a:pt x="11379200" y="25400"/>
                  </a:lnTo>
                  <a:lnTo>
                    <a:pt x="11176000" y="25400"/>
                  </a:lnTo>
                  <a:close/>
                  <a:moveTo>
                    <a:pt x="11455400" y="25400"/>
                  </a:moveTo>
                  <a:lnTo>
                    <a:pt x="11658600" y="25400"/>
                  </a:lnTo>
                  <a:lnTo>
                    <a:pt x="11455400" y="25400"/>
                  </a:lnTo>
                  <a:close/>
                  <a:moveTo>
                    <a:pt x="11734800" y="25400"/>
                  </a:moveTo>
                  <a:lnTo>
                    <a:pt x="11938000" y="25400"/>
                  </a:lnTo>
                  <a:lnTo>
                    <a:pt x="11734800" y="25400"/>
                  </a:lnTo>
                  <a:close/>
                  <a:moveTo>
                    <a:pt x="12014200" y="25400"/>
                  </a:moveTo>
                  <a:lnTo>
                    <a:pt x="12217400" y="25400"/>
                  </a:lnTo>
                  <a:lnTo>
                    <a:pt x="12014200" y="25400"/>
                  </a:lnTo>
                  <a:close/>
                  <a:moveTo>
                    <a:pt x="12293600" y="25400"/>
                  </a:moveTo>
                  <a:lnTo>
                    <a:pt x="12347956" y="25400"/>
                  </a:lnTo>
                  <a:lnTo>
                    <a:pt x="12293600" y="25400"/>
                  </a:lnTo>
                  <a:close/>
                  <a:moveTo>
                    <a:pt x="0" y="0"/>
                  </a:moveTo>
                  <a:lnTo>
                    <a:pt x="203200" y="0"/>
                  </a:lnTo>
                  <a:lnTo>
                    <a:pt x="203200" y="25400"/>
                  </a:lnTo>
                  <a:lnTo>
                    <a:pt x="0" y="25400"/>
                  </a:lnTo>
                  <a:close/>
                </a:path>
              </a:pathLst>
            </a:custGeom>
            <a:solidFill>
              <a:srgbClr val="FFFFFF"/>
            </a:solidFill>
          </p:spPr>
        </p:sp>
      </p:grpSp>
      <p:sp>
        <p:nvSpPr>
          <p:cNvPr name="Freeform 8" id="8"/>
          <p:cNvSpPr/>
          <p:nvPr/>
        </p:nvSpPr>
        <p:spPr>
          <a:xfrm flipH="false" flipV="false" rot="0">
            <a:off x="532981" y="2491142"/>
            <a:ext cx="2645269" cy="2396396"/>
          </a:xfrm>
          <a:custGeom>
            <a:avLst/>
            <a:gdLst/>
            <a:ahLst/>
            <a:cxnLst/>
            <a:rect r="r" b="b" t="t" l="l"/>
            <a:pathLst>
              <a:path h="2396396" w="2645269">
                <a:moveTo>
                  <a:pt x="0" y="0"/>
                </a:moveTo>
                <a:lnTo>
                  <a:pt x="2645269" y="0"/>
                </a:lnTo>
                <a:lnTo>
                  <a:pt x="2645269" y="2396395"/>
                </a:lnTo>
                <a:lnTo>
                  <a:pt x="0" y="23963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431160" y="2359737"/>
            <a:ext cx="13828140" cy="2759489"/>
          </a:xfrm>
          <a:custGeom>
            <a:avLst/>
            <a:gdLst/>
            <a:ahLst/>
            <a:cxnLst/>
            <a:rect r="r" b="b" t="t" l="l"/>
            <a:pathLst>
              <a:path h="2759489" w="13828140">
                <a:moveTo>
                  <a:pt x="0" y="0"/>
                </a:moveTo>
                <a:lnTo>
                  <a:pt x="13828140" y="0"/>
                </a:lnTo>
                <a:lnTo>
                  <a:pt x="13828140" y="2759489"/>
                </a:lnTo>
                <a:lnTo>
                  <a:pt x="0" y="27594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057007" y="2837404"/>
            <a:ext cx="2877675" cy="360991"/>
          </a:xfrm>
          <a:prstGeom prst="rect">
            <a:avLst/>
          </a:prstGeom>
        </p:spPr>
        <p:txBody>
          <a:bodyPr anchor="t" rtlCol="false" tIns="0" lIns="0" bIns="0" rIns="0">
            <a:spAutoFit/>
          </a:bodyPr>
          <a:lstStyle/>
          <a:p>
            <a:pPr algn="l">
              <a:lnSpc>
                <a:spcPts val="2807"/>
              </a:lnSpc>
            </a:pPr>
            <a:r>
              <a:rPr lang="en-US" b="true" sz="2005" spc="199">
                <a:solidFill>
                  <a:srgbClr val="FFFFFF"/>
                </a:solidFill>
                <a:latin typeface="Times New Roman Bold"/>
                <a:ea typeface="Times New Roman Bold"/>
                <a:cs typeface="Times New Roman Bold"/>
                <a:sym typeface="Times New Roman Bold"/>
              </a:rPr>
              <a:t>Output and Example</a:t>
            </a:r>
          </a:p>
        </p:txBody>
      </p:sp>
      <p:grpSp>
        <p:nvGrpSpPr>
          <p:cNvPr name="Group 11" id="11"/>
          <p:cNvGrpSpPr/>
          <p:nvPr/>
        </p:nvGrpSpPr>
        <p:grpSpPr>
          <a:xfrm rot="0">
            <a:off x="731520" y="419100"/>
            <a:ext cx="1000760" cy="1000760"/>
            <a:chOff x="0" y="0"/>
            <a:chExt cx="1334347" cy="1334347"/>
          </a:xfrm>
        </p:grpSpPr>
        <p:sp>
          <p:nvSpPr>
            <p:cNvPr name="Freeform 12" id="12"/>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0"/>
              <a:stretch>
                <a:fillRect l="0" t="0" r="3" b="3"/>
              </a:stretch>
            </a:blipFill>
          </p:spPr>
        </p:sp>
      </p:grpSp>
      <p:sp>
        <p:nvSpPr>
          <p:cNvPr name="Freeform 13" id="13"/>
          <p:cNvSpPr/>
          <p:nvPr/>
        </p:nvSpPr>
        <p:spPr>
          <a:xfrm flipH="false" flipV="false" rot="0">
            <a:off x="6651159" y="-387509"/>
            <a:ext cx="11046414" cy="1807369"/>
          </a:xfrm>
          <a:custGeom>
            <a:avLst/>
            <a:gdLst/>
            <a:ahLst/>
            <a:cxnLst/>
            <a:rect r="r" b="b" t="t" l="l"/>
            <a:pathLst>
              <a:path h="1807369" w="11046414">
                <a:moveTo>
                  <a:pt x="0" y="0"/>
                </a:moveTo>
                <a:lnTo>
                  <a:pt x="11046414" y="0"/>
                </a:lnTo>
                <a:lnTo>
                  <a:pt x="11046414" y="1807369"/>
                </a:lnTo>
                <a:lnTo>
                  <a:pt x="0" y="18073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3289600" y="2233583"/>
            <a:ext cx="14589948" cy="2911513"/>
          </a:xfrm>
          <a:custGeom>
            <a:avLst/>
            <a:gdLst/>
            <a:ahLst/>
            <a:cxnLst/>
            <a:rect r="r" b="b" t="t" l="l"/>
            <a:pathLst>
              <a:path h="2911513" w="14589948">
                <a:moveTo>
                  <a:pt x="0" y="0"/>
                </a:moveTo>
                <a:lnTo>
                  <a:pt x="14589948" y="0"/>
                </a:lnTo>
                <a:lnTo>
                  <a:pt x="14589948" y="2911513"/>
                </a:lnTo>
                <a:lnTo>
                  <a:pt x="0" y="29115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2647361" y="5421321"/>
            <a:ext cx="9622421" cy="3752744"/>
          </a:xfrm>
          <a:custGeom>
            <a:avLst/>
            <a:gdLst/>
            <a:ahLst/>
            <a:cxnLst/>
            <a:rect r="r" b="b" t="t" l="l"/>
            <a:pathLst>
              <a:path h="3752744" w="9622421">
                <a:moveTo>
                  <a:pt x="0" y="0"/>
                </a:moveTo>
                <a:lnTo>
                  <a:pt x="9622421" y="0"/>
                </a:lnTo>
                <a:lnTo>
                  <a:pt x="9622421" y="3752744"/>
                </a:lnTo>
                <a:lnTo>
                  <a:pt x="0" y="3752744"/>
                </a:lnTo>
                <a:lnTo>
                  <a:pt x="0" y="0"/>
                </a:lnTo>
                <a:close/>
              </a:path>
            </a:pathLst>
          </a:custGeom>
          <a:blipFill>
            <a:blip r:embed="rId11"/>
            <a:stretch>
              <a:fillRect l="0" t="0" r="0" b="0"/>
            </a:stretch>
          </a:blipFill>
        </p:spPr>
      </p:sp>
      <p:sp>
        <p:nvSpPr>
          <p:cNvPr name="TextBox 16" id="16"/>
          <p:cNvSpPr txBox="true"/>
          <p:nvPr/>
        </p:nvSpPr>
        <p:spPr>
          <a:xfrm rot="0">
            <a:off x="912130" y="2647920"/>
            <a:ext cx="1735231" cy="1939963"/>
          </a:xfrm>
          <a:prstGeom prst="rect">
            <a:avLst/>
          </a:prstGeom>
        </p:spPr>
        <p:txBody>
          <a:bodyPr anchor="t" rtlCol="false" tIns="0" lIns="0" bIns="0" rIns="0">
            <a:spAutoFit/>
          </a:bodyPr>
          <a:lstStyle/>
          <a:p>
            <a:pPr algn="ctr">
              <a:lnSpc>
                <a:spcPts val="7663"/>
              </a:lnSpc>
            </a:pPr>
            <a:r>
              <a:rPr lang="en-US" sz="5471" b="true">
                <a:solidFill>
                  <a:srgbClr val="943232"/>
                </a:solidFill>
                <a:latin typeface="Times New Roman Bold"/>
                <a:ea typeface="Times New Roman Bold"/>
                <a:cs typeface="Times New Roman Bold"/>
                <a:sym typeface="Times New Roman Bold"/>
              </a:rPr>
              <a:t>Core Idea</a:t>
            </a:r>
          </a:p>
        </p:txBody>
      </p:sp>
      <p:sp>
        <p:nvSpPr>
          <p:cNvPr name="TextBox 17" id="17"/>
          <p:cNvSpPr txBox="true"/>
          <p:nvPr/>
        </p:nvSpPr>
        <p:spPr>
          <a:xfrm rot="0">
            <a:off x="2068679" y="61997"/>
            <a:ext cx="3509946" cy="1564470"/>
          </a:xfrm>
          <a:prstGeom prst="rect">
            <a:avLst/>
          </a:prstGeom>
        </p:spPr>
        <p:txBody>
          <a:bodyPr anchor="t" rtlCol="false" tIns="0" lIns="0" bIns="0" rIns="0">
            <a:spAutoFit/>
          </a:bodyPr>
          <a:lstStyle/>
          <a:p>
            <a:pPr algn="l">
              <a:lnSpc>
                <a:spcPts val="6113"/>
              </a:lnSpc>
            </a:pPr>
            <a:r>
              <a:rPr lang="en-US" b="true" sz="5093" spc="0">
                <a:solidFill>
                  <a:srgbClr val="FFFFFF"/>
                </a:solidFill>
                <a:latin typeface="Times New Roman Bold"/>
                <a:ea typeface="Times New Roman Bold"/>
                <a:cs typeface="Times New Roman Bold"/>
                <a:sym typeface="Times New Roman Bold"/>
              </a:rPr>
              <a:t>SLAM Algorithm</a:t>
            </a:r>
          </a:p>
        </p:txBody>
      </p:sp>
      <p:sp>
        <p:nvSpPr>
          <p:cNvPr name="TextBox 18" id="18"/>
          <p:cNvSpPr txBox="true"/>
          <p:nvPr/>
        </p:nvSpPr>
        <p:spPr>
          <a:xfrm rot="0">
            <a:off x="5994203" y="102052"/>
            <a:ext cx="11545720" cy="1558655"/>
          </a:xfrm>
          <a:prstGeom prst="rect">
            <a:avLst/>
          </a:prstGeom>
        </p:spPr>
        <p:txBody>
          <a:bodyPr anchor="t" rtlCol="false" tIns="0" lIns="0" bIns="0" rIns="0">
            <a:spAutoFit/>
          </a:bodyPr>
          <a:lstStyle/>
          <a:p>
            <a:pPr algn="ctr">
              <a:lnSpc>
                <a:spcPts val="3135"/>
              </a:lnSpc>
              <a:spcBef>
                <a:spcPct val="0"/>
              </a:spcBef>
            </a:pPr>
            <a:r>
              <a:rPr lang="en-US" sz="2090">
                <a:solidFill>
                  <a:srgbClr val="FFFFFF"/>
                </a:solidFill>
                <a:latin typeface="Times New Roman"/>
                <a:ea typeface="Times New Roman"/>
                <a:cs typeface="Times New Roman"/>
                <a:sym typeface="Times New Roman"/>
              </a:rPr>
              <a:t>We employ the SLAM (Simultaneous Localization and Mapping) method to enable robots to simultaneously localize themselves and construct maps in unknown environments. With each movement, the robot must not only utilize the existing map to estimate its new position but also update and expand the map based on new sensor observations.</a:t>
            </a:r>
          </a:p>
        </p:txBody>
      </p:sp>
      <p:sp>
        <p:nvSpPr>
          <p:cNvPr name="TextBox 19" id="19"/>
          <p:cNvSpPr txBox="true"/>
          <p:nvPr/>
        </p:nvSpPr>
        <p:spPr>
          <a:xfrm rot="0">
            <a:off x="304705" y="5979124"/>
            <a:ext cx="2873545" cy="348199"/>
          </a:xfrm>
          <a:prstGeom prst="rect">
            <a:avLst/>
          </a:prstGeom>
        </p:spPr>
        <p:txBody>
          <a:bodyPr anchor="t" rtlCol="false" tIns="0" lIns="0" bIns="0" rIns="0">
            <a:spAutoFit/>
          </a:bodyPr>
          <a:lstStyle/>
          <a:p>
            <a:pPr algn="ctr">
              <a:lnSpc>
                <a:spcPts val="2791"/>
              </a:lnSpc>
              <a:spcBef>
                <a:spcPct val="0"/>
              </a:spcBef>
            </a:pPr>
            <a:r>
              <a:rPr lang="en-US" sz="1860">
                <a:solidFill>
                  <a:srgbClr val="FFFFFF"/>
                </a:solidFill>
                <a:latin typeface="Times New Roman"/>
                <a:ea typeface="Times New Roman"/>
                <a:cs typeface="Times New Roman"/>
                <a:sym typeface="Times New Roman"/>
              </a:rPr>
              <a:t>Core Principles and Workflow</a:t>
            </a:r>
          </a:p>
        </p:txBody>
      </p:sp>
      <p:sp>
        <p:nvSpPr>
          <p:cNvPr name="TextBox 20" id="20"/>
          <p:cNvSpPr txBox="true"/>
          <p:nvPr/>
        </p:nvSpPr>
        <p:spPr>
          <a:xfrm rot="0">
            <a:off x="3711783" y="2748881"/>
            <a:ext cx="13828140" cy="1905000"/>
          </a:xfrm>
          <a:prstGeom prst="rect">
            <a:avLst/>
          </a:prstGeom>
        </p:spPr>
        <p:txBody>
          <a:bodyPr anchor="t" rtlCol="false" tIns="0" lIns="0" bIns="0" rIns="0">
            <a:spAutoFit/>
          </a:bodyPr>
          <a:lstStyle/>
          <a:p>
            <a:pPr algn="ctr">
              <a:lnSpc>
                <a:spcPts val="3000"/>
              </a:lnSpc>
              <a:spcBef>
                <a:spcPct val="0"/>
              </a:spcBef>
            </a:pPr>
            <a:r>
              <a:rPr lang="en-US" sz="2000">
                <a:solidFill>
                  <a:srgbClr val="FFFFFF"/>
                </a:solidFill>
                <a:latin typeface="Times New Roman"/>
                <a:ea typeface="Times New Roman"/>
                <a:cs typeface="Times New Roman"/>
                <a:sym typeface="Times New Roman"/>
              </a:rPr>
              <a:t>We use the SLAM (Simultaneous Localization and Mapping) algorithm to help robots simultaneously locate themselves and build a map in unknown environments.</a:t>
            </a:r>
          </a:p>
          <a:p>
            <a:pPr algn="ctr">
              <a:lnSpc>
                <a:spcPts val="3000"/>
              </a:lnSpc>
              <a:spcBef>
                <a:spcPct val="0"/>
              </a:spcBef>
            </a:pPr>
            <a:r>
              <a:rPr lang="en-US" sz="2000">
                <a:solidFill>
                  <a:srgbClr val="FFFFFF"/>
                </a:solidFill>
                <a:latin typeface="Times New Roman"/>
                <a:ea typeface="Times New Roman"/>
                <a:cs typeface="Times New Roman"/>
                <a:sym typeface="Times New Roman"/>
              </a:rPr>
              <a:t>"Simultaneous" means localization and mapping depend on each other and happen in real time — one cannot work without the other.</a:t>
            </a:r>
          </a:p>
          <a:p>
            <a:pPr algn="ctr">
              <a:lnSpc>
                <a:spcPts val="3000"/>
              </a:lnSpc>
              <a:spcBef>
                <a:spcPct val="0"/>
              </a:spcBef>
            </a:pPr>
          </a:p>
          <a:p>
            <a:pPr algn="ctr">
              <a:lnSpc>
                <a:spcPts val="3000"/>
              </a:lnSpc>
              <a:spcBef>
                <a:spcPct val="0"/>
              </a:spcBef>
            </a:pPr>
            <a:r>
              <a:rPr lang="en-US" sz="2000">
                <a:solidFill>
                  <a:srgbClr val="FFFFFF"/>
                </a:solidFill>
                <a:latin typeface="Times New Roman"/>
                <a:ea typeface="Times New Roman"/>
                <a:cs typeface="Times New Roman"/>
                <a:sym typeface="Times New Roman"/>
              </a:rPr>
              <a:t>As the robot moves, it must both estimate its new position using the existing map and update the map with new sensor data.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112936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31520" y="41910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Freeform 8" id="8"/>
          <p:cNvSpPr/>
          <p:nvPr/>
        </p:nvSpPr>
        <p:spPr>
          <a:xfrm flipH="false" flipV="false" rot="0">
            <a:off x="357844" y="3256562"/>
            <a:ext cx="16647065" cy="1352574"/>
          </a:xfrm>
          <a:custGeom>
            <a:avLst/>
            <a:gdLst/>
            <a:ahLst/>
            <a:cxnLst/>
            <a:rect r="r" b="b" t="t" l="l"/>
            <a:pathLst>
              <a:path h="1352574" w="16647065">
                <a:moveTo>
                  <a:pt x="0" y="0"/>
                </a:moveTo>
                <a:lnTo>
                  <a:pt x="16647065" y="0"/>
                </a:lnTo>
                <a:lnTo>
                  <a:pt x="16647065" y="1352574"/>
                </a:lnTo>
                <a:lnTo>
                  <a:pt x="0" y="1352574"/>
                </a:lnTo>
                <a:lnTo>
                  <a:pt x="0" y="0"/>
                </a:lnTo>
                <a:close/>
              </a:path>
            </a:pathLst>
          </a:custGeom>
          <a:blipFill>
            <a:blip r:embed="rId7"/>
            <a:stretch>
              <a:fillRect l="0" t="0" r="0" b="0"/>
            </a:stretch>
          </a:blipFill>
        </p:spPr>
      </p:sp>
      <p:sp>
        <p:nvSpPr>
          <p:cNvPr name="TextBox 9" id="9"/>
          <p:cNvSpPr txBox="true"/>
          <p:nvPr/>
        </p:nvSpPr>
        <p:spPr>
          <a:xfrm rot="0">
            <a:off x="2145845" y="527771"/>
            <a:ext cx="9531211" cy="754214"/>
          </a:xfrm>
          <a:prstGeom prst="rect">
            <a:avLst/>
          </a:prstGeom>
        </p:spPr>
        <p:txBody>
          <a:bodyPr anchor="t" rtlCol="false" tIns="0" lIns="0" bIns="0" rIns="0">
            <a:spAutoFit/>
          </a:bodyPr>
          <a:lstStyle/>
          <a:p>
            <a:pPr algn="l">
              <a:lnSpc>
                <a:spcPts val="5777"/>
              </a:lnSpc>
            </a:pPr>
            <a:r>
              <a:rPr lang="en-US" b="true" sz="4813" spc="0">
                <a:solidFill>
                  <a:srgbClr val="FFFFFF"/>
                </a:solidFill>
                <a:latin typeface="Times New Roman Bold"/>
                <a:ea typeface="Times New Roman Bold"/>
                <a:cs typeface="Times New Roman Bold"/>
                <a:sym typeface="Times New Roman Bold"/>
              </a:rPr>
              <a:t>MAP update</a:t>
            </a:r>
          </a:p>
        </p:txBody>
      </p:sp>
      <p:sp>
        <p:nvSpPr>
          <p:cNvPr name="TextBox 10" id="10"/>
          <p:cNvSpPr txBox="true"/>
          <p:nvPr/>
        </p:nvSpPr>
        <p:spPr>
          <a:xfrm rot="0">
            <a:off x="754741" y="2070394"/>
            <a:ext cx="17533259" cy="995680"/>
          </a:xfrm>
          <a:prstGeom prst="rect">
            <a:avLst/>
          </a:prstGeom>
        </p:spPr>
        <p:txBody>
          <a:bodyPr anchor="t" rtlCol="false" tIns="0" lIns="0" bIns="0" rIns="0">
            <a:spAutoFit/>
          </a:bodyPr>
          <a:lstStyle/>
          <a:p>
            <a:pPr algn="l">
              <a:lnSpc>
                <a:spcPts val="3919"/>
              </a:lnSpc>
              <a:spcBef>
                <a:spcPct val="0"/>
              </a:spcBef>
            </a:pPr>
            <a:r>
              <a:rPr lang="en-US" b="true" sz="2799" spc="277">
                <a:solidFill>
                  <a:srgbClr val="000000"/>
                </a:solidFill>
                <a:latin typeface="Times New Roman Bold"/>
                <a:ea typeface="Times New Roman Bold"/>
                <a:cs typeface="Times New Roman Bold"/>
                <a:sym typeface="Times New Roman Bold"/>
              </a:rPr>
              <a:t>Since the system uses BreezySLAM for real-time localization and mapping, the raw occupancy grid produced in each frame often contains considerable noise and temporal instability</a:t>
            </a:r>
          </a:p>
        </p:txBody>
      </p:sp>
      <p:sp>
        <p:nvSpPr>
          <p:cNvPr name="TextBox 11" id="11"/>
          <p:cNvSpPr txBox="true"/>
          <p:nvPr/>
        </p:nvSpPr>
        <p:spPr>
          <a:xfrm rot="0">
            <a:off x="671075" y="4607560"/>
            <a:ext cx="17346005" cy="995680"/>
          </a:xfrm>
          <a:prstGeom prst="rect">
            <a:avLst/>
          </a:prstGeom>
        </p:spPr>
        <p:txBody>
          <a:bodyPr anchor="t" rtlCol="false" tIns="0" lIns="0" bIns="0" rIns="0">
            <a:spAutoFit/>
          </a:bodyPr>
          <a:lstStyle/>
          <a:p>
            <a:pPr algn="l">
              <a:lnSpc>
                <a:spcPts val="3919"/>
              </a:lnSpc>
              <a:spcBef>
                <a:spcPct val="0"/>
              </a:spcBef>
            </a:pPr>
            <a:r>
              <a:rPr lang="en-US" b="true" sz="2799" spc="277">
                <a:solidFill>
                  <a:srgbClr val="000000"/>
                </a:solidFill>
                <a:latin typeface="Times New Roman Bold"/>
                <a:ea typeface="Times New Roman Bold"/>
                <a:cs typeface="Times New Roman Bold"/>
                <a:sym typeface="Times New Roman Bold"/>
              </a:rPr>
              <a:t>To achieve a clean, stable, and geometrically reliable map, a series of post-processing algorithms were designed for noise suppression, temporal fusion, and structure preservation.</a:t>
            </a:r>
          </a:p>
        </p:txBody>
      </p:sp>
      <p:sp>
        <p:nvSpPr>
          <p:cNvPr name="TextBox 12" id="12"/>
          <p:cNvSpPr txBox="true"/>
          <p:nvPr/>
        </p:nvSpPr>
        <p:spPr>
          <a:xfrm rot="0">
            <a:off x="357844" y="5626119"/>
            <a:ext cx="6208395" cy="3498850"/>
          </a:xfrm>
          <a:prstGeom prst="rect">
            <a:avLst/>
          </a:prstGeom>
        </p:spPr>
        <p:txBody>
          <a:bodyPr anchor="t" rtlCol="false" tIns="0" lIns="0" bIns="0" rIns="0">
            <a:spAutoFit/>
          </a:bodyPr>
          <a:lstStyle/>
          <a:p>
            <a:pPr algn="l">
              <a:lnSpc>
                <a:spcPts val="4059"/>
              </a:lnSpc>
              <a:spcBef>
                <a:spcPct val="0"/>
              </a:spcBef>
            </a:pPr>
            <a:r>
              <a:rPr lang="en-US" b="true" sz="2899" spc="287">
                <a:solidFill>
                  <a:srgbClr val="FB443B"/>
                </a:solidFill>
                <a:latin typeface="Times New Roman Bold"/>
                <a:ea typeface="Times New Roman Bold"/>
                <a:cs typeface="Times New Roman Bold"/>
                <a:sym typeface="Times New Roman Bold"/>
              </a:rPr>
              <a:t>Voting-Based Temporal Fusion</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Implemented in _update_votes()</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Each grid cell keeps two counters:</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 obstacle_votes[y][x] and free_votes[y][x].</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Every new SLAM frame updates these votes:</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Obstacle pixel → add one obstacle vote.</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Free pixel → add one free vote.</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Unknown → ignored.</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Locked cells are excluded from updates.</a:t>
            </a:r>
          </a:p>
        </p:txBody>
      </p:sp>
      <p:sp>
        <p:nvSpPr>
          <p:cNvPr name="AutoShape 13" id="13"/>
          <p:cNvSpPr/>
          <p:nvPr/>
        </p:nvSpPr>
        <p:spPr>
          <a:xfrm>
            <a:off x="5913967" y="6368958"/>
            <a:ext cx="997483" cy="0"/>
          </a:xfrm>
          <a:prstGeom prst="line">
            <a:avLst/>
          </a:prstGeom>
          <a:ln cap="flat" w="38100">
            <a:solidFill>
              <a:srgbClr val="000000"/>
            </a:solidFill>
            <a:prstDash val="solid"/>
            <a:headEnd type="none" len="sm" w="sm"/>
            <a:tailEnd type="arrow" len="sm" w="med"/>
          </a:ln>
        </p:spPr>
      </p:sp>
      <p:sp>
        <p:nvSpPr>
          <p:cNvPr name="TextBox 14" id="14"/>
          <p:cNvSpPr txBox="true"/>
          <p:nvPr/>
        </p:nvSpPr>
        <p:spPr>
          <a:xfrm rot="0">
            <a:off x="7410193" y="5626119"/>
            <a:ext cx="5545937" cy="2527300"/>
          </a:xfrm>
          <a:prstGeom prst="rect">
            <a:avLst/>
          </a:prstGeom>
        </p:spPr>
        <p:txBody>
          <a:bodyPr anchor="t" rtlCol="false" tIns="0" lIns="0" bIns="0" rIns="0">
            <a:spAutoFit/>
          </a:bodyPr>
          <a:lstStyle/>
          <a:p>
            <a:pPr algn="l">
              <a:lnSpc>
                <a:spcPts val="4059"/>
              </a:lnSpc>
              <a:spcBef>
                <a:spcPct val="0"/>
              </a:spcBef>
            </a:pPr>
            <a:r>
              <a:rPr lang="en-US" b="true" sz="2899" spc="287">
                <a:solidFill>
                  <a:srgbClr val="FB443B"/>
                </a:solidFill>
                <a:latin typeface="Times New Roman Bold"/>
                <a:ea typeface="Times New Roman Bold"/>
                <a:cs typeface="Times New Roman Bold"/>
                <a:sym typeface="Times New Roman Bold"/>
              </a:rPr>
              <a:t>Locking Mechanism for Stable Cells</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Implemented in _update_locked_map()</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A cell becomes locked (permanently classified) when votes exceed certain thresholds</a:t>
            </a:r>
          </a:p>
        </p:txBody>
      </p:sp>
      <p:sp>
        <p:nvSpPr>
          <p:cNvPr name="AutoShape 15" id="15"/>
          <p:cNvSpPr/>
          <p:nvPr/>
        </p:nvSpPr>
        <p:spPr>
          <a:xfrm flipV="true">
            <a:off x="12326291" y="6388008"/>
            <a:ext cx="782238" cy="0"/>
          </a:xfrm>
          <a:prstGeom prst="line">
            <a:avLst/>
          </a:prstGeom>
          <a:ln cap="flat" w="38100">
            <a:solidFill>
              <a:srgbClr val="000000"/>
            </a:solidFill>
            <a:prstDash val="solid"/>
            <a:headEnd type="none" len="sm" w="sm"/>
            <a:tailEnd type="arrow" len="sm" w="med"/>
          </a:ln>
        </p:spPr>
      </p:sp>
      <p:sp>
        <p:nvSpPr>
          <p:cNvPr name="TextBox 16" id="16"/>
          <p:cNvSpPr txBox="true"/>
          <p:nvPr/>
        </p:nvSpPr>
        <p:spPr>
          <a:xfrm rot="0">
            <a:off x="13108530" y="5626119"/>
            <a:ext cx="4712250" cy="4241800"/>
          </a:xfrm>
          <a:prstGeom prst="rect">
            <a:avLst/>
          </a:prstGeom>
        </p:spPr>
        <p:txBody>
          <a:bodyPr anchor="t" rtlCol="false" tIns="0" lIns="0" bIns="0" rIns="0">
            <a:spAutoFit/>
          </a:bodyPr>
          <a:lstStyle/>
          <a:p>
            <a:pPr algn="l">
              <a:lnSpc>
                <a:spcPts val="4059"/>
              </a:lnSpc>
              <a:spcBef>
                <a:spcPct val="0"/>
              </a:spcBef>
            </a:pPr>
            <a:r>
              <a:rPr lang="en-US" b="true" sz="2899" spc="287">
                <a:solidFill>
                  <a:srgbClr val="FB443B"/>
                </a:solidFill>
                <a:latin typeface="Times New Roman Bold"/>
                <a:ea typeface="Times New Roman Bold"/>
                <a:cs typeface="Times New Roman Bold"/>
                <a:sym typeface="Times New Roman Bold"/>
              </a:rPr>
              <a:t>Final Map Generation</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Implemented in _generate_final_map()</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Merges locked information with the latest SLAM output:</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Locked cells → from locked_map</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Unlocked cells → from recent slam_map</a:t>
            </a:r>
          </a:p>
          <a:p>
            <a:pPr algn="l">
              <a:lnSpc>
                <a:spcPts val="2940"/>
              </a:lnSpc>
              <a:spcBef>
                <a:spcPct val="0"/>
              </a:spcBef>
            </a:pPr>
            <a:r>
              <a:rPr lang="en-US" b="true" sz="2100" spc="207">
                <a:solidFill>
                  <a:srgbClr val="000000"/>
                </a:solidFill>
                <a:latin typeface="Times New Roman Bold"/>
                <a:ea typeface="Times New Roman Bold"/>
                <a:cs typeface="Times New Roman Bold"/>
                <a:sym typeface="Times New Roman Bold"/>
              </a:rPr>
              <a:t>Produces a clean, fused occupancy grid ready for navigation and exploration.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2" y="-1133913"/>
            <a:ext cx="18522599" cy="3030592"/>
          </a:xfrm>
          <a:custGeom>
            <a:avLst/>
            <a:gdLst/>
            <a:ahLst/>
            <a:cxnLst/>
            <a:rect r="r" b="b" t="t" l="l"/>
            <a:pathLst>
              <a:path h="3030592" w="18522599">
                <a:moveTo>
                  <a:pt x="0" y="0"/>
                </a:moveTo>
                <a:lnTo>
                  <a:pt x="18522599" y="0"/>
                </a:lnTo>
                <a:lnTo>
                  <a:pt x="18522599" y="3030592"/>
                </a:lnTo>
                <a:lnTo>
                  <a:pt x="0" y="3030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sp>
        <p:nvSpPr>
          <p:cNvPr name="Freeform 6" id="6"/>
          <p:cNvSpPr/>
          <p:nvPr/>
        </p:nvSpPr>
        <p:spPr>
          <a:xfrm flipH="false" flipV="false" rot="0">
            <a:off x="1231900" y="2296865"/>
            <a:ext cx="1528385" cy="1384591"/>
          </a:xfrm>
          <a:custGeom>
            <a:avLst/>
            <a:gdLst/>
            <a:ahLst/>
            <a:cxnLst/>
            <a:rect r="r" b="b" t="t" l="l"/>
            <a:pathLst>
              <a:path h="1384591" w="1528385">
                <a:moveTo>
                  <a:pt x="0" y="0"/>
                </a:moveTo>
                <a:lnTo>
                  <a:pt x="1528385" y="0"/>
                </a:lnTo>
                <a:lnTo>
                  <a:pt x="1528385" y="1384591"/>
                </a:lnTo>
                <a:lnTo>
                  <a:pt x="0" y="1384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925700" y="2191954"/>
            <a:ext cx="14393653" cy="1594413"/>
          </a:xfrm>
          <a:custGeom>
            <a:avLst/>
            <a:gdLst/>
            <a:ahLst/>
            <a:cxnLst/>
            <a:rect r="r" b="b" t="t" l="l"/>
            <a:pathLst>
              <a:path h="1594413" w="14393653">
                <a:moveTo>
                  <a:pt x="0" y="0"/>
                </a:moveTo>
                <a:lnTo>
                  <a:pt x="14393653" y="0"/>
                </a:lnTo>
                <a:lnTo>
                  <a:pt x="14393653" y="1594413"/>
                </a:lnTo>
                <a:lnTo>
                  <a:pt x="0" y="1594413"/>
                </a:lnTo>
                <a:lnTo>
                  <a:pt x="0" y="0"/>
                </a:lnTo>
                <a:close/>
              </a:path>
            </a:pathLst>
          </a:custGeom>
          <a:blipFill>
            <a:blip r:embed="rId8">
              <a:extLst>
                <a:ext uri="{96DAC541-7B7A-43D3-8B79-37D633B846F1}">
                  <asvg:svgBlip xmlns:asvg="http://schemas.microsoft.com/office/drawing/2016/SVG/main" r:embed="rId9"/>
                </a:ext>
              </a:extLst>
            </a:blip>
            <a:stretch>
              <a:fillRect l="0" t="-11367" r="0" b="-68782"/>
            </a:stretch>
          </a:blipFill>
        </p:spPr>
      </p:sp>
      <p:grpSp>
        <p:nvGrpSpPr>
          <p:cNvPr name="Group 8" id="8"/>
          <p:cNvGrpSpPr/>
          <p:nvPr/>
        </p:nvGrpSpPr>
        <p:grpSpPr>
          <a:xfrm rot="0">
            <a:off x="731520" y="419100"/>
            <a:ext cx="1000760" cy="1000760"/>
            <a:chOff x="0" y="0"/>
            <a:chExt cx="1334347" cy="1334347"/>
          </a:xfrm>
        </p:grpSpPr>
        <p:sp>
          <p:nvSpPr>
            <p:cNvPr name="Freeform 9" id="9"/>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10"/>
              <a:stretch>
                <a:fillRect l="0" t="0" r="3" b="3"/>
              </a:stretch>
            </a:blipFill>
          </p:spPr>
        </p:sp>
      </p:grpSp>
      <p:sp>
        <p:nvSpPr>
          <p:cNvPr name="Freeform 10" id="10"/>
          <p:cNvSpPr/>
          <p:nvPr/>
        </p:nvSpPr>
        <p:spPr>
          <a:xfrm flipH="false" flipV="false" rot="0">
            <a:off x="15820840" y="4186671"/>
            <a:ext cx="1528385" cy="1384591"/>
          </a:xfrm>
          <a:custGeom>
            <a:avLst/>
            <a:gdLst/>
            <a:ahLst/>
            <a:cxnLst/>
            <a:rect r="r" b="b" t="t" l="l"/>
            <a:pathLst>
              <a:path h="1384591" w="1528385">
                <a:moveTo>
                  <a:pt x="0" y="0"/>
                </a:moveTo>
                <a:lnTo>
                  <a:pt x="1528385" y="0"/>
                </a:lnTo>
                <a:lnTo>
                  <a:pt x="1528385" y="1384591"/>
                </a:lnTo>
                <a:lnTo>
                  <a:pt x="0" y="1384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5600307" y="4321125"/>
            <a:ext cx="1969450" cy="557841"/>
          </a:xfrm>
          <a:prstGeom prst="rect">
            <a:avLst/>
          </a:prstGeom>
        </p:spPr>
        <p:txBody>
          <a:bodyPr anchor="t" rtlCol="false" tIns="0" lIns="0" bIns="0" rIns="0">
            <a:spAutoFit/>
          </a:bodyPr>
          <a:lstStyle/>
          <a:p>
            <a:pPr algn="ctr">
              <a:lnSpc>
                <a:spcPts val="4420"/>
              </a:lnSpc>
            </a:pPr>
            <a:r>
              <a:rPr lang="en-US" sz="3156" b="true">
                <a:solidFill>
                  <a:srgbClr val="943232"/>
                </a:solidFill>
                <a:latin typeface="Times New Roman Bold"/>
                <a:ea typeface="Times New Roman Bold"/>
                <a:cs typeface="Times New Roman Bold"/>
                <a:sym typeface="Times New Roman Bold"/>
              </a:rPr>
              <a:t>core cost</a:t>
            </a:r>
          </a:p>
        </p:txBody>
      </p:sp>
      <p:sp>
        <p:nvSpPr>
          <p:cNvPr name="Freeform 12" id="12"/>
          <p:cNvSpPr/>
          <p:nvPr/>
        </p:nvSpPr>
        <p:spPr>
          <a:xfrm flipH="false" flipV="false" rot="0">
            <a:off x="1231900" y="4081760"/>
            <a:ext cx="14588940" cy="1616045"/>
          </a:xfrm>
          <a:custGeom>
            <a:avLst/>
            <a:gdLst/>
            <a:ahLst/>
            <a:cxnLst/>
            <a:rect r="r" b="b" t="t" l="l"/>
            <a:pathLst>
              <a:path h="1616045" w="14588940">
                <a:moveTo>
                  <a:pt x="0" y="0"/>
                </a:moveTo>
                <a:lnTo>
                  <a:pt x="14588940" y="0"/>
                </a:lnTo>
                <a:lnTo>
                  <a:pt x="14588940" y="1616045"/>
                </a:lnTo>
                <a:lnTo>
                  <a:pt x="0" y="1616045"/>
                </a:lnTo>
                <a:lnTo>
                  <a:pt x="0" y="0"/>
                </a:lnTo>
                <a:close/>
              </a:path>
            </a:pathLst>
          </a:custGeom>
          <a:blipFill>
            <a:blip r:embed="rId8">
              <a:extLst>
                <a:ext uri="{96DAC541-7B7A-43D3-8B79-37D633B846F1}">
                  <asvg:svgBlip xmlns:asvg="http://schemas.microsoft.com/office/drawing/2016/SVG/main" r:embed="rId9"/>
                </a:ext>
              </a:extLst>
            </a:blip>
            <a:stretch>
              <a:fillRect l="0" t="-11367" r="0" b="-68782"/>
            </a:stretch>
          </a:blipFill>
        </p:spPr>
      </p:sp>
      <p:sp>
        <p:nvSpPr>
          <p:cNvPr name="Freeform 13" id="13"/>
          <p:cNvSpPr/>
          <p:nvPr/>
        </p:nvSpPr>
        <p:spPr>
          <a:xfrm flipH="false" flipV="false" rot="0">
            <a:off x="5041784" y="5762011"/>
            <a:ext cx="7878106" cy="3820881"/>
          </a:xfrm>
          <a:custGeom>
            <a:avLst/>
            <a:gdLst/>
            <a:ahLst/>
            <a:cxnLst/>
            <a:rect r="r" b="b" t="t" l="l"/>
            <a:pathLst>
              <a:path h="3820881" w="7878106">
                <a:moveTo>
                  <a:pt x="0" y="0"/>
                </a:moveTo>
                <a:lnTo>
                  <a:pt x="7878106" y="0"/>
                </a:lnTo>
                <a:lnTo>
                  <a:pt x="7878106" y="3820881"/>
                </a:lnTo>
                <a:lnTo>
                  <a:pt x="0" y="3820881"/>
                </a:lnTo>
                <a:lnTo>
                  <a:pt x="0" y="0"/>
                </a:lnTo>
                <a:close/>
              </a:path>
            </a:pathLst>
          </a:custGeom>
          <a:blipFill>
            <a:blip r:embed="rId11"/>
            <a:stretch>
              <a:fillRect l="0" t="0" r="0" b="0"/>
            </a:stretch>
          </a:blipFill>
        </p:spPr>
      </p:sp>
      <p:sp>
        <p:nvSpPr>
          <p:cNvPr name="TextBox 14" id="14"/>
          <p:cNvSpPr txBox="true"/>
          <p:nvPr/>
        </p:nvSpPr>
        <p:spPr>
          <a:xfrm rot="0">
            <a:off x="1448298" y="2305009"/>
            <a:ext cx="1095589" cy="709697"/>
          </a:xfrm>
          <a:prstGeom prst="rect">
            <a:avLst/>
          </a:prstGeom>
        </p:spPr>
        <p:txBody>
          <a:bodyPr anchor="t" rtlCol="false" tIns="0" lIns="0" bIns="0" rIns="0">
            <a:spAutoFit/>
          </a:bodyPr>
          <a:lstStyle/>
          <a:p>
            <a:pPr algn="ctr">
              <a:lnSpc>
                <a:spcPts val="5680"/>
              </a:lnSpc>
            </a:pPr>
            <a:r>
              <a:rPr lang="en-US" sz="4056" b="true">
                <a:solidFill>
                  <a:srgbClr val="943232"/>
                </a:solidFill>
                <a:latin typeface="Times New Roman Bold"/>
                <a:ea typeface="Times New Roman Bold"/>
                <a:cs typeface="Times New Roman Bold"/>
                <a:sym typeface="Times New Roman Bold"/>
              </a:rPr>
              <a:t>core</a:t>
            </a:r>
          </a:p>
        </p:txBody>
      </p:sp>
      <p:sp>
        <p:nvSpPr>
          <p:cNvPr name="TextBox 15" id="15"/>
          <p:cNvSpPr txBox="true"/>
          <p:nvPr/>
        </p:nvSpPr>
        <p:spPr>
          <a:xfrm rot="0">
            <a:off x="3094914" y="2492212"/>
            <a:ext cx="14224439" cy="762000"/>
          </a:xfrm>
          <a:prstGeom prst="rect">
            <a:avLst/>
          </a:prstGeom>
        </p:spPr>
        <p:txBody>
          <a:bodyPr anchor="t" rtlCol="false" tIns="0" lIns="0" bIns="0" rIns="0">
            <a:spAutoFit/>
          </a:bodyPr>
          <a:lstStyle/>
          <a:p>
            <a:pPr algn="l">
              <a:lnSpc>
                <a:spcPts val="3000"/>
              </a:lnSpc>
            </a:pPr>
            <a:r>
              <a:rPr lang="en-US" sz="2000">
                <a:solidFill>
                  <a:srgbClr val="FFFFFF"/>
                </a:solidFill>
                <a:latin typeface="Times New Roman"/>
                <a:ea typeface="Times New Roman"/>
                <a:cs typeface="Times New Roman"/>
                <a:sym typeface="Times New Roman"/>
              </a:rPr>
              <a:t>Each time you expand a grid, you should not only look at "how far you have gone", but also consider "how far you are from the goal".</a:t>
            </a:r>
          </a:p>
          <a:p>
            <a:pPr algn="l">
              <a:lnSpc>
                <a:spcPts val="3000"/>
              </a:lnSpc>
            </a:pPr>
            <a:r>
              <a:rPr lang="en-US" sz="2000">
                <a:solidFill>
                  <a:srgbClr val="FFFFFF"/>
                </a:solidFill>
                <a:latin typeface="Times New Roman"/>
                <a:ea typeface="Times New Roman"/>
                <a:cs typeface="Times New Roman"/>
                <a:sym typeface="Times New Roman"/>
              </a:rPr>
              <a:t>It finds the current point with the greatest hope of approaching the finish line by integrating two parts of information.</a:t>
            </a:r>
          </a:p>
        </p:txBody>
      </p:sp>
      <p:sp>
        <p:nvSpPr>
          <p:cNvPr name="TextBox 16" id="16"/>
          <p:cNvSpPr txBox="true"/>
          <p:nvPr/>
        </p:nvSpPr>
        <p:spPr>
          <a:xfrm rot="0">
            <a:off x="2214880" y="483235"/>
            <a:ext cx="5410552"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A* Algorithm</a:t>
            </a:r>
          </a:p>
        </p:txBody>
      </p:sp>
      <p:sp>
        <p:nvSpPr>
          <p:cNvPr name="TextBox 17" id="17"/>
          <p:cNvSpPr txBox="true"/>
          <p:nvPr/>
        </p:nvSpPr>
        <p:spPr>
          <a:xfrm rot="0">
            <a:off x="8496787" y="125984"/>
            <a:ext cx="9099366" cy="1524000"/>
          </a:xfrm>
          <a:prstGeom prst="rect">
            <a:avLst/>
          </a:prstGeom>
        </p:spPr>
        <p:txBody>
          <a:bodyPr anchor="t" rtlCol="false" tIns="0" lIns="0" bIns="0" rIns="0">
            <a:spAutoFit/>
          </a:bodyPr>
          <a:lstStyle/>
          <a:p>
            <a:pPr algn="l">
              <a:lnSpc>
                <a:spcPts val="3000"/>
              </a:lnSpc>
            </a:pPr>
            <a:r>
              <a:rPr lang="en-US" sz="2000">
                <a:solidFill>
                  <a:srgbClr val="FFFFFF"/>
                </a:solidFill>
                <a:latin typeface="Times New Roman"/>
                <a:ea typeface="Times New Roman"/>
                <a:cs typeface="Times New Roman"/>
                <a:sym typeface="Times New Roman"/>
              </a:rPr>
              <a:t>We use the A* algorithm (A-Star) to plan the optimal path from the starting point to the target point.</a:t>
            </a:r>
          </a:p>
          <a:p>
            <a:pPr algn="l">
              <a:lnSpc>
                <a:spcPts val="3000"/>
              </a:lnSpc>
              <a:spcBef>
                <a:spcPct val="0"/>
              </a:spcBef>
            </a:pPr>
            <a:r>
              <a:rPr lang="en-US" sz="2000">
                <a:solidFill>
                  <a:srgbClr val="FFFFFF"/>
                </a:solidFill>
                <a:latin typeface="Times New Roman"/>
                <a:ea typeface="Times New Roman"/>
                <a:cs typeface="Times New Roman"/>
                <a:sym typeface="Times New Roman"/>
              </a:rPr>
              <a:t>The so-called "optimal" refers to the shortest distance that a path travels under the premise of feasibility.</a:t>
            </a:r>
          </a:p>
        </p:txBody>
      </p:sp>
      <p:sp>
        <p:nvSpPr>
          <p:cNvPr name="TextBox 18" id="18"/>
          <p:cNvSpPr txBox="true"/>
          <p:nvPr/>
        </p:nvSpPr>
        <p:spPr>
          <a:xfrm rot="0">
            <a:off x="1448298" y="2777962"/>
            <a:ext cx="1095589" cy="733427"/>
          </a:xfrm>
          <a:prstGeom prst="rect">
            <a:avLst/>
          </a:prstGeom>
        </p:spPr>
        <p:txBody>
          <a:bodyPr anchor="t" rtlCol="false" tIns="0" lIns="0" bIns="0" rIns="0">
            <a:spAutoFit/>
          </a:bodyPr>
          <a:lstStyle/>
          <a:p>
            <a:pPr algn="ctr">
              <a:lnSpc>
                <a:spcPts val="5999"/>
              </a:lnSpc>
              <a:spcBef>
                <a:spcPct val="0"/>
              </a:spcBef>
            </a:pPr>
            <a:r>
              <a:rPr lang="en-US" b="true" sz="3999">
                <a:solidFill>
                  <a:srgbClr val="943232"/>
                </a:solidFill>
                <a:latin typeface="Times New Roman Bold"/>
                <a:ea typeface="Times New Roman Bold"/>
                <a:cs typeface="Times New Roman Bold"/>
                <a:sym typeface="Times New Roman Bold"/>
              </a:rPr>
              <a:t>idea</a:t>
            </a:r>
          </a:p>
        </p:txBody>
      </p:sp>
      <p:sp>
        <p:nvSpPr>
          <p:cNvPr name="TextBox 19" id="19"/>
          <p:cNvSpPr txBox="true"/>
          <p:nvPr/>
        </p:nvSpPr>
        <p:spPr>
          <a:xfrm rot="0">
            <a:off x="3250369" y="3976867"/>
            <a:ext cx="10197009" cy="1697355"/>
          </a:xfrm>
          <a:prstGeom prst="rect">
            <a:avLst/>
          </a:prstGeom>
        </p:spPr>
        <p:txBody>
          <a:bodyPr anchor="t" rtlCol="false" tIns="0" lIns="0" bIns="0" rIns="0">
            <a:spAutoFit/>
          </a:bodyPr>
          <a:lstStyle/>
          <a:p>
            <a:pPr algn="ctr">
              <a:lnSpc>
                <a:spcPts val="4349"/>
              </a:lnSpc>
            </a:pPr>
            <a:r>
              <a:rPr lang="en-US" sz="2899">
                <a:solidFill>
                  <a:srgbClr val="FFFFFF"/>
                </a:solidFill>
                <a:latin typeface="Times New Roman"/>
                <a:ea typeface="Times New Roman"/>
                <a:cs typeface="Times New Roman"/>
                <a:sym typeface="Times New Roman"/>
              </a:rPr>
              <a:t>f(n)=g(n)+h(n)</a:t>
            </a:r>
          </a:p>
          <a:p>
            <a:pPr algn="ctr">
              <a:lnSpc>
                <a:spcPts val="3000"/>
              </a:lnSpc>
            </a:pPr>
            <a:r>
              <a:rPr lang="en-US" sz="2000">
                <a:solidFill>
                  <a:srgbClr val="FFFFFF"/>
                </a:solidFill>
                <a:latin typeface="Times New Roman"/>
                <a:ea typeface="Times New Roman"/>
                <a:cs typeface="Times New Roman"/>
                <a:sym typeface="Times New Roman"/>
              </a:rPr>
              <a:t>g(n) : The actual cost of walking from the starting point to the current node.</a:t>
            </a:r>
          </a:p>
          <a:p>
            <a:pPr algn="ctr">
              <a:lnSpc>
                <a:spcPts val="3000"/>
              </a:lnSpc>
            </a:pPr>
            <a:r>
              <a:rPr lang="en-US" sz="2000">
                <a:solidFill>
                  <a:srgbClr val="FFFFFF"/>
                </a:solidFill>
                <a:latin typeface="Times New Roman"/>
                <a:ea typeface="Times New Roman"/>
                <a:cs typeface="Times New Roman"/>
                <a:sym typeface="Times New Roman"/>
              </a:rPr>
              <a:t>h(n) : The estimated cost from the current node to the target.</a:t>
            </a:r>
          </a:p>
          <a:p>
            <a:pPr algn="ctr">
              <a:lnSpc>
                <a:spcPts val="3000"/>
              </a:lnSpc>
            </a:pPr>
            <a:r>
              <a:rPr lang="en-US" sz="2000">
                <a:solidFill>
                  <a:srgbClr val="FFFFFF"/>
                </a:solidFill>
                <a:latin typeface="Times New Roman"/>
                <a:ea typeface="Times New Roman"/>
                <a:cs typeface="Times New Roman"/>
                <a:sym typeface="Times New Roman"/>
              </a:rPr>
              <a:t>f(n) : Total cost = Actual + Predicted. The system prioritizes expanding the node with the smallest f.</a:t>
            </a:r>
          </a:p>
        </p:txBody>
      </p:sp>
      <p:sp>
        <p:nvSpPr>
          <p:cNvPr name="TextBox 20" id="20"/>
          <p:cNvSpPr txBox="true"/>
          <p:nvPr/>
        </p:nvSpPr>
        <p:spPr>
          <a:xfrm rot="0">
            <a:off x="15584094" y="4686818"/>
            <a:ext cx="2001877" cy="607696"/>
          </a:xfrm>
          <a:prstGeom prst="rect">
            <a:avLst/>
          </a:prstGeom>
        </p:spPr>
        <p:txBody>
          <a:bodyPr anchor="t" rtlCol="false" tIns="0" lIns="0" bIns="0" rIns="0">
            <a:spAutoFit/>
          </a:bodyPr>
          <a:lstStyle/>
          <a:p>
            <a:pPr algn="ctr">
              <a:lnSpc>
                <a:spcPts val="4949"/>
              </a:lnSpc>
              <a:spcBef>
                <a:spcPct val="0"/>
              </a:spcBef>
            </a:pPr>
            <a:r>
              <a:rPr lang="en-US" b="true" sz="3299">
                <a:solidFill>
                  <a:srgbClr val="943232"/>
                </a:solidFill>
                <a:latin typeface="Times New Roman Bold"/>
                <a:ea typeface="Times New Roman Bold"/>
                <a:cs typeface="Times New Roman Bold"/>
                <a:sym typeface="Times New Roman Bold"/>
              </a:rPr>
              <a:t>function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2" y="-1133913"/>
            <a:ext cx="18522599" cy="3030592"/>
          </a:xfrm>
          <a:custGeom>
            <a:avLst/>
            <a:gdLst/>
            <a:ahLst/>
            <a:cxnLst/>
            <a:rect r="r" b="b" t="t" l="l"/>
            <a:pathLst>
              <a:path h="3030592" w="18522599">
                <a:moveTo>
                  <a:pt x="0" y="0"/>
                </a:moveTo>
                <a:lnTo>
                  <a:pt x="18522599" y="0"/>
                </a:lnTo>
                <a:lnTo>
                  <a:pt x="18522599" y="3030592"/>
                </a:lnTo>
                <a:lnTo>
                  <a:pt x="0" y="3030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31520" y="41910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Freeform 8" id="8"/>
          <p:cNvSpPr/>
          <p:nvPr/>
        </p:nvSpPr>
        <p:spPr>
          <a:xfrm flipH="false" flipV="false" rot="0">
            <a:off x="968088" y="2367622"/>
            <a:ext cx="1528385" cy="1384591"/>
          </a:xfrm>
          <a:custGeom>
            <a:avLst/>
            <a:gdLst/>
            <a:ahLst/>
            <a:cxnLst/>
            <a:rect r="r" b="b" t="t" l="l"/>
            <a:pathLst>
              <a:path h="1384591" w="1528385">
                <a:moveTo>
                  <a:pt x="0" y="0"/>
                </a:moveTo>
                <a:lnTo>
                  <a:pt x="1528384" y="0"/>
                </a:lnTo>
                <a:lnTo>
                  <a:pt x="1528384" y="1384591"/>
                </a:lnTo>
                <a:lnTo>
                  <a:pt x="0" y="13845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671517" y="2059568"/>
            <a:ext cx="15479932" cy="2000698"/>
          </a:xfrm>
          <a:custGeom>
            <a:avLst/>
            <a:gdLst/>
            <a:ahLst/>
            <a:cxnLst/>
            <a:rect r="r" b="b" t="t" l="l"/>
            <a:pathLst>
              <a:path h="2000698" w="15479932">
                <a:moveTo>
                  <a:pt x="0" y="0"/>
                </a:moveTo>
                <a:lnTo>
                  <a:pt x="15479932" y="0"/>
                </a:lnTo>
                <a:lnTo>
                  <a:pt x="15479932" y="2000698"/>
                </a:lnTo>
                <a:lnTo>
                  <a:pt x="0" y="2000698"/>
                </a:lnTo>
                <a:lnTo>
                  <a:pt x="0" y="0"/>
                </a:lnTo>
                <a:close/>
              </a:path>
            </a:pathLst>
          </a:custGeom>
          <a:blipFill>
            <a:blip r:embed="rId9">
              <a:extLst>
                <a:ext uri="{96DAC541-7B7A-43D3-8B79-37D633B846F1}">
                  <asvg:svgBlip xmlns:asvg="http://schemas.microsoft.com/office/drawing/2016/SVG/main" r:embed="rId10"/>
                </a:ext>
              </a:extLst>
            </a:blip>
            <a:stretch>
              <a:fillRect l="0" t="-9091" r="0" b="-45310"/>
            </a:stretch>
          </a:blipFill>
        </p:spPr>
      </p:sp>
      <p:sp>
        <p:nvSpPr>
          <p:cNvPr name="Freeform 10" id="10"/>
          <p:cNvSpPr/>
          <p:nvPr/>
        </p:nvSpPr>
        <p:spPr>
          <a:xfrm flipH="false" flipV="false" rot="0">
            <a:off x="3596738" y="3727872"/>
            <a:ext cx="11940603" cy="5835970"/>
          </a:xfrm>
          <a:custGeom>
            <a:avLst/>
            <a:gdLst/>
            <a:ahLst/>
            <a:cxnLst/>
            <a:rect r="r" b="b" t="t" l="l"/>
            <a:pathLst>
              <a:path h="5835970" w="11940603">
                <a:moveTo>
                  <a:pt x="0" y="0"/>
                </a:moveTo>
                <a:lnTo>
                  <a:pt x="11940603" y="0"/>
                </a:lnTo>
                <a:lnTo>
                  <a:pt x="11940603" y="5835970"/>
                </a:lnTo>
                <a:lnTo>
                  <a:pt x="0" y="5835970"/>
                </a:lnTo>
                <a:lnTo>
                  <a:pt x="0" y="0"/>
                </a:lnTo>
                <a:close/>
              </a:path>
            </a:pathLst>
          </a:custGeom>
          <a:blipFill>
            <a:blip r:embed="rId11"/>
            <a:stretch>
              <a:fillRect l="0" t="0" r="0" b="0"/>
            </a:stretch>
          </a:blipFill>
        </p:spPr>
      </p:sp>
      <p:sp>
        <p:nvSpPr>
          <p:cNvPr name="TextBox 11" id="11"/>
          <p:cNvSpPr txBox="true"/>
          <p:nvPr/>
        </p:nvSpPr>
        <p:spPr>
          <a:xfrm rot="0">
            <a:off x="2214880" y="483235"/>
            <a:ext cx="5410552" cy="847598"/>
          </a:xfrm>
          <a:prstGeom prst="rect">
            <a:avLst/>
          </a:prstGeom>
        </p:spPr>
        <p:txBody>
          <a:bodyPr anchor="t" rtlCol="false" tIns="0" lIns="0" bIns="0" rIns="0">
            <a:spAutoFit/>
          </a:bodyPr>
          <a:lstStyle/>
          <a:p>
            <a:pPr algn="l">
              <a:lnSpc>
                <a:spcPts val="6445"/>
              </a:lnSpc>
            </a:pPr>
            <a:r>
              <a:rPr lang="en-US" b="true" sz="5370" spc="-1">
                <a:solidFill>
                  <a:srgbClr val="FFFFFF"/>
                </a:solidFill>
                <a:latin typeface="Times New Roman Bold"/>
                <a:ea typeface="Times New Roman Bold"/>
                <a:cs typeface="Times New Roman Bold"/>
                <a:sym typeface="Times New Roman Bold"/>
              </a:rPr>
              <a:t>A* Algorithm</a:t>
            </a:r>
          </a:p>
        </p:txBody>
      </p:sp>
      <p:sp>
        <p:nvSpPr>
          <p:cNvPr name="TextBox 12" id="12"/>
          <p:cNvSpPr txBox="true"/>
          <p:nvPr/>
        </p:nvSpPr>
        <p:spPr>
          <a:xfrm rot="0">
            <a:off x="1184485" y="2468582"/>
            <a:ext cx="1095589" cy="616881"/>
          </a:xfrm>
          <a:prstGeom prst="rect">
            <a:avLst/>
          </a:prstGeom>
        </p:spPr>
        <p:txBody>
          <a:bodyPr anchor="t" rtlCol="false" tIns="0" lIns="0" bIns="0" rIns="0">
            <a:spAutoFit/>
          </a:bodyPr>
          <a:lstStyle/>
          <a:p>
            <a:pPr algn="ctr">
              <a:lnSpc>
                <a:spcPts val="4840"/>
              </a:lnSpc>
            </a:pPr>
            <a:r>
              <a:rPr lang="en-US" sz="3456" b="true">
                <a:solidFill>
                  <a:srgbClr val="943232"/>
                </a:solidFill>
                <a:latin typeface="Times New Roman Bold"/>
                <a:ea typeface="Times New Roman Bold"/>
                <a:cs typeface="Times New Roman Bold"/>
                <a:sym typeface="Times New Roman Bold"/>
              </a:rPr>
              <a:t>Path</a:t>
            </a:r>
          </a:p>
        </p:txBody>
      </p:sp>
      <p:sp>
        <p:nvSpPr>
          <p:cNvPr name="TextBox 13" id="13"/>
          <p:cNvSpPr txBox="true"/>
          <p:nvPr/>
        </p:nvSpPr>
        <p:spPr>
          <a:xfrm rot="0">
            <a:off x="3034861" y="2291422"/>
            <a:ext cx="14224439" cy="1905000"/>
          </a:xfrm>
          <a:prstGeom prst="rect">
            <a:avLst/>
          </a:prstGeom>
        </p:spPr>
        <p:txBody>
          <a:bodyPr anchor="t" rtlCol="false" tIns="0" lIns="0" bIns="0" rIns="0">
            <a:spAutoFit/>
          </a:bodyPr>
          <a:lstStyle/>
          <a:p>
            <a:pPr algn="l">
              <a:lnSpc>
                <a:spcPts val="3000"/>
              </a:lnSpc>
            </a:pPr>
            <a:r>
              <a:rPr lang="en-US" sz="2000">
                <a:solidFill>
                  <a:srgbClr val="FFFFFF"/>
                </a:solidFill>
                <a:latin typeface="Times New Roman"/>
                <a:ea typeface="Times New Roman"/>
                <a:cs typeface="Times New Roman"/>
                <a:sym typeface="Times New Roman"/>
              </a:rPr>
              <a:t>The path output by the A* algorithm is a "zigzag line" composed o</a:t>
            </a:r>
            <a:r>
              <a:rPr lang="en-US" sz="2000">
                <a:solidFill>
                  <a:srgbClr val="FFFFFF"/>
                </a:solidFill>
                <a:latin typeface="Times New Roman"/>
                <a:ea typeface="Times New Roman"/>
                <a:cs typeface="Times New Roman"/>
                <a:sym typeface="Times New Roman"/>
              </a:rPr>
              <a:t>f pixel grid points. For example, the output path of A* is:</a:t>
            </a:r>
          </a:p>
          <a:p>
            <a:pPr algn="l">
              <a:lnSpc>
                <a:spcPts val="3000"/>
              </a:lnSpc>
            </a:pPr>
            <a:r>
              <a:rPr lang="en-US" sz="2000">
                <a:solidFill>
                  <a:srgbClr val="FFFFFF"/>
                </a:solidFill>
                <a:latin typeface="Times New Roman"/>
                <a:ea typeface="Times New Roman"/>
                <a:cs typeface="Times New Roman"/>
                <a:sym typeface="Times New Roman"/>
              </a:rPr>
              <a:t>(1,1) → (2,1) → (3,1) → (3,2) → (3,3)</a:t>
            </a:r>
          </a:p>
          <a:p>
            <a:pPr algn="l">
              <a:lnSpc>
                <a:spcPts val="3000"/>
              </a:lnSpc>
            </a:pPr>
            <a:r>
              <a:rPr lang="en-US" sz="2000">
                <a:solidFill>
                  <a:srgbClr val="FFFFFF"/>
                </a:solidFill>
                <a:latin typeface="Times New Roman"/>
                <a:ea typeface="Times New Roman"/>
                <a:cs typeface="Times New Roman"/>
                <a:sym typeface="Times New Roman"/>
              </a:rPr>
              <a:t>But if we don't simplify it, the robot will treat each of these five grids as an independent action to execute</a:t>
            </a:r>
          </a:p>
          <a:p>
            <a:pPr algn="l">
              <a:lnSpc>
                <a:spcPts val="3000"/>
              </a:lnSpc>
            </a:pPr>
          </a:p>
          <a:p>
            <a:pPr algn="l">
              <a:lnSpc>
                <a:spcPts val="3000"/>
              </a:lnSpc>
            </a:pPr>
          </a:p>
        </p:txBody>
      </p:sp>
      <p:sp>
        <p:nvSpPr>
          <p:cNvPr name="TextBox 14" id="14"/>
          <p:cNvSpPr txBox="true"/>
          <p:nvPr/>
        </p:nvSpPr>
        <p:spPr>
          <a:xfrm rot="0">
            <a:off x="910871" y="3009263"/>
            <a:ext cx="1642817" cy="381000"/>
          </a:xfrm>
          <a:prstGeom prst="rect">
            <a:avLst/>
          </a:prstGeom>
        </p:spPr>
        <p:txBody>
          <a:bodyPr anchor="t" rtlCol="false" tIns="0" lIns="0" bIns="0" rIns="0">
            <a:spAutoFit/>
          </a:bodyPr>
          <a:lstStyle/>
          <a:p>
            <a:pPr algn="ctr">
              <a:lnSpc>
                <a:spcPts val="3000"/>
              </a:lnSpc>
              <a:spcBef>
                <a:spcPct val="0"/>
              </a:spcBef>
            </a:pPr>
            <a:r>
              <a:rPr lang="en-US" b="true" sz="2000">
                <a:solidFill>
                  <a:srgbClr val="943232"/>
                </a:solidFill>
                <a:latin typeface="Times New Roman Bold"/>
                <a:ea typeface="Times New Roman Bold"/>
                <a:cs typeface="Times New Roman Bold"/>
                <a:sym typeface="Times New Roman Bold"/>
              </a:rPr>
              <a:t>S</a:t>
            </a:r>
            <a:r>
              <a:rPr lang="en-US" b="true" sz="2000">
                <a:solidFill>
                  <a:srgbClr val="943232"/>
                </a:solidFill>
                <a:latin typeface="Times New Roman Bold"/>
                <a:ea typeface="Times New Roman Bold"/>
                <a:cs typeface="Times New Roman Bold"/>
                <a:sym typeface="Times New Roman Bold"/>
              </a:rPr>
              <a:t>implification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sp>
        <p:nvSpPr>
          <p:cNvPr name="Freeform 6" id="6"/>
          <p:cNvSpPr/>
          <p:nvPr/>
        </p:nvSpPr>
        <p:spPr>
          <a:xfrm flipH="false" flipV="false" rot="0">
            <a:off x="1402158"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432452"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467439"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3502425" y="4304654"/>
            <a:ext cx="3383416" cy="4415641"/>
          </a:xfrm>
          <a:custGeom>
            <a:avLst/>
            <a:gdLst/>
            <a:ahLst/>
            <a:cxnLst/>
            <a:rect r="r" b="b" t="t" l="l"/>
            <a:pathLst>
              <a:path h="4415641" w="3383416">
                <a:moveTo>
                  <a:pt x="0" y="0"/>
                </a:moveTo>
                <a:lnTo>
                  <a:pt x="3383416" y="0"/>
                </a:lnTo>
                <a:lnTo>
                  <a:pt x="3383416" y="4415641"/>
                </a:lnTo>
                <a:lnTo>
                  <a:pt x="0" y="44156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 y="4412114"/>
            <a:ext cx="18432661" cy="239049"/>
          </a:xfrm>
          <a:custGeom>
            <a:avLst/>
            <a:gdLst/>
            <a:ahLst/>
            <a:cxnLst/>
            <a:rect r="r" b="b" t="t" l="l"/>
            <a:pathLst>
              <a:path h="239049" w="18432661">
                <a:moveTo>
                  <a:pt x="0" y="0"/>
                </a:moveTo>
                <a:lnTo>
                  <a:pt x="18432661" y="0"/>
                </a:lnTo>
                <a:lnTo>
                  <a:pt x="18432661" y="239048"/>
                </a:lnTo>
                <a:lnTo>
                  <a:pt x="0" y="2390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718" y="292552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5448012" y="292552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9549673" y="292552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3522049" y="2925520"/>
            <a:ext cx="1329861" cy="1329861"/>
          </a:xfrm>
          <a:custGeom>
            <a:avLst/>
            <a:gdLst/>
            <a:ahLst/>
            <a:cxnLst/>
            <a:rect r="r" b="b" t="t" l="l"/>
            <a:pathLst>
              <a:path h="1329861" w="1329861">
                <a:moveTo>
                  <a:pt x="0" y="0"/>
                </a:moveTo>
                <a:lnTo>
                  <a:pt x="1329861" y="0"/>
                </a:lnTo>
                <a:lnTo>
                  <a:pt x="1329861" y="1329861"/>
                </a:lnTo>
                <a:lnTo>
                  <a:pt x="0" y="13298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867544" y="3385027"/>
            <a:ext cx="430207" cy="410848"/>
          </a:xfrm>
          <a:custGeom>
            <a:avLst/>
            <a:gdLst/>
            <a:ahLst/>
            <a:cxnLst/>
            <a:rect r="r" b="b" t="t" l="l"/>
            <a:pathLst>
              <a:path h="410848" w="430207">
                <a:moveTo>
                  <a:pt x="0" y="0"/>
                </a:moveTo>
                <a:lnTo>
                  <a:pt x="430207" y="0"/>
                </a:lnTo>
                <a:lnTo>
                  <a:pt x="430207" y="410848"/>
                </a:lnTo>
                <a:lnTo>
                  <a:pt x="0" y="410848"/>
                </a:lnTo>
                <a:lnTo>
                  <a:pt x="0" y="0"/>
                </a:lnTo>
                <a:close/>
              </a:path>
            </a:pathLst>
          </a:custGeom>
          <a:blipFill>
            <a:blip r:embed="rId12">
              <a:extLst>
                <a:ext uri="{96DAC541-7B7A-43D3-8B79-37D633B846F1}">
                  <asvg:svgBlip xmlns:asvg="http://schemas.microsoft.com/office/drawing/2016/SVG/main" r:embed="rId13"/>
                </a:ext>
              </a:extLst>
            </a:blip>
            <a:stretch>
              <a:fillRect l="0" t="-79" r="0" b="-79"/>
            </a:stretch>
          </a:blipFill>
        </p:spPr>
      </p:sp>
      <p:sp>
        <p:nvSpPr>
          <p:cNvPr name="Freeform 16" id="16"/>
          <p:cNvSpPr/>
          <p:nvPr/>
        </p:nvSpPr>
        <p:spPr>
          <a:xfrm flipH="false" flipV="false" rot="0">
            <a:off x="5886189" y="3331305"/>
            <a:ext cx="453505" cy="518292"/>
          </a:xfrm>
          <a:custGeom>
            <a:avLst/>
            <a:gdLst/>
            <a:ahLst/>
            <a:cxnLst/>
            <a:rect r="r" b="b" t="t" l="l"/>
            <a:pathLst>
              <a:path h="518292" w="453505">
                <a:moveTo>
                  <a:pt x="0" y="0"/>
                </a:moveTo>
                <a:lnTo>
                  <a:pt x="453505" y="0"/>
                </a:lnTo>
                <a:lnTo>
                  <a:pt x="453505" y="518292"/>
                </a:lnTo>
                <a:lnTo>
                  <a:pt x="0" y="518292"/>
                </a:lnTo>
                <a:lnTo>
                  <a:pt x="0" y="0"/>
                </a:lnTo>
                <a:close/>
              </a:path>
            </a:pathLst>
          </a:custGeom>
          <a:blipFill>
            <a:blip r:embed="rId14">
              <a:extLst>
                <a:ext uri="{96DAC541-7B7A-43D3-8B79-37D633B846F1}">
                  <asvg:svgBlip xmlns:asvg="http://schemas.microsoft.com/office/drawing/2016/SVG/main" r:embed="rId15"/>
                </a:ext>
              </a:extLst>
            </a:blip>
            <a:stretch>
              <a:fillRect l="0" t="-1041" r="0" b="-1041"/>
            </a:stretch>
          </a:blipFill>
        </p:spPr>
      </p:sp>
      <p:sp>
        <p:nvSpPr>
          <p:cNvPr name="Freeform 17" id="17"/>
          <p:cNvSpPr/>
          <p:nvPr/>
        </p:nvSpPr>
        <p:spPr>
          <a:xfrm flipH="false" flipV="false" rot="0">
            <a:off x="9954066" y="3367040"/>
            <a:ext cx="521075" cy="446821"/>
          </a:xfrm>
          <a:custGeom>
            <a:avLst/>
            <a:gdLst/>
            <a:ahLst/>
            <a:cxnLst/>
            <a:rect r="r" b="b" t="t" l="l"/>
            <a:pathLst>
              <a:path h="446821" w="521075">
                <a:moveTo>
                  <a:pt x="0" y="0"/>
                </a:moveTo>
                <a:lnTo>
                  <a:pt x="521075" y="0"/>
                </a:lnTo>
                <a:lnTo>
                  <a:pt x="521075" y="446821"/>
                </a:lnTo>
                <a:lnTo>
                  <a:pt x="0" y="446821"/>
                </a:lnTo>
                <a:lnTo>
                  <a:pt x="0" y="0"/>
                </a:lnTo>
                <a:close/>
              </a:path>
            </a:pathLst>
          </a:custGeom>
          <a:blipFill>
            <a:blip r:embed="rId16">
              <a:extLst>
                <a:ext uri="{96DAC541-7B7A-43D3-8B79-37D633B846F1}">
                  <asvg:svgBlip xmlns:asvg="http://schemas.microsoft.com/office/drawing/2016/SVG/main" r:embed="rId17"/>
                </a:ext>
              </a:extLst>
            </a:blip>
            <a:stretch>
              <a:fillRect l="0" t="-887" r="0" b="-887"/>
            </a:stretch>
          </a:blipFill>
        </p:spPr>
      </p:sp>
      <p:sp>
        <p:nvSpPr>
          <p:cNvPr name="Freeform 18" id="18"/>
          <p:cNvSpPr/>
          <p:nvPr/>
        </p:nvSpPr>
        <p:spPr>
          <a:xfrm flipH="false" flipV="false" rot="0">
            <a:off x="13935710" y="3339182"/>
            <a:ext cx="502538" cy="502538"/>
          </a:xfrm>
          <a:custGeom>
            <a:avLst/>
            <a:gdLst/>
            <a:ahLst/>
            <a:cxnLst/>
            <a:rect r="r" b="b" t="t" l="l"/>
            <a:pathLst>
              <a:path h="502538" w="502538">
                <a:moveTo>
                  <a:pt x="0" y="0"/>
                </a:moveTo>
                <a:lnTo>
                  <a:pt x="502538" y="0"/>
                </a:lnTo>
                <a:lnTo>
                  <a:pt x="502538" y="502538"/>
                </a:lnTo>
                <a:lnTo>
                  <a:pt x="0" y="50253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9" id="19"/>
          <p:cNvGrpSpPr/>
          <p:nvPr/>
        </p:nvGrpSpPr>
        <p:grpSpPr>
          <a:xfrm rot="0">
            <a:off x="731520" y="419100"/>
            <a:ext cx="1000760" cy="1000760"/>
            <a:chOff x="0" y="0"/>
            <a:chExt cx="1334347" cy="1334347"/>
          </a:xfrm>
        </p:grpSpPr>
        <p:sp>
          <p:nvSpPr>
            <p:cNvPr name="Freeform 20" id="20"/>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20"/>
              <a:stretch>
                <a:fillRect l="0" t="0" r="3" b="3"/>
              </a:stretch>
            </a:blipFill>
          </p:spPr>
        </p:sp>
      </p:grpSp>
      <p:sp>
        <p:nvSpPr>
          <p:cNvPr name="TextBox 21" id="21"/>
          <p:cNvSpPr txBox="true"/>
          <p:nvPr/>
        </p:nvSpPr>
        <p:spPr>
          <a:xfrm rot="0">
            <a:off x="5775440" y="6008792"/>
            <a:ext cx="2608659" cy="1143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Reduce the number of frontier candidates in dense areas.</a:t>
            </a:r>
          </a:p>
        </p:txBody>
      </p:sp>
      <p:sp>
        <p:nvSpPr>
          <p:cNvPr name="TextBox 22" id="22"/>
          <p:cNvSpPr txBox="true"/>
          <p:nvPr/>
        </p:nvSpPr>
        <p:spPr>
          <a:xfrm rot="0">
            <a:off x="9204415" y="6290487"/>
            <a:ext cx="3350113" cy="1143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Ensure the candidate frontiers are reachable from the robot’s current position.</a:t>
            </a:r>
          </a:p>
        </p:txBody>
      </p:sp>
      <p:sp>
        <p:nvSpPr>
          <p:cNvPr name="TextBox 23" id="23"/>
          <p:cNvSpPr txBox="true"/>
          <p:nvPr/>
        </p:nvSpPr>
        <p:spPr>
          <a:xfrm rot="0">
            <a:off x="13881698" y="6023834"/>
            <a:ext cx="2624870" cy="1524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Guide exploration toward the global goal once it becomes partially reachable.</a:t>
            </a:r>
          </a:p>
        </p:txBody>
      </p:sp>
      <p:sp>
        <p:nvSpPr>
          <p:cNvPr name="TextBox 24" id="24"/>
          <p:cNvSpPr txBox="true"/>
          <p:nvPr/>
        </p:nvSpPr>
        <p:spPr>
          <a:xfrm rot="0">
            <a:off x="2925245"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01</a:t>
            </a:r>
          </a:p>
        </p:txBody>
      </p:sp>
      <p:sp>
        <p:nvSpPr>
          <p:cNvPr name="TextBox 25" id="25"/>
          <p:cNvSpPr txBox="true"/>
          <p:nvPr/>
        </p:nvSpPr>
        <p:spPr>
          <a:xfrm rot="0">
            <a:off x="6955539"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02</a:t>
            </a:r>
          </a:p>
        </p:txBody>
      </p:sp>
      <p:sp>
        <p:nvSpPr>
          <p:cNvPr name="TextBox 26" id="26"/>
          <p:cNvSpPr txBox="true"/>
          <p:nvPr/>
        </p:nvSpPr>
        <p:spPr>
          <a:xfrm rot="0">
            <a:off x="11057200"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03</a:t>
            </a:r>
          </a:p>
        </p:txBody>
      </p:sp>
      <p:sp>
        <p:nvSpPr>
          <p:cNvPr name="TextBox 27" id="27"/>
          <p:cNvSpPr txBox="true"/>
          <p:nvPr/>
        </p:nvSpPr>
        <p:spPr>
          <a:xfrm rot="0">
            <a:off x="15029576" y="3114250"/>
            <a:ext cx="1074299" cy="933396"/>
          </a:xfrm>
          <a:prstGeom prst="rect">
            <a:avLst/>
          </a:prstGeom>
        </p:spPr>
        <p:txBody>
          <a:bodyPr anchor="t" rtlCol="false" tIns="0" lIns="0" bIns="0" rIns="0">
            <a:spAutoFit/>
          </a:bodyPr>
          <a:lstStyle/>
          <a:p>
            <a:pPr algn="l">
              <a:lnSpc>
                <a:spcPts val="7200"/>
              </a:lnSpc>
            </a:pPr>
            <a:r>
              <a:rPr lang="en-US" sz="6000">
                <a:solidFill>
                  <a:srgbClr val="404040"/>
                </a:solidFill>
                <a:latin typeface="Anton"/>
                <a:ea typeface="Anton"/>
                <a:cs typeface="Anton"/>
                <a:sym typeface="Anton"/>
              </a:rPr>
              <a:t>04</a:t>
            </a:r>
          </a:p>
        </p:txBody>
      </p:sp>
      <p:sp>
        <p:nvSpPr>
          <p:cNvPr name="TextBox 28" id="28"/>
          <p:cNvSpPr txBox="true"/>
          <p:nvPr/>
        </p:nvSpPr>
        <p:spPr>
          <a:xfrm rot="0">
            <a:off x="1708580" y="4727362"/>
            <a:ext cx="2290964" cy="1490980"/>
          </a:xfrm>
          <a:prstGeom prst="rect">
            <a:avLst/>
          </a:prstGeom>
        </p:spPr>
        <p:txBody>
          <a:bodyPr anchor="t" rtlCol="false" tIns="0" lIns="0" bIns="0" rIns="0">
            <a:spAutoFit/>
          </a:bodyPr>
          <a:lstStyle/>
          <a:p>
            <a:pPr algn="l">
              <a:lnSpc>
                <a:spcPts val="3919"/>
              </a:lnSpc>
            </a:pPr>
            <a:r>
              <a:rPr lang="en-US" sz="2799" spc="277" b="true">
                <a:solidFill>
                  <a:srgbClr val="404040"/>
                </a:solidFill>
                <a:latin typeface="Times New Roman Bold"/>
                <a:ea typeface="Times New Roman Bold"/>
                <a:cs typeface="Times New Roman Bold"/>
                <a:sym typeface="Times New Roman Bold"/>
              </a:rPr>
              <a:t>filter by distance</a:t>
            </a:r>
          </a:p>
          <a:p>
            <a:pPr algn="l">
              <a:lnSpc>
                <a:spcPts val="3919"/>
              </a:lnSpc>
            </a:pPr>
          </a:p>
        </p:txBody>
      </p:sp>
      <p:sp>
        <p:nvSpPr>
          <p:cNvPr name="TextBox 29" id="29"/>
          <p:cNvSpPr txBox="true"/>
          <p:nvPr/>
        </p:nvSpPr>
        <p:spPr>
          <a:xfrm rot="0">
            <a:off x="5775440" y="4727362"/>
            <a:ext cx="2254398" cy="1490980"/>
          </a:xfrm>
          <a:prstGeom prst="rect">
            <a:avLst/>
          </a:prstGeom>
        </p:spPr>
        <p:txBody>
          <a:bodyPr anchor="t" rtlCol="false" tIns="0" lIns="0" bIns="0" rIns="0">
            <a:spAutoFit/>
          </a:bodyPr>
          <a:lstStyle/>
          <a:p>
            <a:pPr algn="l">
              <a:lnSpc>
                <a:spcPts val="3919"/>
              </a:lnSpc>
            </a:pPr>
            <a:r>
              <a:rPr lang="en-US" sz="2799" spc="277" b="true">
                <a:solidFill>
                  <a:srgbClr val="404040"/>
                </a:solidFill>
                <a:latin typeface="Times New Roman Bold"/>
                <a:ea typeface="Times New Roman Bold"/>
                <a:cs typeface="Times New Roman Bold"/>
                <a:sym typeface="Times New Roman Bold"/>
              </a:rPr>
              <a:t>spatial sampling</a:t>
            </a:r>
          </a:p>
          <a:p>
            <a:pPr algn="l">
              <a:lnSpc>
                <a:spcPts val="3919"/>
              </a:lnSpc>
            </a:pPr>
          </a:p>
        </p:txBody>
      </p:sp>
      <p:sp>
        <p:nvSpPr>
          <p:cNvPr name="TextBox 30" id="30"/>
          <p:cNvSpPr txBox="true"/>
          <p:nvPr/>
        </p:nvSpPr>
        <p:spPr>
          <a:xfrm rot="0">
            <a:off x="9806468" y="4727362"/>
            <a:ext cx="2611081" cy="1986280"/>
          </a:xfrm>
          <a:prstGeom prst="rect">
            <a:avLst/>
          </a:prstGeom>
        </p:spPr>
        <p:txBody>
          <a:bodyPr anchor="t" rtlCol="false" tIns="0" lIns="0" bIns="0" rIns="0">
            <a:spAutoFit/>
          </a:bodyPr>
          <a:lstStyle/>
          <a:p>
            <a:pPr algn="l">
              <a:lnSpc>
                <a:spcPts val="3919"/>
              </a:lnSpc>
            </a:pPr>
            <a:r>
              <a:rPr lang="en-US" sz="2799" spc="277" b="true">
                <a:solidFill>
                  <a:srgbClr val="404040"/>
                </a:solidFill>
                <a:latin typeface="Times New Roman Bold"/>
                <a:ea typeface="Times New Roman Bold"/>
                <a:cs typeface="Times New Roman Bold"/>
                <a:sym typeface="Times New Roman Bold"/>
              </a:rPr>
              <a:t>filter by connectivity simple</a:t>
            </a:r>
          </a:p>
          <a:p>
            <a:pPr algn="l">
              <a:lnSpc>
                <a:spcPts val="3919"/>
              </a:lnSpc>
            </a:pPr>
          </a:p>
        </p:txBody>
      </p:sp>
      <p:sp>
        <p:nvSpPr>
          <p:cNvPr name="TextBox 31" id="31"/>
          <p:cNvSpPr txBox="true"/>
          <p:nvPr/>
        </p:nvSpPr>
        <p:spPr>
          <a:xfrm rot="0">
            <a:off x="13841455" y="4727362"/>
            <a:ext cx="2437225" cy="1490980"/>
          </a:xfrm>
          <a:prstGeom prst="rect">
            <a:avLst/>
          </a:prstGeom>
        </p:spPr>
        <p:txBody>
          <a:bodyPr anchor="t" rtlCol="false" tIns="0" lIns="0" bIns="0" rIns="0">
            <a:spAutoFit/>
          </a:bodyPr>
          <a:lstStyle/>
          <a:p>
            <a:pPr algn="l">
              <a:lnSpc>
                <a:spcPts val="3919"/>
              </a:lnSpc>
            </a:pPr>
            <a:r>
              <a:rPr lang="en-US" sz="2799" spc="277" b="true">
                <a:solidFill>
                  <a:srgbClr val="404040"/>
                </a:solidFill>
                <a:latin typeface="Times New Roman Bold"/>
                <a:ea typeface="Times New Roman Bold"/>
                <a:cs typeface="Times New Roman Bold"/>
                <a:sym typeface="Times New Roman Bold"/>
              </a:rPr>
              <a:t>filter by goal proximity</a:t>
            </a:r>
          </a:p>
          <a:p>
            <a:pPr algn="l">
              <a:lnSpc>
                <a:spcPts val="3919"/>
              </a:lnSpc>
            </a:pPr>
          </a:p>
        </p:txBody>
      </p:sp>
      <p:sp>
        <p:nvSpPr>
          <p:cNvPr name="TextBox 32" id="32"/>
          <p:cNvSpPr txBox="true"/>
          <p:nvPr/>
        </p:nvSpPr>
        <p:spPr>
          <a:xfrm rot="0">
            <a:off x="2214880" y="483235"/>
            <a:ext cx="11972099" cy="1657286"/>
          </a:xfrm>
          <a:prstGeom prst="rect">
            <a:avLst/>
          </a:prstGeom>
        </p:spPr>
        <p:txBody>
          <a:bodyPr anchor="t" rtlCol="false" tIns="0" lIns="0" bIns="0" rIns="0">
            <a:spAutoFit/>
          </a:bodyPr>
          <a:lstStyle/>
          <a:p>
            <a:pPr algn="l">
              <a:lnSpc>
                <a:spcPts val="6444"/>
              </a:lnSpc>
            </a:pPr>
            <a:r>
              <a:rPr lang="en-US" sz="5370" b="true">
                <a:solidFill>
                  <a:srgbClr val="FFFFFF"/>
                </a:solidFill>
                <a:latin typeface="Times New Roman Bold"/>
                <a:ea typeface="Times New Roman Bold"/>
                <a:cs typeface="Times New Roman Bold"/>
                <a:sym typeface="Times New Roman Bold"/>
              </a:rPr>
              <a:t>Optimized Frontier Explorer</a:t>
            </a:r>
          </a:p>
          <a:p>
            <a:pPr algn="l">
              <a:lnSpc>
                <a:spcPts val="6445"/>
              </a:lnSpc>
            </a:pPr>
          </a:p>
        </p:txBody>
      </p:sp>
      <p:sp>
        <p:nvSpPr>
          <p:cNvPr name="TextBox 33" id="33"/>
          <p:cNvSpPr txBox="true"/>
          <p:nvPr/>
        </p:nvSpPr>
        <p:spPr>
          <a:xfrm rot="0">
            <a:off x="1620916" y="6008792"/>
            <a:ext cx="2608659" cy="2286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Check whether at least 70% of the area around the goal is free of obstacles, ensuring a safe landing zone.</a:t>
            </a:r>
          </a:p>
          <a:p>
            <a:pPr algn="l">
              <a:lnSpc>
                <a:spcPts val="3000"/>
              </a:lnSpc>
            </a:pPr>
          </a:p>
        </p:txBody>
      </p:sp>
      <p:sp>
        <p:nvSpPr>
          <p:cNvPr name="TextBox 34" id="34"/>
          <p:cNvSpPr txBox="true"/>
          <p:nvPr/>
        </p:nvSpPr>
        <p:spPr>
          <a:xfrm rot="0">
            <a:off x="9260938" y="7509687"/>
            <a:ext cx="3435956" cy="1905000"/>
          </a:xfrm>
          <a:prstGeom prst="rect">
            <a:avLst/>
          </a:prstGeom>
        </p:spPr>
        <p:txBody>
          <a:bodyPr anchor="t" rtlCol="false" tIns="0" lIns="0" bIns="0" rIns="0">
            <a:spAutoFit/>
          </a:bodyPr>
          <a:lstStyle/>
          <a:p>
            <a:pPr algn="l">
              <a:lnSpc>
                <a:spcPts val="3000"/>
              </a:lnSpc>
            </a:pPr>
            <a:r>
              <a:rPr lang="en-US" sz="2000">
                <a:solidFill>
                  <a:srgbClr val="404040"/>
                </a:solidFill>
                <a:latin typeface="Times New Roman"/>
                <a:ea typeface="Times New Roman"/>
                <a:cs typeface="Times New Roman"/>
                <a:sym typeface="Times New Roman"/>
              </a:rPr>
              <a:t>Perform a BFS (Breadth-First Search) over “robust free space,” i.e., regions surrounded by a sufficient amount of free cells (≥70%).</a:t>
            </a:r>
          </a:p>
        </p:txBody>
      </p:sp>
      <p:sp>
        <p:nvSpPr>
          <p:cNvPr name="TextBox 35" id="35"/>
          <p:cNvSpPr txBox="true"/>
          <p:nvPr/>
        </p:nvSpPr>
        <p:spPr>
          <a:xfrm rot="0">
            <a:off x="105700" y="1875100"/>
            <a:ext cx="18288000" cy="995680"/>
          </a:xfrm>
          <a:prstGeom prst="rect">
            <a:avLst/>
          </a:prstGeom>
        </p:spPr>
        <p:txBody>
          <a:bodyPr anchor="t" rtlCol="false" tIns="0" lIns="0" bIns="0" rIns="0">
            <a:spAutoFit/>
          </a:bodyPr>
          <a:lstStyle/>
          <a:p>
            <a:pPr algn="ctr">
              <a:lnSpc>
                <a:spcPts val="3919"/>
              </a:lnSpc>
              <a:spcBef>
                <a:spcPct val="0"/>
              </a:spcBef>
            </a:pPr>
            <a:r>
              <a:rPr lang="en-US" b="true" sz="2799" spc="278">
                <a:solidFill>
                  <a:srgbClr val="000000"/>
                </a:solidFill>
                <a:latin typeface="Times New Roman Bold"/>
                <a:ea typeface="Times New Roman Bold"/>
                <a:cs typeface="Times New Roman Bold"/>
                <a:sym typeface="Times New Roman Bold"/>
              </a:rPr>
              <a:t>by introducing multi-layer filtering and prioritization to select the most informative and reachable frontier points efficiently.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7227" y="9544792"/>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sp>
        <p:nvSpPr>
          <p:cNvPr name="Freeform 6" id="6"/>
          <p:cNvSpPr/>
          <p:nvPr/>
        </p:nvSpPr>
        <p:spPr>
          <a:xfrm flipH="false" flipV="false" rot="0">
            <a:off x="-19480" y="3627455"/>
            <a:ext cx="18432661" cy="239049"/>
          </a:xfrm>
          <a:custGeom>
            <a:avLst/>
            <a:gdLst/>
            <a:ahLst/>
            <a:cxnLst/>
            <a:rect r="r" b="b" t="t" l="l"/>
            <a:pathLst>
              <a:path h="239049" w="18432661">
                <a:moveTo>
                  <a:pt x="0" y="0"/>
                </a:moveTo>
                <a:lnTo>
                  <a:pt x="18432661" y="0"/>
                </a:lnTo>
                <a:lnTo>
                  <a:pt x="18432661" y="239049"/>
                </a:lnTo>
                <a:lnTo>
                  <a:pt x="0" y="2390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731520" y="419100"/>
            <a:ext cx="1000760" cy="1000760"/>
            <a:chOff x="0" y="0"/>
            <a:chExt cx="1334347" cy="1334347"/>
          </a:xfrm>
        </p:grpSpPr>
        <p:sp>
          <p:nvSpPr>
            <p:cNvPr name="Freeform 8" id="8"/>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8"/>
              <a:stretch>
                <a:fillRect l="0" t="0" r="3" b="3"/>
              </a:stretch>
            </a:blipFill>
          </p:spPr>
        </p:sp>
      </p:grpSp>
      <p:sp>
        <p:nvSpPr>
          <p:cNvPr name="Freeform 9" id="9"/>
          <p:cNvSpPr/>
          <p:nvPr/>
        </p:nvSpPr>
        <p:spPr>
          <a:xfrm flipH="false" flipV="false" rot="0">
            <a:off x="105700" y="2927931"/>
            <a:ext cx="17639487" cy="2998713"/>
          </a:xfrm>
          <a:custGeom>
            <a:avLst/>
            <a:gdLst/>
            <a:ahLst/>
            <a:cxnLst/>
            <a:rect r="r" b="b" t="t" l="l"/>
            <a:pathLst>
              <a:path h="2998713" w="17639487">
                <a:moveTo>
                  <a:pt x="0" y="0"/>
                </a:moveTo>
                <a:lnTo>
                  <a:pt x="17639487" y="0"/>
                </a:lnTo>
                <a:lnTo>
                  <a:pt x="17639487" y="2998712"/>
                </a:lnTo>
                <a:lnTo>
                  <a:pt x="0" y="2998712"/>
                </a:lnTo>
                <a:lnTo>
                  <a:pt x="0" y="0"/>
                </a:lnTo>
                <a:close/>
              </a:path>
            </a:pathLst>
          </a:custGeom>
          <a:blipFill>
            <a:blip r:embed="rId9"/>
            <a:stretch>
              <a:fillRect l="0" t="0" r="0" b="0"/>
            </a:stretch>
          </a:blipFill>
        </p:spPr>
      </p:sp>
      <p:sp>
        <p:nvSpPr>
          <p:cNvPr name="Freeform 10" id="10"/>
          <p:cNvSpPr/>
          <p:nvPr/>
        </p:nvSpPr>
        <p:spPr>
          <a:xfrm flipH="false" flipV="false" rot="0">
            <a:off x="2214880" y="5926643"/>
            <a:ext cx="14569295" cy="3387361"/>
          </a:xfrm>
          <a:custGeom>
            <a:avLst/>
            <a:gdLst/>
            <a:ahLst/>
            <a:cxnLst/>
            <a:rect r="r" b="b" t="t" l="l"/>
            <a:pathLst>
              <a:path h="3387361" w="14569295">
                <a:moveTo>
                  <a:pt x="0" y="0"/>
                </a:moveTo>
                <a:lnTo>
                  <a:pt x="14569295" y="0"/>
                </a:lnTo>
                <a:lnTo>
                  <a:pt x="14569295" y="3387362"/>
                </a:lnTo>
                <a:lnTo>
                  <a:pt x="0" y="3387362"/>
                </a:lnTo>
                <a:lnTo>
                  <a:pt x="0" y="0"/>
                </a:lnTo>
                <a:close/>
              </a:path>
            </a:pathLst>
          </a:custGeom>
          <a:blipFill>
            <a:blip r:embed="rId10"/>
            <a:stretch>
              <a:fillRect l="0" t="0" r="0" b="0"/>
            </a:stretch>
          </a:blipFill>
        </p:spPr>
      </p:sp>
      <p:sp>
        <p:nvSpPr>
          <p:cNvPr name="TextBox 11" id="11"/>
          <p:cNvSpPr txBox="true"/>
          <p:nvPr/>
        </p:nvSpPr>
        <p:spPr>
          <a:xfrm rot="0">
            <a:off x="2214880" y="483235"/>
            <a:ext cx="11972099" cy="1657286"/>
          </a:xfrm>
          <a:prstGeom prst="rect">
            <a:avLst/>
          </a:prstGeom>
        </p:spPr>
        <p:txBody>
          <a:bodyPr anchor="t" rtlCol="false" tIns="0" lIns="0" bIns="0" rIns="0">
            <a:spAutoFit/>
          </a:bodyPr>
          <a:lstStyle/>
          <a:p>
            <a:pPr algn="l">
              <a:lnSpc>
                <a:spcPts val="6444"/>
              </a:lnSpc>
            </a:pPr>
            <a:r>
              <a:rPr lang="en-US" sz="5370" b="true">
                <a:solidFill>
                  <a:srgbClr val="FFFFFF"/>
                </a:solidFill>
                <a:latin typeface="Times New Roman Bold"/>
                <a:ea typeface="Times New Roman Bold"/>
                <a:cs typeface="Times New Roman Bold"/>
                <a:sym typeface="Times New Roman Bold"/>
              </a:rPr>
              <a:t>Optimized Frontier Explorer</a:t>
            </a:r>
          </a:p>
          <a:p>
            <a:pPr algn="l">
              <a:lnSpc>
                <a:spcPts val="6445"/>
              </a:lnSpc>
            </a:pPr>
          </a:p>
        </p:txBody>
      </p:sp>
      <p:sp>
        <p:nvSpPr>
          <p:cNvPr name="TextBox 12" id="12"/>
          <p:cNvSpPr txBox="true"/>
          <p:nvPr/>
        </p:nvSpPr>
        <p:spPr>
          <a:xfrm rot="0">
            <a:off x="105700" y="1875100"/>
            <a:ext cx="18288000" cy="995680"/>
          </a:xfrm>
          <a:prstGeom prst="rect">
            <a:avLst/>
          </a:prstGeom>
        </p:spPr>
        <p:txBody>
          <a:bodyPr anchor="t" rtlCol="false" tIns="0" lIns="0" bIns="0" rIns="0">
            <a:spAutoFit/>
          </a:bodyPr>
          <a:lstStyle/>
          <a:p>
            <a:pPr algn="ctr">
              <a:lnSpc>
                <a:spcPts val="3919"/>
              </a:lnSpc>
              <a:spcBef>
                <a:spcPct val="0"/>
              </a:spcBef>
            </a:pPr>
            <a:r>
              <a:rPr lang="en-US" b="true" sz="2799" spc="278">
                <a:solidFill>
                  <a:srgbClr val="000000"/>
                </a:solidFill>
                <a:latin typeface="Times New Roman Bold"/>
                <a:ea typeface="Times New Roman Bold"/>
                <a:cs typeface="Times New Roman Bold"/>
                <a:sym typeface="Times New Roman Bold"/>
              </a:rPr>
              <a:t>by introducing multi-layer filtering and prioritization to select the most informative and reachable frontier points efficiently.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112936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31520" y="41910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TextBox 8" id="8"/>
          <p:cNvSpPr txBox="true"/>
          <p:nvPr/>
        </p:nvSpPr>
        <p:spPr>
          <a:xfrm rot="0">
            <a:off x="731520" y="3619500"/>
            <a:ext cx="5069949" cy="3612076"/>
          </a:xfrm>
          <a:prstGeom prst="rect">
            <a:avLst/>
          </a:prstGeom>
        </p:spPr>
        <p:txBody>
          <a:bodyPr anchor="t" rtlCol="false" tIns="0" lIns="0" bIns="0" rIns="0">
            <a:spAutoFit/>
          </a:bodyPr>
          <a:lstStyle/>
          <a:p>
            <a:pPr algn="l">
              <a:lnSpc>
                <a:spcPts val="3163"/>
              </a:lnSpc>
              <a:spcBef>
                <a:spcPct val="0"/>
              </a:spcBef>
            </a:pPr>
            <a:r>
              <a:rPr lang="en-US" sz="2109">
                <a:solidFill>
                  <a:srgbClr val="000000"/>
                </a:solidFill>
                <a:latin typeface="Times New Roman"/>
                <a:ea typeface="Times New Roman"/>
                <a:cs typeface="Times New Roman"/>
                <a:sym typeface="Times New Roman"/>
              </a:rPr>
              <a:t>Defines bidirectional communication f</a:t>
            </a:r>
            <a:r>
              <a:rPr lang="en-US" sz="2109">
                <a:solidFill>
                  <a:srgbClr val="000000"/>
                </a:solidFill>
                <a:latin typeface="Times New Roman"/>
                <a:ea typeface="Times New Roman"/>
                <a:cs typeface="Times New Roman"/>
                <a:sym typeface="Times New Roman"/>
              </a:rPr>
              <a:t>rames between PC and vehicle, ensuring reliable command and telemetry exchange.</a:t>
            </a:r>
          </a:p>
          <a:p>
            <a:pPr algn="l" marL="455379" indent="-227689" lvl="1">
              <a:lnSpc>
                <a:spcPts val="3163"/>
              </a:lnSpc>
              <a:spcBef>
                <a:spcPct val="0"/>
              </a:spcBef>
              <a:buFont typeface="Arial"/>
              <a:buChar char="•"/>
            </a:pPr>
            <a:r>
              <a:rPr lang="en-US" sz="2109">
                <a:solidFill>
                  <a:srgbClr val="000000"/>
                </a:solidFill>
                <a:latin typeface="Times New Roman"/>
                <a:ea typeface="Times New Roman"/>
                <a:cs typeface="Times New Roman"/>
                <a:sym typeface="Times New Roman"/>
              </a:rPr>
              <a:t>send_cmd(cmd_id, turn_rad, distance_m): Sends movement commands to the vehicle.</a:t>
            </a:r>
          </a:p>
          <a:p>
            <a:pPr algn="l" marL="455379" indent="-227689" lvl="1">
              <a:lnSpc>
                <a:spcPts val="3163"/>
              </a:lnSpc>
              <a:spcBef>
                <a:spcPct val="0"/>
              </a:spcBef>
              <a:buFont typeface="Arial"/>
              <a:buChar char="•"/>
            </a:pPr>
            <a:r>
              <a:rPr lang="en-US" sz="2109">
                <a:solidFill>
                  <a:srgbClr val="000000"/>
                </a:solidFill>
                <a:latin typeface="Times New Roman"/>
                <a:ea typeface="Times New Roman"/>
                <a:cs typeface="Times New Roman"/>
                <a:sym typeface="Times New Roman"/>
              </a:rPr>
              <a:t>get_latest_frame(): Retrieves the latest telemetry data frame from the vehicle.</a:t>
            </a:r>
          </a:p>
          <a:p>
            <a:pPr algn="l">
              <a:lnSpc>
                <a:spcPts val="3163"/>
              </a:lnSpc>
              <a:spcBef>
                <a:spcPct val="0"/>
              </a:spcBef>
            </a:pPr>
          </a:p>
        </p:txBody>
      </p:sp>
      <p:graphicFrame>
        <p:nvGraphicFramePr>
          <p:cNvPr name="Table 9" id="9"/>
          <p:cNvGraphicFramePr>
            <a:graphicFrameLocks noGrp="true"/>
          </p:cNvGraphicFramePr>
          <p:nvPr/>
        </p:nvGraphicFramePr>
        <p:xfrm>
          <a:off x="345391" y="2118485"/>
          <a:ext cx="17612661" cy="7440681"/>
        </p:xfrm>
        <a:graphic>
          <a:graphicData uri="http://schemas.openxmlformats.org/drawingml/2006/table">
            <a:tbl>
              <a:tblPr/>
              <a:tblGrid>
                <a:gridCol w="5550510"/>
                <a:gridCol w="5809610"/>
                <a:gridCol w="6252541"/>
              </a:tblGrid>
              <a:tr h="7440681">
                <a:tc>
                  <a:txBody>
                    <a:bodyPr anchor="t" rtlCol="false"/>
                    <a:lstStyle/>
                    <a:p>
                      <a:pPr algn="ctr">
                        <a:lnSpc>
                          <a:spcPts val="28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848991" y="2439303"/>
            <a:ext cx="3750209" cy="995680"/>
          </a:xfrm>
          <a:prstGeom prst="rect">
            <a:avLst/>
          </a:prstGeom>
        </p:spPr>
        <p:txBody>
          <a:bodyPr anchor="t" rtlCol="false" tIns="0" lIns="0" bIns="0" rIns="0">
            <a:spAutoFit/>
          </a:bodyPr>
          <a:lstStyle/>
          <a:p>
            <a:pPr algn="l">
              <a:lnSpc>
                <a:spcPts val="3919"/>
              </a:lnSpc>
            </a:pPr>
            <a:r>
              <a:rPr lang="en-US" sz="2799" spc="277" b="true">
                <a:solidFill>
                  <a:srgbClr val="963D3D"/>
                </a:solidFill>
                <a:latin typeface="Times New Roman Bold"/>
                <a:ea typeface="Times New Roman Bold"/>
                <a:cs typeface="Times New Roman Bold"/>
                <a:sym typeface="Times New Roman Bold"/>
              </a:rPr>
              <a:t>Bluetooth Protocol (BTLink class)</a:t>
            </a:r>
          </a:p>
        </p:txBody>
      </p:sp>
      <p:sp>
        <p:nvSpPr>
          <p:cNvPr name="TextBox 11" id="11"/>
          <p:cNvSpPr txBox="true"/>
          <p:nvPr/>
        </p:nvSpPr>
        <p:spPr>
          <a:xfrm rot="0">
            <a:off x="6137885" y="2391082"/>
            <a:ext cx="5005500"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Lidar Data Processing (build_scan360 function)</a:t>
            </a:r>
          </a:p>
        </p:txBody>
      </p:sp>
      <p:sp>
        <p:nvSpPr>
          <p:cNvPr name="TextBox 12" id="12"/>
          <p:cNvSpPr txBox="true"/>
          <p:nvPr/>
        </p:nvSpPr>
        <p:spPr>
          <a:xfrm rot="0">
            <a:off x="6137885" y="5762625"/>
            <a:ext cx="5005500" cy="995680"/>
          </a:xfrm>
          <a:prstGeom prst="rect">
            <a:avLst/>
          </a:prstGeom>
        </p:spPr>
        <p:txBody>
          <a:bodyPr anchor="t" rtlCol="false" tIns="0" lIns="0" bIns="0" rIns="0">
            <a:spAutoFit/>
          </a:bodyPr>
          <a:lstStyle/>
          <a:p>
            <a:pPr algn="l">
              <a:lnSpc>
                <a:spcPts val="3919"/>
              </a:lnSpc>
            </a:pPr>
            <a:r>
              <a:rPr lang="en-US" b="true" sz="2799" spc="278">
                <a:solidFill>
                  <a:srgbClr val="963D3D"/>
                </a:solidFill>
                <a:latin typeface="Times New Roman Bold"/>
                <a:ea typeface="Times New Roman Bold"/>
                <a:cs typeface="Times New Roman Bold"/>
                <a:sym typeface="Times New Roman Bold"/>
              </a:rPr>
              <a:t>Pose Decoding (ticks_to_motion function)</a:t>
            </a:r>
          </a:p>
        </p:txBody>
      </p:sp>
      <p:sp>
        <p:nvSpPr>
          <p:cNvPr name="TextBox 13" id="13"/>
          <p:cNvSpPr txBox="true"/>
          <p:nvPr/>
        </p:nvSpPr>
        <p:spPr>
          <a:xfrm rot="0">
            <a:off x="2145845" y="527771"/>
            <a:ext cx="9531211" cy="754214"/>
          </a:xfrm>
          <a:prstGeom prst="rect">
            <a:avLst/>
          </a:prstGeom>
        </p:spPr>
        <p:txBody>
          <a:bodyPr anchor="t" rtlCol="false" tIns="0" lIns="0" bIns="0" rIns="0">
            <a:spAutoFit/>
          </a:bodyPr>
          <a:lstStyle/>
          <a:p>
            <a:pPr algn="l">
              <a:lnSpc>
                <a:spcPts val="5777"/>
              </a:lnSpc>
            </a:pPr>
            <a:r>
              <a:rPr lang="en-US" b="true" sz="4813" spc="0">
                <a:solidFill>
                  <a:srgbClr val="FFFFFF"/>
                </a:solidFill>
                <a:latin typeface="Times New Roman Bold"/>
                <a:ea typeface="Times New Roman Bold"/>
                <a:cs typeface="Times New Roman Bold"/>
                <a:sym typeface="Times New Roman Bold"/>
              </a:rPr>
              <a:t>Vehicle Pose Decoding</a:t>
            </a:r>
          </a:p>
        </p:txBody>
      </p:sp>
      <p:sp>
        <p:nvSpPr>
          <p:cNvPr name="TextBox 14" id="14"/>
          <p:cNvSpPr txBox="true"/>
          <p:nvPr/>
        </p:nvSpPr>
        <p:spPr>
          <a:xfrm rot="0">
            <a:off x="11581559" y="-70895"/>
            <a:ext cx="5677741" cy="1904550"/>
          </a:xfrm>
          <a:prstGeom prst="rect">
            <a:avLst/>
          </a:prstGeom>
        </p:spPr>
        <p:txBody>
          <a:bodyPr anchor="t" rtlCol="false" tIns="0" lIns="0" bIns="0" rIns="0">
            <a:spAutoFit/>
          </a:bodyPr>
          <a:lstStyle/>
          <a:p>
            <a:pPr algn="l">
              <a:lnSpc>
                <a:spcPts val="3017"/>
              </a:lnSpc>
              <a:spcBef>
                <a:spcPct val="0"/>
              </a:spcBef>
            </a:pPr>
            <a:r>
              <a:rPr lang="en-US" sz="2011">
                <a:solidFill>
                  <a:srgbClr val="FFFFFF"/>
                </a:solidFill>
                <a:latin typeface="Times New Roman"/>
                <a:ea typeface="Times New Roman"/>
                <a:cs typeface="Times New Roman"/>
                <a:sym typeface="Times New Roman"/>
              </a:rPr>
              <a:t>This module is responsible for collectin</a:t>
            </a:r>
            <a:r>
              <a:rPr lang="en-US" sz="2011">
                <a:solidFill>
                  <a:srgbClr val="FFFFFF"/>
                </a:solidFill>
                <a:latin typeface="Times New Roman"/>
                <a:ea typeface="Times New Roman"/>
                <a:cs typeface="Times New Roman"/>
                <a:sym typeface="Times New Roman"/>
              </a:rPr>
              <a:t>g re</a:t>
            </a:r>
            <a:r>
              <a:rPr lang="en-US" sz="2011">
                <a:solidFill>
                  <a:srgbClr val="FFFFFF"/>
                </a:solidFill>
                <a:latin typeface="Times New Roman"/>
                <a:ea typeface="Times New Roman"/>
                <a:cs typeface="Times New Roman"/>
                <a:sym typeface="Times New Roman"/>
              </a:rPr>
              <a:t>al</a:t>
            </a:r>
            <a:r>
              <a:rPr lang="en-US" sz="2011">
                <a:solidFill>
                  <a:srgbClr val="FFFFFF"/>
                </a:solidFill>
                <a:latin typeface="Times New Roman"/>
                <a:ea typeface="Times New Roman"/>
                <a:cs typeface="Times New Roman"/>
                <a:sym typeface="Times New Roman"/>
              </a:rPr>
              <a:t>-time</a:t>
            </a:r>
            <a:r>
              <a:rPr lang="en-US" sz="2011">
                <a:solidFill>
                  <a:srgbClr val="FFFFFF"/>
                </a:solidFill>
                <a:latin typeface="Times New Roman"/>
                <a:ea typeface="Times New Roman"/>
                <a:cs typeface="Times New Roman"/>
                <a:sym typeface="Times New Roman"/>
              </a:rPr>
              <a:t> </a:t>
            </a:r>
            <a:r>
              <a:rPr lang="en-US" sz="2011">
                <a:solidFill>
                  <a:srgbClr val="FFFFFF"/>
                </a:solidFill>
                <a:latin typeface="Times New Roman"/>
                <a:ea typeface="Times New Roman"/>
                <a:cs typeface="Times New Roman"/>
                <a:sym typeface="Times New Roman"/>
              </a:rPr>
              <a:t>envir</a:t>
            </a:r>
            <a:r>
              <a:rPr lang="en-US" sz="2011">
                <a:solidFill>
                  <a:srgbClr val="FFFFFF"/>
                </a:solidFill>
                <a:latin typeface="Times New Roman"/>
                <a:ea typeface="Times New Roman"/>
                <a:cs typeface="Times New Roman"/>
                <a:sym typeface="Times New Roman"/>
              </a:rPr>
              <a:t>o</a:t>
            </a:r>
            <a:r>
              <a:rPr lang="en-US" sz="2011">
                <a:solidFill>
                  <a:srgbClr val="FFFFFF"/>
                </a:solidFill>
                <a:latin typeface="Times New Roman"/>
                <a:ea typeface="Times New Roman"/>
                <a:cs typeface="Times New Roman"/>
                <a:sym typeface="Times New Roman"/>
              </a:rPr>
              <a:t>n</a:t>
            </a:r>
            <a:r>
              <a:rPr lang="en-US" sz="2011">
                <a:solidFill>
                  <a:srgbClr val="FFFFFF"/>
                </a:solidFill>
                <a:latin typeface="Times New Roman"/>
                <a:ea typeface="Times New Roman"/>
                <a:cs typeface="Times New Roman"/>
                <a:sym typeface="Times New Roman"/>
              </a:rPr>
              <a:t>m</a:t>
            </a:r>
            <a:r>
              <a:rPr lang="en-US" sz="2011">
                <a:solidFill>
                  <a:srgbClr val="FFFFFF"/>
                </a:solidFill>
                <a:latin typeface="Times New Roman"/>
                <a:ea typeface="Times New Roman"/>
                <a:cs typeface="Times New Roman"/>
                <a:sym typeface="Times New Roman"/>
              </a:rPr>
              <a:t>e</a:t>
            </a:r>
            <a:r>
              <a:rPr lang="en-US" sz="2011">
                <a:solidFill>
                  <a:srgbClr val="FFFFFF"/>
                </a:solidFill>
                <a:latin typeface="Times New Roman"/>
                <a:ea typeface="Times New Roman"/>
                <a:cs typeface="Times New Roman"/>
                <a:sym typeface="Times New Roman"/>
              </a:rPr>
              <a:t>nt</a:t>
            </a:r>
            <a:r>
              <a:rPr lang="en-US" sz="2011">
                <a:solidFill>
                  <a:srgbClr val="FFFFFF"/>
                </a:solidFill>
                <a:latin typeface="Times New Roman"/>
                <a:ea typeface="Times New Roman"/>
                <a:cs typeface="Times New Roman"/>
                <a:sym typeface="Times New Roman"/>
              </a:rPr>
              <a:t>a</a:t>
            </a:r>
            <a:r>
              <a:rPr lang="en-US" sz="2011">
                <a:solidFill>
                  <a:srgbClr val="FFFFFF"/>
                </a:solidFill>
                <a:latin typeface="Times New Roman"/>
                <a:ea typeface="Times New Roman"/>
                <a:cs typeface="Times New Roman"/>
                <a:sym typeface="Times New Roman"/>
              </a:rPr>
              <a:t>l </a:t>
            </a:r>
            <a:r>
              <a:rPr lang="en-US" sz="2011">
                <a:solidFill>
                  <a:srgbClr val="FFFFFF"/>
                </a:solidFill>
                <a:latin typeface="Times New Roman"/>
                <a:ea typeface="Times New Roman"/>
                <a:cs typeface="Times New Roman"/>
                <a:sym typeface="Times New Roman"/>
              </a:rPr>
              <a:t>a</a:t>
            </a:r>
            <a:r>
              <a:rPr lang="en-US" sz="2011">
                <a:solidFill>
                  <a:srgbClr val="FFFFFF"/>
                </a:solidFill>
                <a:latin typeface="Times New Roman"/>
                <a:ea typeface="Times New Roman"/>
                <a:cs typeface="Times New Roman"/>
                <a:sym typeface="Times New Roman"/>
              </a:rPr>
              <a:t>nd vehicle state data through various onboard sensors. It processes ra</a:t>
            </a:r>
            <a:r>
              <a:rPr lang="en-US" sz="2011">
                <a:solidFill>
                  <a:srgbClr val="FFFFFF"/>
                </a:solidFill>
                <a:latin typeface="Times New Roman"/>
                <a:ea typeface="Times New Roman"/>
                <a:cs typeface="Times New Roman"/>
                <a:sym typeface="Times New Roman"/>
              </a:rPr>
              <a:t>w </a:t>
            </a:r>
            <a:r>
              <a:rPr lang="en-US" sz="2011">
                <a:solidFill>
                  <a:srgbClr val="FFFFFF"/>
                </a:solidFill>
                <a:latin typeface="Times New Roman"/>
                <a:ea typeface="Times New Roman"/>
                <a:cs typeface="Times New Roman"/>
                <a:sym typeface="Times New Roman"/>
              </a:rPr>
              <a:t>d</a:t>
            </a:r>
            <a:r>
              <a:rPr lang="en-US" sz="2011">
                <a:solidFill>
                  <a:srgbClr val="FFFFFF"/>
                </a:solidFill>
                <a:latin typeface="Times New Roman"/>
                <a:ea typeface="Times New Roman"/>
                <a:cs typeface="Times New Roman"/>
                <a:sym typeface="Times New Roman"/>
              </a:rPr>
              <a:t>ata</a:t>
            </a:r>
            <a:r>
              <a:rPr lang="en-US" sz="2011">
                <a:solidFill>
                  <a:srgbClr val="FFFFFF"/>
                </a:solidFill>
                <a:latin typeface="Times New Roman"/>
                <a:ea typeface="Times New Roman"/>
                <a:cs typeface="Times New Roman"/>
                <a:sym typeface="Times New Roman"/>
              </a:rPr>
              <a:t> t</a:t>
            </a:r>
            <a:r>
              <a:rPr lang="en-US" sz="2011">
                <a:solidFill>
                  <a:srgbClr val="FFFFFF"/>
                </a:solidFill>
                <a:latin typeface="Times New Roman"/>
                <a:ea typeface="Times New Roman"/>
                <a:cs typeface="Times New Roman"/>
                <a:sym typeface="Times New Roman"/>
              </a:rPr>
              <a:t>o f</a:t>
            </a:r>
            <a:r>
              <a:rPr lang="en-US" sz="2011">
                <a:solidFill>
                  <a:srgbClr val="FFFFFF"/>
                </a:solidFill>
                <a:latin typeface="Times New Roman"/>
                <a:ea typeface="Times New Roman"/>
                <a:cs typeface="Times New Roman"/>
                <a:sym typeface="Times New Roman"/>
              </a:rPr>
              <a:t>i</a:t>
            </a:r>
            <a:r>
              <a:rPr lang="en-US" sz="2011">
                <a:solidFill>
                  <a:srgbClr val="FFFFFF"/>
                </a:solidFill>
                <a:latin typeface="Times New Roman"/>
                <a:ea typeface="Times New Roman"/>
                <a:cs typeface="Times New Roman"/>
                <a:sym typeface="Times New Roman"/>
              </a:rPr>
              <a:t>lter </a:t>
            </a:r>
            <a:r>
              <a:rPr lang="en-US" sz="2011">
                <a:solidFill>
                  <a:srgbClr val="FFFFFF"/>
                </a:solidFill>
                <a:latin typeface="Times New Roman"/>
                <a:ea typeface="Times New Roman"/>
                <a:cs typeface="Times New Roman"/>
                <a:sym typeface="Times New Roman"/>
              </a:rPr>
              <a:t>n</a:t>
            </a:r>
            <a:r>
              <a:rPr lang="en-US" sz="2011">
                <a:solidFill>
                  <a:srgbClr val="FFFFFF"/>
                </a:solidFill>
                <a:latin typeface="Times New Roman"/>
                <a:ea typeface="Times New Roman"/>
                <a:cs typeface="Times New Roman"/>
                <a:sym typeface="Times New Roman"/>
              </a:rPr>
              <a:t>oise</a:t>
            </a:r>
            <a:r>
              <a:rPr lang="en-US" sz="2011">
                <a:solidFill>
                  <a:srgbClr val="FFFFFF"/>
                </a:solidFill>
                <a:latin typeface="Times New Roman"/>
                <a:ea typeface="Times New Roman"/>
                <a:cs typeface="Times New Roman"/>
                <a:sym typeface="Times New Roman"/>
              </a:rPr>
              <a:t> and </a:t>
            </a:r>
            <a:r>
              <a:rPr lang="en-US" sz="2011">
                <a:solidFill>
                  <a:srgbClr val="FFFFFF"/>
                </a:solidFill>
                <a:latin typeface="Times New Roman"/>
                <a:ea typeface="Times New Roman"/>
                <a:cs typeface="Times New Roman"/>
                <a:sym typeface="Times New Roman"/>
              </a:rPr>
              <a:t>ex</a:t>
            </a:r>
            <a:r>
              <a:rPr lang="en-US" sz="2011">
                <a:solidFill>
                  <a:srgbClr val="FFFFFF"/>
                </a:solidFill>
                <a:latin typeface="Times New Roman"/>
                <a:ea typeface="Times New Roman"/>
                <a:cs typeface="Times New Roman"/>
                <a:sym typeface="Times New Roman"/>
              </a:rPr>
              <a:t>t</a:t>
            </a:r>
            <a:r>
              <a:rPr lang="en-US" sz="2011">
                <a:solidFill>
                  <a:srgbClr val="FFFFFF"/>
                </a:solidFill>
                <a:latin typeface="Times New Roman"/>
                <a:ea typeface="Times New Roman"/>
                <a:cs typeface="Times New Roman"/>
                <a:sym typeface="Times New Roman"/>
              </a:rPr>
              <a:t>r</a:t>
            </a:r>
            <a:r>
              <a:rPr lang="en-US" sz="2011">
                <a:solidFill>
                  <a:srgbClr val="FFFFFF"/>
                </a:solidFill>
                <a:latin typeface="Times New Roman"/>
                <a:ea typeface="Times New Roman"/>
                <a:cs typeface="Times New Roman"/>
                <a:sym typeface="Times New Roman"/>
              </a:rPr>
              <a:t>a</a:t>
            </a:r>
            <a:r>
              <a:rPr lang="en-US" sz="2011">
                <a:solidFill>
                  <a:srgbClr val="FFFFFF"/>
                </a:solidFill>
                <a:latin typeface="Times New Roman"/>
                <a:ea typeface="Times New Roman"/>
                <a:cs typeface="Times New Roman"/>
                <a:sym typeface="Times New Roman"/>
              </a:rPr>
              <a:t>c</a:t>
            </a:r>
            <a:r>
              <a:rPr lang="en-US" sz="2011">
                <a:solidFill>
                  <a:srgbClr val="FFFFFF"/>
                </a:solidFill>
                <a:latin typeface="Times New Roman"/>
                <a:ea typeface="Times New Roman"/>
                <a:cs typeface="Times New Roman"/>
                <a:sym typeface="Times New Roman"/>
              </a:rPr>
              <a:t>t </a:t>
            </a:r>
            <a:r>
              <a:rPr lang="en-US" sz="2011">
                <a:solidFill>
                  <a:srgbClr val="FFFFFF"/>
                </a:solidFill>
                <a:latin typeface="Times New Roman"/>
                <a:ea typeface="Times New Roman"/>
                <a:cs typeface="Times New Roman"/>
                <a:sym typeface="Times New Roman"/>
              </a:rPr>
              <a:t>k</a:t>
            </a:r>
            <a:r>
              <a:rPr lang="en-US" sz="2011">
                <a:solidFill>
                  <a:srgbClr val="FFFFFF"/>
                </a:solidFill>
                <a:latin typeface="Times New Roman"/>
                <a:ea typeface="Times New Roman"/>
                <a:cs typeface="Times New Roman"/>
                <a:sym typeface="Times New Roman"/>
              </a:rPr>
              <a:t>e</a:t>
            </a:r>
            <a:r>
              <a:rPr lang="en-US" sz="2011">
                <a:solidFill>
                  <a:srgbClr val="FFFFFF"/>
                </a:solidFill>
                <a:latin typeface="Times New Roman"/>
                <a:ea typeface="Times New Roman"/>
                <a:cs typeface="Times New Roman"/>
                <a:sym typeface="Times New Roman"/>
              </a:rPr>
              <a:t>y f</a:t>
            </a:r>
            <a:r>
              <a:rPr lang="en-US" sz="2011">
                <a:solidFill>
                  <a:srgbClr val="FFFFFF"/>
                </a:solidFill>
                <a:latin typeface="Times New Roman"/>
                <a:ea typeface="Times New Roman"/>
                <a:cs typeface="Times New Roman"/>
                <a:sym typeface="Times New Roman"/>
              </a:rPr>
              <a:t>ea</a:t>
            </a:r>
            <a:r>
              <a:rPr lang="en-US" sz="2011">
                <a:solidFill>
                  <a:srgbClr val="FFFFFF"/>
                </a:solidFill>
                <a:latin typeface="Times New Roman"/>
                <a:ea typeface="Times New Roman"/>
                <a:cs typeface="Times New Roman"/>
                <a:sym typeface="Times New Roman"/>
              </a:rPr>
              <a:t>tures</a:t>
            </a:r>
            <a:r>
              <a:rPr lang="en-US" sz="2011">
                <a:solidFill>
                  <a:srgbClr val="FFFFFF"/>
                </a:solidFill>
                <a:latin typeface="Times New Roman"/>
                <a:ea typeface="Times New Roman"/>
                <a:cs typeface="Times New Roman"/>
                <a:sym typeface="Times New Roman"/>
              </a:rPr>
              <a:t>, ensuring reliable input for subsequent decision-making and control modules.</a:t>
            </a:r>
          </a:p>
        </p:txBody>
      </p:sp>
      <p:sp>
        <p:nvSpPr>
          <p:cNvPr name="TextBox 15" id="15"/>
          <p:cNvSpPr txBox="true"/>
          <p:nvPr/>
        </p:nvSpPr>
        <p:spPr>
          <a:xfrm rot="0">
            <a:off x="5902944" y="3619500"/>
            <a:ext cx="5005500" cy="2286000"/>
          </a:xfrm>
          <a:prstGeom prst="rect">
            <a:avLst/>
          </a:prstGeom>
        </p:spPr>
        <p:txBody>
          <a:bodyPr anchor="t" rtlCol="false" tIns="0" lIns="0" bIns="0" rIns="0">
            <a:spAutoFit/>
          </a:bodyPr>
          <a:lstStyle/>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Input: R</a:t>
            </a:r>
            <a:r>
              <a:rPr lang="en-US" sz="2000">
                <a:solidFill>
                  <a:srgbClr val="000000"/>
                </a:solidFill>
                <a:latin typeface="Times New Roman"/>
                <a:ea typeface="Times New Roman"/>
                <a:cs typeface="Times New Roman"/>
                <a:sym typeface="Times New Roman"/>
              </a:rPr>
              <a:t>aw LidarPoint list with quality, angle_q6, distance_q2.</a:t>
            </a:r>
          </a:p>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Process: Decodes, aggregates by angle, interpolates gaps, reorders to CCW.</a:t>
            </a:r>
          </a:p>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Output: A 360-element list of ranges in mm.</a:t>
            </a:r>
          </a:p>
          <a:p>
            <a:pPr algn="just">
              <a:lnSpc>
                <a:spcPts val="3000"/>
              </a:lnSpc>
              <a:spcBef>
                <a:spcPct val="0"/>
              </a:spcBef>
            </a:pPr>
          </a:p>
        </p:txBody>
      </p:sp>
      <p:sp>
        <p:nvSpPr>
          <p:cNvPr name="TextBox 16" id="16"/>
          <p:cNvSpPr txBox="true"/>
          <p:nvPr/>
        </p:nvSpPr>
        <p:spPr>
          <a:xfrm rot="0">
            <a:off x="5902944" y="7053024"/>
            <a:ext cx="5005500" cy="2286000"/>
          </a:xfrm>
          <a:prstGeom prst="rect">
            <a:avLst/>
          </a:prstGeom>
        </p:spPr>
        <p:txBody>
          <a:bodyPr anchor="t" rtlCol="false" tIns="0" lIns="0" bIns="0" rIns="0">
            <a:spAutoFit/>
          </a:bodyPr>
          <a:lstStyle/>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Input: Prev</a:t>
            </a:r>
            <a:r>
              <a:rPr lang="en-US" sz="2000">
                <a:solidFill>
                  <a:srgbClr val="000000"/>
                </a:solidFill>
                <a:latin typeface="Times New Roman"/>
                <a:ea typeface="Times New Roman"/>
                <a:cs typeface="Times New Roman"/>
                <a:sym typeface="Times New Roman"/>
              </a:rPr>
              <a:t>ious and current encoder ticks (encoder_l, encoder_r, time_us).</a:t>
            </a:r>
          </a:p>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Process: Uses WheelGeom params to compute (dxy_mm, dtheta_deg, dt_s).</a:t>
            </a:r>
          </a:p>
          <a:p>
            <a:pPr algn="just"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Output: Velocities for SLAM.</a:t>
            </a:r>
          </a:p>
          <a:p>
            <a:pPr algn="just">
              <a:lnSpc>
                <a:spcPts val="3000"/>
              </a:lnSpc>
              <a:spcBef>
                <a:spcPct val="0"/>
              </a:spcBef>
            </a:pPr>
          </a:p>
        </p:txBody>
      </p:sp>
      <p:sp>
        <p:nvSpPr>
          <p:cNvPr name="TextBox 17" id="17"/>
          <p:cNvSpPr txBox="true"/>
          <p:nvPr/>
        </p:nvSpPr>
        <p:spPr>
          <a:xfrm rot="0">
            <a:off x="11968024" y="2391082"/>
            <a:ext cx="4904811" cy="995680"/>
          </a:xfrm>
          <a:prstGeom prst="rect">
            <a:avLst/>
          </a:prstGeom>
        </p:spPr>
        <p:txBody>
          <a:bodyPr anchor="t" rtlCol="false" tIns="0" lIns="0" bIns="0" rIns="0">
            <a:spAutoFit/>
          </a:bodyPr>
          <a:lstStyle/>
          <a:p>
            <a:pPr algn="l">
              <a:lnSpc>
                <a:spcPts val="3919"/>
              </a:lnSpc>
            </a:pPr>
            <a:r>
              <a:rPr lang="en-US" sz="2799" spc="277" b="true">
                <a:solidFill>
                  <a:srgbClr val="963D3D"/>
                </a:solidFill>
                <a:latin typeface="Times New Roman Bold"/>
                <a:ea typeface="Times New Roman Bold"/>
                <a:cs typeface="Times New Roman Bold"/>
                <a:sym typeface="Times New Roman Bold"/>
              </a:rPr>
              <a:t>Generate SLAM Inputs (to_slam_inputs function)</a:t>
            </a:r>
          </a:p>
        </p:txBody>
      </p:sp>
      <p:sp>
        <p:nvSpPr>
          <p:cNvPr name="TextBox 18" id="18"/>
          <p:cNvSpPr txBox="true"/>
          <p:nvPr/>
        </p:nvSpPr>
        <p:spPr>
          <a:xfrm rot="0">
            <a:off x="11968024" y="3810000"/>
            <a:ext cx="5990028" cy="1905000"/>
          </a:xfrm>
          <a:prstGeom prst="rect">
            <a:avLst/>
          </a:prstGeom>
        </p:spPr>
        <p:txBody>
          <a:bodyPr anchor="t" rtlCol="false" tIns="0" lIns="0" bIns="0" rIns="0">
            <a:spAutoFit/>
          </a:bodyPr>
          <a:lstStyle/>
          <a:p>
            <a:pPr algn="l"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Input: p</a:t>
            </a:r>
            <a:r>
              <a:rPr lang="en-US" sz="2000">
                <a:solidFill>
                  <a:srgbClr val="000000"/>
                </a:solidFill>
                <a:latin typeface="Times New Roman"/>
                <a:ea typeface="Times New Roman"/>
                <a:cs typeface="Times New Roman"/>
                <a:sym typeface="Times New Roman"/>
              </a:rPr>
              <a:t>rev_state, UpFrame, WheelGeom.</a:t>
            </a:r>
          </a:p>
          <a:p>
            <a:pPr algn="l"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Process: Calls build_scan360 and ticks_to_motion.</a:t>
            </a:r>
          </a:p>
          <a:p>
            <a:pPr algn="l" marL="431801" indent="-215900" lvl="1">
              <a:lnSpc>
                <a:spcPts val="3000"/>
              </a:lnSpc>
              <a:spcBef>
                <a:spcPct val="0"/>
              </a:spcBef>
              <a:buFont typeface="Arial"/>
              <a:buChar char="•"/>
            </a:pPr>
            <a:r>
              <a:rPr lang="en-US" sz="2000">
                <a:solidFill>
                  <a:srgbClr val="000000"/>
                </a:solidFill>
                <a:latin typeface="Times New Roman"/>
                <a:ea typeface="Times New Roman"/>
                <a:cs typeface="Times New Roman"/>
                <a:sym typeface="Times New Roman"/>
              </a:rPr>
              <a:t>Output: (scan360_mm, (dxy_mm, dtheta_deg, dt_s), curr_state).</a:t>
            </a:r>
          </a:p>
          <a:p>
            <a:pPr algn="l">
              <a:lnSpc>
                <a:spcPts val="3000"/>
              </a:lnSpc>
              <a:spcBef>
                <a:spcPct val="0"/>
              </a:spcBef>
            </a:pPr>
          </a:p>
        </p:txBody>
      </p:sp>
      <p:sp>
        <p:nvSpPr>
          <p:cNvPr name="TextBox 19" id="19"/>
          <p:cNvSpPr txBox="true"/>
          <p:nvPr/>
        </p:nvSpPr>
        <p:spPr>
          <a:xfrm rot="0">
            <a:off x="11968024" y="5762625"/>
            <a:ext cx="4317458" cy="500380"/>
          </a:xfrm>
          <a:prstGeom prst="rect">
            <a:avLst/>
          </a:prstGeom>
        </p:spPr>
        <p:txBody>
          <a:bodyPr anchor="t" rtlCol="false" tIns="0" lIns="0" bIns="0" rIns="0">
            <a:spAutoFit/>
          </a:bodyPr>
          <a:lstStyle/>
          <a:p>
            <a:pPr algn="l">
              <a:lnSpc>
                <a:spcPts val="3919"/>
              </a:lnSpc>
            </a:pPr>
            <a:r>
              <a:rPr lang="en-US" sz="2799" spc="277" b="true">
                <a:solidFill>
                  <a:srgbClr val="963D3D"/>
                </a:solidFill>
                <a:latin typeface="Times New Roman Bold"/>
                <a:ea typeface="Times New Roman Bold"/>
                <a:cs typeface="Times New Roman Bold"/>
                <a:sym typeface="Times New Roman Bold"/>
              </a:rPr>
              <a:t>Execute SLAM Update</a:t>
            </a:r>
          </a:p>
        </p:txBody>
      </p:sp>
      <p:sp>
        <p:nvSpPr>
          <p:cNvPr name="TextBox 20" id="20"/>
          <p:cNvSpPr txBox="true"/>
          <p:nvPr/>
        </p:nvSpPr>
        <p:spPr>
          <a:xfrm rot="0">
            <a:off x="11968024" y="6519624"/>
            <a:ext cx="4026591" cy="1143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If all d</a:t>
            </a:r>
            <a:r>
              <a:rPr lang="en-US" sz="2000">
                <a:solidFill>
                  <a:srgbClr val="000000"/>
                </a:solidFill>
                <a:latin typeface="Times New Roman"/>
                <a:ea typeface="Times New Roman"/>
                <a:cs typeface="Times New Roman"/>
                <a:sym typeface="Times New Roman"/>
              </a:rPr>
              <a:t>ata is valid, pass the outputs to BreezySLAM.update(); </a:t>
            </a:r>
          </a:p>
          <a:p>
            <a:pPr algn="l">
              <a:lnSpc>
                <a:spcPts val="3000"/>
              </a:lnSpc>
              <a:spcBef>
                <a:spcPct val="0"/>
              </a:spcBef>
            </a:pPr>
            <a:r>
              <a:rPr lang="en-US" sz="2000">
                <a:solidFill>
                  <a:srgbClr val="000000"/>
                </a:solidFill>
                <a:latin typeface="Times New Roman"/>
                <a:ea typeface="Times New Roman"/>
                <a:cs typeface="Times New Roman"/>
                <a:sym typeface="Times New Roman"/>
              </a:rPr>
              <a:t>otherwise, await the next frame.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63D3D"/>
        </a:solidFill>
      </p:bgPr>
    </p:bg>
    <p:spTree>
      <p:nvGrpSpPr>
        <p:cNvPr id="1" name=""/>
        <p:cNvGrpSpPr/>
        <p:nvPr/>
      </p:nvGrpSpPr>
      <p:grpSpPr>
        <a:xfrm>
          <a:off x="0" y="0"/>
          <a:ext cx="0" cy="0"/>
          <a:chOff x="0" y="0"/>
          <a:chExt cx="0" cy="0"/>
        </a:xfrm>
      </p:grpSpPr>
      <p:sp>
        <p:nvSpPr>
          <p:cNvPr name="Freeform 2" id="2"/>
          <p:cNvSpPr/>
          <p:nvPr/>
        </p:nvSpPr>
        <p:spPr>
          <a:xfrm flipH="false" flipV="false" rot="0">
            <a:off x="510097" y="-611200"/>
            <a:ext cx="17267805" cy="9369314"/>
          </a:xfrm>
          <a:custGeom>
            <a:avLst/>
            <a:gdLst/>
            <a:ahLst/>
            <a:cxnLst/>
            <a:rect r="r" b="b" t="t" l="l"/>
            <a:pathLst>
              <a:path h="9369314" w="17267805">
                <a:moveTo>
                  <a:pt x="0" y="0"/>
                </a:moveTo>
                <a:lnTo>
                  <a:pt x="17267805" y="0"/>
                </a:lnTo>
                <a:lnTo>
                  <a:pt x="17267805" y="9369314"/>
                </a:lnTo>
                <a:lnTo>
                  <a:pt x="0" y="93693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90600"/>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558800" y="0"/>
                  </a:moveTo>
                  <a:lnTo>
                    <a:pt x="965200" y="0"/>
                  </a:lnTo>
                  <a:lnTo>
                    <a:pt x="965200" y="50800"/>
                  </a:lnTo>
                  <a:lnTo>
                    <a:pt x="558800" y="50800"/>
                  </a:lnTo>
                  <a:close/>
                  <a:moveTo>
                    <a:pt x="1117600" y="0"/>
                  </a:moveTo>
                  <a:lnTo>
                    <a:pt x="1524000" y="0"/>
                  </a:lnTo>
                  <a:lnTo>
                    <a:pt x="1524000" y="50800"/>
                  </a:lnTo>
                  <a:lnTo>
                    <a:pt x="1117600" y="50800"/>
                  </a:lnTo>
                  <a:close/>
                  <a:moveTo>
                    <a:pt x="1676400" y="50800"/>
                  </a:moveTo>
                  <a:lnTo>
                    <a:pt x="2082800" y="50800"/>
                  </a:lnTo>
                  <a:lnTo>
                    <a:pt x="1676400" y="50800"/>
                  </a:lnTo>
                  <a:close/>
                  <a:moveTo>
                    <a:pt x="2235200" y="50800"/>
                  </a:moveTo>
                  <a:lnTo>
                    <a:pt x="2641600" y="50800"/>
                  </a:lnTo>
                  <a:lnTo>
                    <a:pt x="2235200" y="50800"/>
                  </a:lnTo>
                  <a:close/>
                  <a:moveTo>
                    <a:pt x="2794000" y="50800"/>
                  </a:moveTo>
                  <a:lnTo>
                    <a:pt x="3200400" y="50800"/>
                  </a:lnTo>
                  <a:lnTo>
                    <a:pt x="2794000" y="50800"/>
                  </a:lnTo>
                  <a:close/>
                  <a:moveTo>
                    <a:pt x="3352800" y="50800"/>
                  </a:moveTo>
                  <a:lnTo>
                    <a:pt x="3759200" y="50800"/>
                  </a:lnTo>
                  <a:lnTo>
                    <a:pt x="3352800" y="50800"/>
                  </a:lnTo>
                  <a:close/>
                  <a:moveTo>
                    <a:pt x="3911600" y="50800"/>
                  </a:moveTo>
                  <a:lnTo>
                    <a:pt x="4318000" y="50800"/>
                  </a:lnTo>
                  <a:lnTo>
                    <a:pt x="3911600" y="50800"/>
                  </a:lnTo>
                  <a:close/>
                  <a:moveTo>
                    <a:pt x="4470400" y="50800"/>
                  </a:moveTo>
                  <a:lnTo>
                    <a:pt x="4876800" y="50800"/>
                  </a:lnTo>
                  <a:lnTo>
                    <a:pt x="4470400" y="50800"/>
                  </a:lnTo>
                  <a:close/>
                  <a:moveTo>
                    <a:pt x="5029200" y="50800"/>
                  </a:moveTo>
                  <a:lnTo>
                    <a:pt x="5435600" y="50800"/>
                  </a:lnTo>
                  <a:lnTo>
                    <a:pt x="5029200" y="50800"/>
                  </a:lnTo>
                  <a:close/>
                  <a:moveTo>
                    <a:pt x="5588000" y="50800"/>
                  </a:moveTo>
                  <a:lnTo>
                    <a:pt x="5994400" y="50800"/>
                  </a:lnTo>
                  <a:lnTo>
                    <a:pt x="5588000" y="50800"/>
                  </a:lnTo>
                  <a:close/>
                  <a:moveTo>
                    <a:pt x="6146800" y="50800"/>
                  </a:moveTo>
                  <a:lnTo>
                    <a:pt x="6553200" y="50800"/>
                  </a:lnTo>
                  <a:lnTo>
                    <a:pt x="6146800" y="50800"/>
                  </a:lnTo>
                  <a:close/>
                  <a:moveTo>
                    <a:pt x="6705600" y="50800"/>
                  </a:moveTo>
                  <a:lnTo>
                    <a:pt x="7112000" y="50800"/>
                  </a:lnTo>
                  <a:lnTo>
                    <a:pt x="6705600" y="50800"/>
                  </a:lnTo>
                  <a:close/>
                  <a:moveTo>
                    <a:pt x="7264400" y="50800"/>
                  </a:moveTo>
                  <a:lnTo>
                    <a:pt x="7670800" y="50800"/>
                  </a:lnTo>
                  <a:lnTo>
                    <a:pt x="7264400" y="50800"/>
                  </a:lnTo>
                  <a:close/>
                  <a:moveTo>
                    <a:pt x="7823200" y="50800"/>
                  </a:moveTo>
                  <a:lnTo>
                    <a:pt x="8229600" y="50800"/>
                  </a:lnTo>
                  <a:lnTo>
                    <a:pt x="7823200" y="50800"/>
                  </a:lnTo>
                  <a:close/>
                  <a:moveTo>
                    <a:pt x="8382000" y="50800"/>
                  </a:moveTo>
                  <a:lnTo>
                    <a:pt x="8788400" y="50800"/>
                  </a:lnTo>
                  <a:lnTo>
                    <a:pt x="8382000" y="50800"/>
                  </a:lnTo>
                  <a:close/>
                  <a:moveTo>
                    <a:pt x="8940800" y="50800"/>
                  </a:moveTo>
                  <a:lnTo>
                    <a:pt x="9347200" y="50800"/>
                  </a:lnTo>
                  <a:lnTo>
                    <a:pt x="8940800" y="50800"/>
                  </a:lnTo>
                  <a:close/>
                  <a:moveTo>
                    <a:pt x="9499600" y="50800"/>
                  </a:moveTo>
                  <a:lnTo>
                    <a:pt x="9906000" y="50800"/>
                  </a:lnTo>
                  <a:lnTo>
                    <a:pt x="9499600" y="50800"/>
                  </a:lnTo>
                  <a:close/>
                  <a:moveTo>
                    <a:pt x="10058400" y="50800"/>
                  </a:moveTo>
                  <a:lnTo>
                    <a:pt x="10464800" y="50800"/>
                  </a:lnTo>
                  <a:lnTo>
                    <a:pt x="10058400" y="50800"/>
                  </a:lnTo>
                  <a:close/>
                  <a:moveTo>
                    <a:pt x="10617200" y="50800"/>
                  </a:moveTo>
                  <a:lnTo>
                    <a:pt x="11023600" y="50800"/>
                  </a:lnTo>
                  <a:lnTo>
                    <a:pt x="10617200" y="50800"/>
                  </a:lnTo>
                  <a:close/>
                  <a:moveTo>
                    <a:pt x="11176000" y="50800"/>
                  </a:moveTo>
                  <a:lnTo>
                    <a:pt x="11582400" y="50800"/>
                  </a:lnTo>
                  <a:lnTo>
                    <a:pt x="11176000" y="50800"/>
                  </a:lnTo>
                  <a:close/>
                  <a:moveTo>
                    <a:pt x="11734800" y="50800"/>
                  </a:moveTo>
                  <a:lnTo>
                    <a:pt x="12141200" y="50800"/>
                  </a:lnTo>
                  <a:lnTo>
                    <a:pt x="11734800" y="50800"/>
                  </a:lnTo>
                  <a:close/>
                  <a:moveTo>
                    <a:pt x="12293600" y="50800"/>
                  </a:moveTo>
                  <a:lnTo>
                    <a:pt x="12700000" y="50800"/>
                  </a:lnTo>
                  <a:lnTo>
                    <a:pt x="12293600" y="50800"/>
                  </a:lnTo>
                  <a:close/>
                  <a:moveTo>
                    <a:pt x="12852400" y="50800"/>
                  </a:moveTo>
                  <a:lnTo>
                    <a:pt x="13258800" y="50800"/>
                  </a:lnTo>
                  <a:lnTo>
                    <a:pt x="12852400" y="50800"/>
                  </a:lnTo>
                  <a:close/>
                  <a:moveTo>
                    <a:pt x="13411200" y="50800"/>
                  </a:moveTo>
                  <a:lnTo>
                    <a:pt x="13817600" y="50800"/>
                  </a:lnTo>
                  <a:lnTo>
                    <a:pt x="13411200" y="50800"/>
                  </a:lnTo>
                  <a:close/>
                  <a:moveTo>
                    <a:pt x="13970000" y="50800"/>
                  </a:moveTo>
                  <a:lnTo>
                    <a:pt x="14376400" y="50800"/>
                  </a:lnTo>
                  <a:lnTo>
                    <a:pt x="13970000" y="50800"/>
                  </a:lnTo>
                  <a:close/>
                  <a:moveTo>
                    <a:pt x="14528800" y="50800"/>
                  </a:moveTo>
                  <a:lnTo>
                    <a:pt x="14935200" y="50800"/>
                  </a:lnTo>
                  <a:lnTo>
                    <a:pt x="14528800" y="50800"/>
                  </a:lnTo>
                  <a:close/>
                  <a:moveTo>
                    <a:pt x="15087600" y="50800"/>
                  </a:moveTo>
                  <a:lnTo>
                    <a:pt x="15494000" y="50800"/>
                  </a:lnTo>
                  <a:lnTo>
                    <a:pt x="15087600" y="50800"/>
                  </a:lnTo>
                  <a:close/>
                  <a:moveTo>
                    <a:pt x="15646400" y="50800"/>
                  </a:moveTo>
                  <a:lnTo>
                    <a:pt x="16052800" y="50800"/>
                  </a:lnTo>
                  <a:lnTo>
                    <a:pt x="15646400" y="50800"/>
                  </a:lnTo>
                  <a:close/>
                  <a:moveTo>
                    <a:pt x="16205200" y="50800"/>
                  </a:moveTo>
                  <a:lnTo>
                    <a:pt x="16611600" y="50800"/>
                  </a:lnTo>
                  <a:lnTo>
                    <a:pt x="16205200" y="50800"/>
                  </a:lnTo>
                  <a:close/>
                  <a:moveTo>
                    <a:pt x="16764000" y="50800"/>
                  </a:moveTo>
                  <a:lnTo>
                    <a:pt x="17170400" y="50800"/>
                  </a:lnTo>
                  <a:lnTo>
                    <a:pt x="16764000" y="50800"/>
                  </a:lnTo>
                  <a:close/>
                  <a:moveTo>
                    <a:pt x="17322800" y="50800"/>
                  </a:moveTo>
                  <a:lnTo>
                    <a:pt x="17729200" y="50800"/>
                  </a:lnTo>
                  <a:lnTo>
                    <a:pt x="17322800" y="50800"/>
                  </a:lnTo>
                  <a:close/>
                  <a:moveTo>
                    <a:pt x="17881600" y="50800"/>
                  </a:moveTo>
                  <a:lnTo>
                    <a:pt x="18288000" y="50800"/>
                  </a:lnTo>
                  <a:lnTo>
                    <a:pt x="17881600" y="50800"/>
                  </a:lnTo>
                  <a:close/>
                  <a:moveTo>
                    <a:pt x="18440400" y="50800"/>
                  </a:moveTo>
                  <a:lnTo>
                    <a:pt x="18846800" y="50800"/>
                  </a:lnTo>
                  <a:lnTo>
                    <a:pt x="18440400" y="50800"/>
                  </a:lnTo>
                  <a:close/>
                  <a:moveTo>
                    <a:pt x="18999200" y="50800"/>
                  </a:moveTo>
                  <a:lnTo>
                    <a:pt x="19405600" y="50800"/>
                  </a:lnTo>
                  <a:lnTo>
                    <a:pt x="18999200" y="50800"/>
                  </a:lnTo>
                  <a:close/>
                  <a:moveTo>
                    <a:pt x="19558000" y="50800"/>
                  </a:moveTo>
                  <a:lnTo>
                    <a:pt x="19964400" y="50800"/>
                  </a:lnTo>
                  <a:lnTo>
                    <a:pt x="19558000" y="50800"/>
                  </a:lnTo>
                  <a:close/>
                  <a:moveTo>
                    <a:pt x="20116800" y="50800"/>
                  </a:moveTo>
                  <a:lnTo>
                    <a:pt x="20523200" y="50800"/>
                  </a:lnTo>
                  <a:lnTo>
                    <a:pt x="20116800" y="50800"/>
                  </a:lnTo>
                  <a:close/>
                  <a:moveTo>
                    <a:pt x="20675600" y="50800"/>
                  </a:moveTo>
                  <a:lnTo>
                    <a:pt x="21082000" y="50800"/>
                  </a:lnTo>
                  <a:lnTo>
                    <a:pt x="20675600" y="50800"/>
                  </a:lnTo>
                  <a:close/>
                  <a:moveTo>
                    <a:pt x="21234400" y="50800"/>
                  </a:moveTo>
                  <a:lnTo>
                    <a:pt x="21640800" y="50800"/>
                  </a:lnTo>
                  <a:lnTo>
                    <a:pt x="21234400" y="50800"/>
                  </a:lnTo>
                  <a:close/>
                  <a:moveTo>
                    <a:pt x="21793200" y="50800"/>
                  </a:moveTo>
                  <a:lnTo>
                    <a:pt x="22199600" y="50800"/>
                  </a:lnTo>
                  <a:lnTo>
                    <a:pt x="21793200" y="50800"/>
                  </a:lnTo>
                  <a:close/>
                  <a:moveTo>
                    <a:pt x="22352000" y="50800"/>
                  </a:moveTo>
                  <a:lnTo>
                    <a:pt x="22758400" y="50800"/>
                  </a:lnTo>
                  <a:lnTo>
                    <a:pt x="22352000" y="50800"/>
                  </a:lnTo>
                  <a:close/>
                  <a:moveTo>
                    <a:pt x="22910800" y="50800"/>
                  </a:moveTo>
                  <a:lnTo>
                    <a:pt x="23317200" y="50800"/>
                  </a:lnTo>
                  <a:lnTo>
                    <a:pt x="22910800" y="50800"/>
                  </a:lnTo>
                  <a:close/>
                  <a:moveTo>
                    <a:pt x="23469600" y="50800"/>
                  </a:moveTo>
                  <a:lnTo>
                    <a:pt x="23876000" y="50800"/>
                  </a:lnTo>
                  <a:lnTo>
                    <a:pt x="23469600" y="50800"/>
                  </a:lnTo>
                  <a:close/>
                  <a:moveTo>
                    <a:pt x="24028400" y="50800"/>
                  </a:moveTo>
                  <a:lnTo>
                    <a:pt x="24434800" y="50800"/>
                  </a:lnTo>
                  <a:lnTo>
                    <a:pt x="24028400" y="50800"/>
                  </a:lnTo>
                  <a:close/>
                  <a:moveTo>
                    <a:pt x="24587200" y="50800"/>
                  </a:moveTo>
                  <a:lnTo>
                    <a:pt x="24866727" y="50800"/>
                  </a:lnTo>
                  <a:lnTo>
                    <a:pt x="24587200" y="50800"/>
                  </a:lnTo>
                  <a:close/>
                  <a:moveTo>
                    <a:pt x="0" y="0"/>
                  </a:moveTo>
                  <a:lnTo>
                    <a:pt x="406400" y="0"/>
                  </a:lnTo>
                  <a:lnTo>
                    <a:pt x="406400" y="50800"/>
                  </a:lnTo>
                  <a:lnTo>
                    <a:pt x="0" y="50800"/>
                  </a:lnTo>
                  <a:close/>
                </a:path>
              </a:pathLst>
            </a:custGeom>
            <a:solidFill>
              <a:srgbClr val="963D3D"/>
            </a:solidFill>
          </p:spPr>
        </p:sp>
      </p:grpSp>
      <p:grpSp>
        <p:nvGrpSpPr>
          <p:cNvPr name="Group 5" id="5"/>
          <p:cNvGrpSpPr/>
          <p:nvPr/>
        </p:nvGrpSpPr>
        <p:grpSpPr>
          <a:xfrm rot="0">
            <a:off x="543898" y="9220200"/>
            <a:ext cx="17200205" cy="38100"/>
            <a:chOff x="0" y="0"/>
            <a:chExt cx="22933607" cy="50800"/>
          </a:xfrm>
        </p:grpSpPr>
        <p:sp>
          <p:nvSpPr>
            <p:cNvPr name="Freeform 6" id="6"/>
            <p:cNvSpPr/>
            <p:nvPr/>
          </p:nvSpPr>
          <p:spPr>
            <a:xfrm flipH="false" flipV="false" rot="0">
              <a:off x="25400" y="0"/>
              <a:ext cx="22882861" cy="50800"/>
            </a:xfrm>
            <a:custGeom>
              <a:avLst/>
              <a:gdLst/>
              <a:ahLst/>
              <a:cxnLst/>
              <a:rect r="r" b="b" t="t" l="l"/>
              <a:pathLst>
                <a:path h="50800" w="22882861">
                  <a:moveTo>
                    <a:pt x="0" y="0"/>
                  </a:moveTo>
                  <a:lnTo>
                    <a:pt x="22882861" y="0"/>
                  </a:lnTo>
                  <a:lnTo>
                    <a:pt x="22882861" y="50800"/>
                  </a:lnTo>
                  <a:lnTo>
                    <a:pt x="0" y="50800"/>
                  </a:lnTo>
                  <a:close/>
                </a:path>
              </a:pathLst>
            </a:custGeom>
            <a:solidFill>
              <a:srgbClr val="FFFFFF"/>
            </a:solidFill>
          </p:spPr>
        </p:sp>
      </p:grpSp>
      <p:sp>
        <p:nvSpPr>
          <p:cNvPr name="Freeform 7" id="7"/>
          <p:cNvSpPr/>
          <p:nvPr/>
        </p:nvSpPr>
        <p:spPr>
          <a:xfrm flipH="false" flipV="false" rot="0">
            <a:off x="5305360" y="-108496"/>
            <a:ext cx="7677280" cy="4625296"/>
          </a:xfrm>
          <a:custGeom>
            <a:avLst/>
            <a:gdLst/>
            <a:ahLst/>
            <a:cxnLst/>
            <a:rect r="r" b="b" t="t" l="l"/>
            <a:pathLst>
              <a:path h="4625296" w="7677280">
                <a:moveTo>
                  <a:pt x="0" y="0"/>
                </a:moveTo>
                <a:lnTo>
                  <a:pt x="7677280" y="0"/>
                </a:lnTo>
                <a:lnTo>
                  <a:pt x="7677280" y="4625296"/>
                </a:lnTo>
                <a:lnTo>
                  <a:pt x="0" y="4625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435395" y="2470583"/>
            <a:ext cx="3417209" cy="1381266"/>
          </a:xfrm>
          <a:prstGeom prst="rect">
            <a:avLst/>
          </a:prstGeom>
        </p:spPr>
        <p:txBody>
          <a:bodyPr anchor="t" rtlCol="false" tIns="0" lIns="0" bIns="0" rIns="0">
            <a:spAutoFit/>
          </a:bodyPr>
          <a:lstStyle/>
          <a:p>
            <a:pPr algn="ctr">
              <a:lnSpc>
                <a:spcPts val="10834"/>
              </a:lnSpc>
            </a:pPr>
            <a:r>
              <a:rPr lang="en-US" sz="9029" spc="1255">
                <a:solidFill>
                  <a:srgbClr val="FFFFFF"/>
                </a:solidFill>
                <a:latin typeface="Anton"/>
                <a:ea typeface="Anton"/>
                <a:cs typeface="Anton"/>
                <a:sym typeface="Anton"/>
              </a:rPr>
              <a:t>02</a:t>
            </a:r>
          </a:p>
        </p:txBody>
      </p:sp>
      <p:sp>
        <p:nvSpPr>
          <p:cNvPr name="TextBox 9" id="9"/>
          <p:cNvSpPr txBox="true"/>
          <p:nvPr/>
        </p:nvSpPr>
        <p:spPr>
          <a:xfrm rot="0">
            <a:off x="4476285" y="5138756"/>
            <a:ext cx="9335428" cy="3029204"/>
          </a:xfrm>
          <a:prstGeom prst="rect">
            <a:avLst/>
          </a:prstGeom>
        </p:spPr>
        <p:txBody>
          <a:bodyPr anchor="t" rtlCol="false" tIns="0" lIns="0" bIns="0" rIns="0">
            <a:spAutoFit/>
          </a:bodyPr>
          <a:lstStyle/>
          <a:p>
            <a:pPr algn="ctr">
              <a:lnSpc>
                <a:spcPts val="11710"/>
              </a:lnSpc>
            </a:pPr>
            <a:r>
              <a:rPr lang="en-US" b="true" sz="9760" spc="-1">
                <a:solidFill>
                  <a:srgbClr val="963D3D"/>
                </a:solidFill>
                <a:latin typeface="Times New Roman Bold"/>
                <a:ea typeface="Times New Roman Bold"/>
                <a:cs typeface="Times New Roman Bold"/>
                <a:sym typeface="Times New Roman Bold"/>
              </a:rPr>
              <a:t>Hardware Introduction</a:t>
            </a:r>
          </a:p>
        </p:txBody>
      </p:sp>
      <p:sp>
        <p:nvSpPr>
          <p:cNvPr name="TextBox 10" id="10"/>
          <p:cNvSpPr txBox="true"/>
          <p:nvPr/>
        </p:nvSpPr>
        <p:spPr>
          <a:xfrm rot="0">
            <a:off x="6226230" y="464683"/>
            <a:ext cx="5835539" cy="1628089"/>
          </a:xfrm>
          <a:prstGeom prst="rect">
            <a:avLst/>
          </a:prstGeom>
        </p:spPr>
        <p:txBody>
          <a:bodyPr anchor="t" rtlCol="false" tIns="0" lIns="0" bIns="0" rIns="0">
            <a:spAutoFit/>
          </a:bodyPr>
          <a:lstStyle/>
          <a:p>
            <a:pPr algn="ctr">
              <a:lnSpc>
                <a:spcPts val="12490"/>
              </a:lnSpc>
            </a:pPr>
            <a:r>
              <a:rPr lang="en-US" b="true" sz="10404" spc="1924">
                <a:solidFill>
                  <a:srgbClr val="FFFFFF"/>
                </a:solidFill>
                <a:latin typeface="Times New Roman Bold"/>
                <a:ea typeface="Times New Roman Bold"/>
                <a:cs typeface="Times New Roman Bold"/>
                <a:sym typeface="Times New Roman Bold"/>
              </a:rPr>
              <a:t>PART</a:t>
            </a:r>
          </a:p>
        </p:txBody>
      </p:sp>
      <p:grpSp>
        <p:nvGrpSpPr>
          <p:cNvPr name="Group 11" id="11"/>
          <p:cNvGrpSpPr/>
          <p:nvPr/>
        </p:nvGrpSpPr>
        <p:grpSpPr>
          <a:xfrm rot="0">
            <a:off x="2402107" y="8847066"/>
            <a:ext cx="13483784" cy="1666875"/>
            <a:chOff x="0" y="0"/>
            <a:chExt cx="17978379" cy="2222500"/>
          </a:xfrm>
        </p:grpSpPr>
        <p:sp>
          <p:nvSpPr>
            <p:cNvPr name="Freeform 12" id="12"/>
            <p:cNvSpPr/>
            <p:nvPr/>
          </p:nvSpPr>
          <p:spPr>
            <a:xfrm flipH="false" flipV="false" rot="0">
              <a:off x="0" y="0"/>
              <a:ext cx="17978374" cy="2222500"/>
            </a:xfrm>
            <a:custGeom>
              <a:avLst/>
              <a:gdLst/>
              <a:ahLst/>
              <a:cxnLst/>
              <a:rect r="r" b="b" t="t" l="l"/>
              <a:pathLst>
                <a:path h="2222500" w="17978374">
                  <a:moveTo>
                    <a:pt x="0" y="0"/>
                  </a:moveTo>
                  <a:lnTo>
                    <a:pt x="17978374" y="0"/>
                  </a:lnTo>
                  <a:lnTo>
                    <a:pt x="17978374" y="2222500"/>
                  </a:lnTo>
                  <a:lnTo>
                    <a:pt x="0" y="2222500"/>
                  </a:lnTo>
                  <a:lnTo>
                    <a:pt x="0" y="0"/>
                  </a:lnTo>
                  <a:close/>
                </a:path>
              </a:pathLst>
            </a:custGeom>
            <a:blipFill>
              <a:blip r:embed="rId6"/>
              <a:stretch>
                <a:fillRect l="-3" t="0" r="-3"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81491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08189" y="52832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TextBox 8" id="8"/>
          <p:cNvSpPr txBox="true"/>
          <p:nvPr/>
        </p:nvSpPr>
        <p:spPr>
          <a:xfrm rot="0">
            <a:off x="6203581" y="3586067"/>
            <a:ext cx="1622921" cy="396240"/>
          </a:xfrm>
          <a:prstGeom prst="rect">
            <a:avLst/>
          </a:prstGeom>
        </p:spPr>
        <p:txBody>
          <a:bodyPr anchor="t" rtlCol="false" tIns="0" lIns="0" bIns="0" rIns="0">
            <a:spAutoFit/>
          </a:bodyPr>
          <a:lstStyle/>
          <a:p>
            <a:pPr algn="just">
              <a:lnSpc>
                <a:spcPts val="3150"/>
              </a:lnSpc>
              <a:spcBef>
                <a:spcPct val="0"/>
              </a:spcBef>
            </a:pPr>
            <a:r>
              <a:rPr lang="en-US" b="true" sz="2100">
                <a:solidFill>
                  <a:srgbClr val="000000"/>
                </a:solidFill>
                <a:latin typeface="Times New Roman Bold"/>
                <a:ea typeface="Times New Roman Bold"/>
                <a:cs typeface="Times New Roman Bold"/>
                <a:sym typeface="Times New Roman Bold"/>
              </a:rPr>
              <a:t>Path Pl</a:t>
            </a:r>
            <a:r>
              <a:rPr lang="en-US" b="true" sz="2100">
                <a:solidFill>
                  <a:srgbClr val="000000"/>
                </a:solidFill>
                <a:latin typeface="Times New Roman Bold"/>
                <a:ea typeface="Times New Roman Bold"/>
                <a:cs typeface="Times New Roman Bold"/>
                <a:sym typeface="Times New Roman Bold"/>
              </a:rPr>
              <a:t>anning</a:t>
            </a:r>
          </a:p>
        </p:txBody>
      </p:sp>
      <p:sp>
        <p:nvSpPr>
          <p:cNvPr name="TextBox 9" id="9"/>
          <p:cNvSpPr txBox="true"/>
          <p:nvPr/>
        </p:nvSpPr>
        <p:spPr>
          <a:xfrm rot="0">
            <a:off x="205636" y="2501185"/>
            <a:ext cx="4818515"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Sensor Integration and SLAM Implementation</a:t>
            </a:r>
          </a:p>
        </p:txBody>
      </p:sp>
      <p:sp>
        <p:nvSpPr>
          <p:cNvPr name="TextBox 10" id="10"/>
          <p:cNvSpPr txBox="true"/>
          <p:nvPr/>
        </p:nvSpPr>
        <p:spPr>
          <a:xfrm rot="0">
            <a:off x="12279202" y="2387010"/>
            <a:ext cx="5897545"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Simulation Environment and Real-World Deployment </a:t>
            </a:r>
          </a:p>
        </p:txBody>
      </p:sp>
      <p:sp>
        <p:nvSpPr>
          <p:cNvPr name="TextBox 11" id="11"/>
          <p:cNvSpPr txBox="true"/>
          <p:nvPr/>
        </p:nvSpPr>
        <p:spPr>
          <a:xfrm rot="0">
            <a:off x="2149183" y="259162"/>
            <a:ext cx="9531211" cy="754214"/>
          </a:xfrm>
          <a:prstGeom prst="rect">
            <a:avLst/>
          </a:prstGeom>
        </p:spPr>
        <p:txBody>
          <a:bodyPr anchor="t" rtlCol="false" tIns="0" lIns="0" bIns="0" rIns="0">
            <a:spAutoFit/>
          </a:bodyPr>
          <a:lstStyle/>
          <a:p>
            <a:pPr algn="l">
              <a:lnSpc>
                <a:spcPts val="5777"/>
              </a:lnSpc>
            </a:pPr>
            <a:r>
              <a:rPr lang="en-US" sz="4813" b="true">
                <a:solidFill>
                  <a:srgbClr val="FFFFFF"/>
                </a:solidFill>
                <a:latin typeface="Times New Roman Bold"/>
                <a:ea typeface="Times New Roman Bold"/>
                <a:cs typeface="Times New Roman Bold"/>
                <a:sym typeface="Times New Roman Bold"/>
              </a:rPr>
              <a:t>System Architecture Design</a:t>
            </a:r>
          </a:p>
        </p:txBody>
      </p:sp>
      <p:sp>
        <p:nvSpPr>
          <p:cNvPr name="TextBox 12" id="12"/>
          <p:cNvSpPr txBox="true"/>
          <p:nvPr/>
        </p:nvSpPr>
        <p:spPr>
          <a:xfrm rot="0">
            <a:off x="10022171" y="23001"/>
            <a:ext cx="7998338" cy="1904550"/>
          </a:xfrm>
          <a:prstGeom prst="rect">
            <a:avLst/>
          </a:prstGeom>
        </p:spPr>
        <p:txBody>
          <a:bodyPr anchor="t" rtlCol="false" tIns="0" lIns="0" bIns="0" rIns="0">
            <a:spAutoFit/>
          </a:bodyPr>
          <a:lstStyle/>
          <a:p>
            <a:pPr algn="l">
              <a:lnSpc>
                <a:spcPts val="3017"/>
              </a:lnSpc>
            </a:pPr>
            <a:r>
              <a:rPr lang="en-US" sz="2011">
                <a:solidFill>
                  <a:srgbClr val="FFFFFF"/>
                </a:solidFill>
                <a:latin typeface="Times New Roman"/>
                <a:ea typeface="Times New Roman"/>
                <a:cs typeface="Times New Roman"/>
                <a:sym typeface="Times New Roman"/>
              </a:rPr>
              <a:t>Define the high-level system architecture, including hardware and software components.</a:t>
            </a:r>
          </a:p>
          <a:p>
            <a:pPr algn="l">
              <a:lnSpc>
                <a:spcPts val="3017"/>
              </a:lnSpc>
            </a:pPr>
            <a:r>
              <a:rPr lang="en-US" sz="2011">
                <a:solidFill>
                  <a:srgbClr val="FFFFFF"/>
                </a:solidFill>
                <a:latin typeface="Times New Roman"/>
                <a:ea typeface="Times New Roman"/>
                <a:cs typeface="Times New Roman"/>
                <a:sym typeface="Times New Roman"/>
              </a:rPr>
              <a:t>Specify the interaction between sensors (2D LiDAR, odometry), processing units (e.g., Raspberry Pi, Arduino), and actuators (motors).</a:t>
            </a:r>
          </a:p>
          <a:p>
            <a:pPr algn="l">
              <a:lnSpc>
                <a:spcPts val="3017"/>
              </a:lnSpc>
              <a:spcBef>
                <a:spcPct val="0"/>
              </a:spcBef>
            </a:pPr>
            <a:r>
              <a:rPr lang="en-US" sz="2011">
                <a:solidFill>
                  <a:srgbClr val="FFFFFF"/>
                </a:solidFill>
                <a:latin typeface="Times New Roman"/>
                <a:ea typeface="Times New Roman"/>
                <a:cs typeface="Times New Roman"/>
                <a:sym typeface="Times New Roman"/>
              </a:rPr>
              <a:t>Design the communication protocols between components.</a:t>
            </a:r>
          </a:p>
        </p:txBody>
      </p:sp>
      <p:sp>
        <p:nvSpPr>
          <p:cNvPr name="TextBox 13" id="13"/>
          <p:cNvSpPr txBox="true"/>
          <p:nvPr/>
        </p:nvSpPr>
        <p:spPr>
          <a:xfrm rot="0">
            <a:off x="12226857" y="6811306"/>
            <a:ext cx="5741307" cy="2286000"/>
          </a:xfrm>
          <a:prstGeom prst="rect">
            <a:avLst/>
          </a:prstGeom>
        </p:spPr>
        <p:txBody>
          <a:bodyPr anchor="t" rtlCol="false" tIns="0" lIns="0" bIns="0" rIns="0">
            <a:spAutoFit/>
          </a:bodyPr>
          <a:lstStyle/>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Deploy the integrated system on the physical robot.</a:t>
            </a:r>
          </a:p>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Test the robot in both structured (9-cell, 16-cell) and random mazes.</a:t>
            </a:r>
          </a:p>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Optimize performance for speed, accuracy, and reliability.</a:t>
            </a:r>
          </a:p>
          <a:p>
            <a:pPr algn="l" marL="0" indent="0" lvl="0">
              <a:lnSpc>
                <a:spcPts val="3000"/>
              </a:lnSpc>
              <a:spcBef>
                <a:spcPct val="0"/>
              </a:spcBef>
            </a:pPr>
          </a:p>
        </p:txBody>
      </p:sp>
      <p:sp>
        <p:nvSpPr>
          <p:cNvPr name="TextBox 14" id="14"/>
          <p:cNvSpPr txBox="true"/>
          <p:nvPr/>
        </p:nvSpPr>
        <p:spPr>
          <a:xfrm rot="0">
            <a:off x="-124789" y="3662267"/>
            <a:ext cx="2771113" cy="401955"/>
          </a:xfrm>
          <a:prstGeom prst="rect">
            <a:avLst/>
          </a:prstGeom>
        </p:spPr>
        <p:txBody>
          <a:bodyPr anchor="t" rtlCol="false" tIns="0" lIns="0" bIns="0" rIns="0">
            <a:spAutoFit/>
          </a:bodyPr>
          <a:lstStyle/>
          <a:p>
            <a:pPr algn="ctr">
              <a:lnSpc>
                <a:spcPts val="3299"/>
              </a:lnSpc>
              <a:spcBef>
                <a:spcPct val="0"/>
              </a:spcBef>
            </a:pPr>
            <a:r>
              <a:rPr lang="en-US" b="true" sz="2199">
                <a:solidFill>
                  <a:srgbClr val="000000"/>
                </a:solidFill>
                <a:latin typeface="Times New Roman Bold"/>
                <a:ea typeface="Times New Roman Bold"/>
                <a:cs typeface="Times New Roman Bold"/>
                <a:sym typeface="Times New Roman Bold"/>
              </a:rPr>
              <a:t>Sensor Integration</a:t>
            </a:r>
          </a:p>
        </p:txBody>
      </p:sp>
      <p:sp>
        <p:nvSpPr>
          <p:cNvPr name="TextBox 15" id="15"/>
          <p:cNvSpPr txBox="true"/>
          <p:nvPr/>
        </p:nvSpPr>
        <p:spPr>
          <a:xfrm rot="0">
            <a:off x="134248" y="4149947"/>
            <a:ext cx="5709732" cy="1634885"/>
          </a:xfrm>
          <a:prstGeom prst="rect">
            <a:avLst/>
          </a:prstGeom>
        </p:spPr>
        <p:txBody>
          <a:bodyPr anchor="t" rtlCol="false" tIns="0" lIns="0" bIns="0" rIns="0">
            <a:spAutoFit/>
          </a:bodyPr>
          <a:lstStyle/>
          <a:p>
            <a:pPr algn="l">
              <a:lnSpc>
                <a:spcPts val="3294"/>
              </a:lnSpc>
            </a:pPr>
            <a:r>
              <a:rPr lang="en-US" sz="2196">
                <a:solidFill>
                  <a:srgbClr val="000000"/>
                </a:solidFill>
                <a:latin typeface="Times New Roman"/>
                <a:ea typeface="Times New Roman"/>
                <a:cs typeface="Times New Roman"/>
                <a:sym typeface="Times New Roman"/>
              </a:rPr>
              <a:t>Integrate the 2D LiDAR sensor to capture environmental data (angle and distance measurements).</a:t>
            </a:r>
          </a:p>
          <a:p>
            <a:pPr algn="l">
              <a:lnSpc>
                <a:spcPts val="3294"/>
              </a:lnSpc>
              <a:spcBef>
                <a:spcPct val="0"/>
              </a:spcBef>
            </a:pPr>
          </a:p>
        </p:txBody>
      </p:sp>
      <p:sp>
        <p:nvSpPr>
          <p:cNvPr name="TextBox 16" id="16"/>
          <p:cNvSpPr txBox="true"/>
          <p:nvPr/>
        </p:nvSpPr>
        <p:spPr>
          <a:xfrm rot="0">
            <a:off x="134248" y="5477051"/>
            <a:ext cx="5367666" cy="1905000"/>
          </a:xfrm>
          <a:prstGeom prst="rect">
            <a:avLst/>
          </a:prstGeom>
        </p:spPr>
        <p:txBody>
          <a:bodyPr anchor="t" rtlCol="false" tIns="0" lIns="0" bIns="0" rIns="0">
            <a:spAutoFit/>
          </a:bodyPr>
          <a:lstStyle/>
          <a:p>
            <a:pPr algn="l">
              <a:lnSpc>
                <a:spcPts val="3000"/>
              </a:lnSpc>
            </a:pPr>
            <a:r>
              <a:rPr lang="en-US" sz="2000">
                <a:solidFill>
                  <a:srgbClr val="000000"/>
                </a:solidFill>
                <a:latin typeface="Times New Roman"/>
                <a:ea typeface="Times New Roman"/>
                <a:cs typeface="Times New Roman"/>
                <a:sym typeface="Times New Roman"/>
              </a:rPr>
              <a:t>Implement odometry data processing (x, y, θ) for localization.</a:t>
            </a:r>
          </a:p>
          <a:p>
            <a:pPr algn="l">
              <a:lnSpc>
                <a:spcPts val="3000"/>
              </a:lnSpc>
              <a:spcBef>
                <a:spcPct val="0"/>
              </a:spcBef>
            </a:pPr>
            <a:r>
              <a:rPr lang="en-US" sz="2000">
                <a:solidFill>
                  <a:srgbClr val="000000"/>
                </a:solidFill>
                <a:latin typeface="Times New Roman"/>
                <a:ea typeface="Times New Roman"/>
                <a:cs typeface="Times New Roman"/>
                <a:sym typeface="Times New Roman"/>
              </a:rPr>
              <a:t>Ensure synchronization between LiDAR and odometry data for accurate SLAM.</a:t>
            </a:r>
          </a:p>
          <a:p>
            <a:pPr algn="l">
              <a:lnSpc>
                <a:spcPts val="3000"/>
              </a:lnSpc>
              <a:spcBef>
                <a:spcPct val="0"/>
              </a:spcBef>
            </a:pPr>
          </a:p>
        </p:txBody>
      </p:sp>
      <p:sp>
        <p:nvSpPr>
          <p:cNvPr name="TextBox 17" id="17"/>
          <p:cNvSpPr txBox="true"/>
          <p:nvPr/>
        </p:nvSpPr>
        <p:spPr>
          <a:xfrm rot="0">
            <a:off x="134248" y="7380148"/>
            <a:ext cx="2785666" cy="401955"/>
          </a:xfrm>
          <a:prstGeom prst="rect">
            <a:avLst/>
          </a:prstGeom>
        </p:spPr>
        <p:txBody>
          <a:bodyPr anchor="t" rtlCol="false" tIns="0" lIns="0" bIns="0" rIns="0">
            <a:spAutoFit/>
          </a:bodyPr>
          <a:lstStyle/>
          <a:p>
            <a:pPr algn="l">
              <a:lnSpc>
                <a:spcPts val="3299"/>
              </a:lnSpc>
              <a:spcBef>
                <a:spcPct val="0"/>
              </a:spcBef>
            </a:pPr>
            <a:r>
              <a:rPr lang="en-US" b="true" sz="2199">
                <a:solidFill>
                  <a:srgbClr val="000000"/>
                </a:solidFill>
                <a:latin typeface="Times New Roman Bold"/>
                <a:ea typeface="Times New Roman Bold"/>
                <a:cs typeface="Times New Roman Bold"/>
                <a:sym typeface="Times New Roman Bold"/>
              </a:rPr>
              <a:t>SLAM Implementation</a:t>
            </a:r>
          </a:p>
        </p:txBody>
      </p:sp>
      <p:sp>
        <p:nvSpPr>
          <p:cNvPr name="TextBox 18" id="18"/>
          <p:cNvSpPr txBox="true"/>
          <p:nvPr/>
        </p:nvSpPr>
        <p:spPr>
          <a:xfrm rot="0">
            <a:off x="134248" y="7804943"/>
            <a:ext cx="5024151" cy="1524000"/>
          </a:xfrm>
          <a:prstGeom prst="rect">
            <a:avLst/>
          </a:prstGeom>
        </p:spPr>
        <p:txBody>
          <a:bodyPr anchor="t" rtlCol="false" tIns="0" lIns="0" bIns="0" rIns="0">
            <a:spAutoFit/>
          </a:bodyPr>
          <a:lstStyle/>
          <a:p>
            <a:pPr algn="l">
              <a:lnSpc>
                <a:spcPts val="3000"/>
              </a:lnSpc>
            </a:pPr>
            <a:r>
              <a:rPr lang="en-US" sz="2000">
                <a:solidFill>
                  <a:srgbClr val="000000"/>
                </a:solidFill>
                <a:latin typeface="Times New Roman"/>
                <a:ea typeface="Times New Roman"/>
                <a:cs typeface="Times New Roman"/>
                <a:sym typeface="Times New Roman"/>
              </a:rPr>
              <a:t>Develop or integrate a SLAM (Simultaneous Localization and Mapping) algorithm to construct a map of the maze in real-time.</a:t>
            </a:r>
          </a:p>
          <a:p>
            <a:pPr algn="ctr">
              <a:lnSpc>
                <a:spcPts val="3000"/>
              </a:lnSpc>
              <a:spcBef>
                <a:spcPct val="0"/>
              </a:spcBef>
            </a:pPr>
          </a:p>
        </p:txBody>
      </p:sp>
      <p:sp>
        <p:nvSpPr>
          <p:cNvPr name="TextBox 19" id="19"/>
          <p:cNvSpPr txBox="true"/>
          <p:nvPr/>
        </p:nvSpPr>
        <p:spPr>
          <a:xfrm rot="0">
            <a:off x="6214269" y="4057723"/>
            <a:ext cx="5568122" cy="2286000"/>
          </a:xfrm>
          <a:prstGeom prst="rect">
            <a:avLst/>
          </a:prstGeom>
        </p:spPr>
        <p:txBody>
          <a:bodyPr anchor="t" rtlCol="false" tIns="0" lIns="0" bIns="0" rIns="0">
            <a:spAutoFit/>
          </a:bodyPr>
          <a:lstStyle/>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Integrate global path planning using the A* algorithm.</a:t>
            </a:r>
          </a:p>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Implement local obstacle avoidance using the Dynamic Window Approach (DWA).</a:t>
            </a:r>
          </a:p>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Ensure seamless switching between global and local planning for efficient and safe navigation.</a:t>
            </a:r>
          </a:p>
          <a:p>
            <a:pPr algn="l" marL="0" indent="0" lvl="0">
              <a:lnSpc>
                <a:spcPts val="3000"/>
              </a:lnSpc>
              <a:spcBef>
                <a:spcPct val="0"/>
              </a:spcBef>
            </a:pPr>
          </a:p>
        </p:txBody>
      </p:sp>
      <p:sp>
        <p:nvSpPr>
          <p:cNvPr name="TextBox 20" id="20"/>
          <p:cNvSpPr txBox="true"/>
          <p:nvPr/>
        </p:nvSpPr>
        <p:spPr>
          <a:xfrm rot="0">
            <a:off x="12279202" y="3988022"/>
            <a:ext cx="6023793" cy="1524000"/>
          </a:xfrm>
          <a:prstGeom prst="rect">
            <a:avLst/>
          </a:prstGeom>
        </p:spPr>
        <p:txBody>
          <a:bodyPr anchor="t" rtlCol="false" tIns="0" lIns="0" bIns="0" rIns="0">
            <a:spAutoFit/>
          </a:bodyPr>
          <a:lstStyle/>
          <a:p>
            <a:pPr algn="l">
              <a:lnSpc>
                <a:spcPts val="3000"/>
              </a:lnSpc>
            </a:pPr>
            <a:r>
              <a:rPr lang="en-US" sz="2000">
                <a:solidFill>
                  <a:srgbClr val="000000"/>
                </a:solidFill>
                <a:latin typeface="Times New Roman"/>
                <a:ea typeface="Times New Roman"/>
                <a:cs typeface="Times New Roman"/>
                <a:sym typeface="Times New Roman"/>
              </a:rPr>
              <a:t>Set up a sim</a:t>
            </a:r>
            <a:r>
              <a:rPr lang="en-US" sz="2000">
                <a:solidFill>
                  <a:srgbClr val="000000"/>
                </a:solidFill>
                <a:latin typeface="Times New Roman"/>
                <a:ea typeface="Times New Roman"/>
                <a:cs typeface="Times New Roman"/>
                <a:sym typeface="Times New Roman"/>
              </a:rPr>
              <a:t>ulation environment to test navigation and mapping algorithms.</a:t>
            </a:r>
          </a:p>
          <a:p>
            <a:pPr algn="l">
              <a:lnSpc>
                <a:spcPts val="3000"/>
              </a:lnSpc>
            </a:pPr>
            <a:r>
              <a:rPr lang="en-US" sz="2000">
                <a:solidFill>
                  <a:srgbClr val="000000"/>
                </a:solidFill>
                <a:latin typeface="Times New Roman"/>
                <a:ea typeface="Times New Roman"/>
                <a:cs typeface="Times New Roman"/>
                <a:sym typeface="Times New Roman"/>
              </a:rPr>
              <a:t>Simulate LiDAR and odometry data to validate the SLAM and navigation stack before real-world deployment.</a:t>
            </a:r>
          </a:p>
        </p:txBody>
      </p:sp>
      <p:sp>
        <p:nvSpPr>
          <p:cNvPr name="TextBox 21" id="21"/>
          <p:cNvSpPr txBox="true"/>
          <p:nvPr/>
        </p:nvSpPr>
        <p:spPr>
          <a:xfrm rot="0">
            <a:off x="6214269" y="2501185"/>
            <a:ext cx="4818515"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Navigation and Path Planning</a:t>
            </a:r>
          </a:p>
        </p:txBody>
      </p:sp>
      <p:sp>
        <p:nvSpPr>
          <p:cNvPr name="TextBox 22" id="22"/>
          <p:cNvSpPr txBox="true"/>
          <p:nvPr/>
        </p:nvSpPr>
        <p:spPr>
          <a:xfrm rot="0">
            <a:off x="6214269" y="6907697"/>
            <a:ext cx="5568122" cy="2286000"/>
          </a:xfrm>
          <a:prstGeom prst="rect">
            <a:avLst/>
          </a:prstGeom>
        </p:spPr>
        <p:txBody>
          <a:bodyPr anchor="t" rtlCol="false" tIns="0" lIns="0" bIns="0" rIns="0">
            <a:spAutoFit/>
          </a:bodyPr>
          <a:lstStyle/>
          <a:p>
            <a:pPr algn="l" marL="0" indent="0" lvl="0">
              <a:lnSpc>
                <a:spcPts val="3000"/>
              </a:lnSpc>
              <a:spcBef>
                <a:spcPct val="0"/>
              </a:spcBef>
            </a:pPr>
            <a:r>
              <a:rPr lang="en-US" sz="2000">
                <a:solidFill>
                  <a:srgbClr val="000000"/>
                </a:solidFill>
                <a:latin typeface="Times New Roman"/>
                <a:ea typeface="Times New Roman"/>
                <a:cs typeface="Times New Roman"/>
                <a:sym typeface="Times New Roman"/>
              </a:rPr>
              <a:t>Es</a:t>
            </a:r>
            <a:r>
              <a:rPr lang="en-US" sz="2000" strike="noStrike" u="none">
                <a:solidFill>
                  <a:srgbClr val="000000"/>
                </a:solidFill>
                <a:latin typeface="Times New Roman"/>
                <a:ea typeface="Times New Roman"/>
                <a:cs typeface="Times New Roman"/>
                <a:sym typeface="Times New Roman"/>
              </a:rPr>
              <a:t>tabl</a:t>
            </a:r>
            <a:r>
              <a:rPr lang="en-US" sz="2000" strike="noStrike" u="none">
                <a:solidFill>
                  <a:srgbClr val="000000"/>
                </a:solidFill>
                <a:latin typeface="Times New Roman"/>
                <a:ea typeface="Times New Roman"/>
                <a:cs typeface="Times New Roman"/>
                <a:sym typeface="Times New Roman"/>
              </a:rPr>
              <a:t>ish</a:t>
            </a:r>
            <a:r>
              <a:rPr lang="en-US" sz="2000" strike="noStrike" u="none">
                <a:solidFill>
                  <a:srgbClr val="000000"/>
                </a:solidFill>
                <a:latin typeface="Times New Roman"/>
                <a:ea typeface="Times New Roman"/>
                <a:cs typeface="Times New Roman"/>
                <a:sym typeface="Times New Roman"/>
              </a:rPr>
              <a:t> </a:t>
            </a:r>
            <a:r>
              <a:rPr lang="en-US" sz="2000" strike="noStrike" u="none">
                <a:solidFill>
                  <a:srgbClr val="000000"/>
                </a:solidFill>
                <a:latin typeface="Times New Roman"/>
                <a:ea typeface="Times New Roman"/>
                <a:cs typeface="Times New Roman"/>
                <a:sym typeface="Times New Roman"/>
              </a:rPr>
              <a:t>Bluetoo</a:t>
            </a:r>
            <a:r>
              <a:rPr lang="en-US" sz="2000" strike="noStrike" u="none">
                <a:solidFill>
                  <a:srgbClr val="000000"/>
                </a:solidFill>
                <a:latin typeface="Times New Roman"/>
                <a:ea typeface="Times New Roman"/>
                <a:cs typeface="Times New Roman"/>
                <a:sym typeface="Times New Roman"/>
              </a:rPr>
              <a:t>th </a:t>
            </a:r>
            <a:r>
              <a:rPr lang="en-US" sz="2000" strike="noStrike" u="none">
                <a:solidFill>
                  <a:srgbClr val="000000"/>
                </a:solidFill>
                <a:latin typeface="Times New Roman"/>
                <a:ea typeface="Times New Roman"/>
                <a:cs typeface="Times New Roman"/>
                <a:sym typeface="Times New Roman"/>
              </a:rPr>
              <a:t>communic</a:t>
            </a:r>
            <a:r>
              <a:rPr lang="en-US" sz="2000" strike="noStrike" u="none">
                <a:solidFill>
                  <a:srgbClr val="000000"/>
                </a:solidFill>
                <a:latin typeface="Times New Roman"/>
                <a:ea typeface="Times New Roman"/>
                <a:cs typeface="Times New Roman"/>
                <a:sym typeface="Times New Roman"/>
              </a:rPr>
              <a:t>a</a:t>
            </a:r>
            <a:r>
              <a:rPr lang="en-US" sz="2000" strike="noStrike" u="none">
                <a:solidFill>
                  <a:srgbClr val="000000"/>
                </a:solidFill>
                <a:latin typeface="Times New Roman"/>
                <a:ea typeface="Times New Roman"/>
                <a:cs typeface="Times New Roman"/>
                <a:sym typeface="Times New Roman"/>
              </a:rPr>
              <a:t>t</a:t>
            </a:r>
            <a:r>
              <a:rPr lang="en-US" sz="2000" strike="noStrike" u="none">
                <a:solidFill>
                  <a:srgbClr val="000000"/>
                </a:solidFill>
                <a:latin typeface="Times New Roman"/>
                <a:ea typeface="Times New Roman"/>
                <a:cs typeface="Times New Roman"/>
                <a:sym typeface="Times New Roman"/>
              </a:rPr>
              <a:t>i</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n</a:t>
            </a:r>
            <a:r>
              <a:rPr lang="en-US" sz="2000" strike="noStrike" u="none">
                <a:solidFill>
                  <a:srgbClr val="000000"/>
                </a:solidFill>
                <a:latin typeface="Times New Roman"/>
                <a:ea typeface="Times New Roman"/>
                <a:cs typeface="Times New Roman"/>
                <a:sym typeface="Times New Roman"/>
              </a:rPr>
              <a:t> (e.</a:t>
            </a:r>
            <a:r>
              <a:rPr lang="en-US" sz="2000" strike="noStrike" u="none">
                <a:solidFill>
                  <a:srgbClr val="000000"/>
                </a:solidFill>
                <a:latin typeface="Times New Roman"/>
                <a:ea typeface="Times New Roman"/>
                <a:cs typeface="Times New Roman"/>
                <a:sym typeface="Times New Roman"/>
              </a:rPr>
              <a:t>g</a:t>
            </a:r>
            <a:r>
              <a:rPr lang="en-US" sz="2000" strike="noStrike" u="none">
                <a:solidFill>
                  <a:srgbClr val="000000"/>
                </a:solidFill>
                <a:latin typeface="Times New Roman"/>
                <a:ea typeface="Times New Roman"/>
                <a:cs typeface="Times New Roman"/>
                <a:sym typeface="Times New Roman"/>
              </a:rPr>
              <a:t>.,</a:t>
            </a:r>
            <a:r>
              <a:rPr lang="en-US" sz="2000" strike="noStrike" u="none">
                <a:solidFill>
                  <a:srgbClr val="000000"/>
                </a:solidFill>
                <a:latin typeface="Times New Roman"/>
                <a:ea typeface="Times New Roman"/>
                <a:cs typeface="Times New Roman"/>
                <a:sym typeface="Times New Roman"/>
              </a:rPr>
              <a:t> using A</a:t>
            </a:r>
            <a:r>
              <a:rPr lang="en-US" sz="2000" strike="noStrike" u="none">
                <a:solidFill>
                  <a:srgbClr val="000000"/>
                </a:solidFill>
                <a:latin typeface="Times New Roman"/>
                <a:ea typeface="Times New Roman"/>
                <a:cs typeface="Times New Roman"/>
                <a:sym typeface="Times New Roman"/>
              </a:rPr>
              <a:t>rduino</a:t>
            </a:r>
            <a:r>
              <a:rPr lang="en-US" sz="2000" strike="noStrike" u="none">
                <a:solidFill>
                  <a:srgbClr val="000000"/>
                </a:solidFill>
                <a:latin typeface="Times New Roman"/>
                <a:ea typeface="Times New Roman"/>
                <a:cs typeface="Times New Roman"/>
                <a:sym typeface="Times New Roman"/>
              </a:rPr>
              <a:t> </a:t>
            </a:r>
            <a:r>
              <a:rPr lang="en-US" sz="2000" strike="noStrike" u="none">
                <a:solidFill>
                  <a:srgbClr val="000000"/>
                </a:solidFill>
                <a:latin typeface="Times New Roman"/>
                <a:ea typeface="Times New Roman"/>
                <a:cs typeface="Times New Roman"/>
                <a:sym typeface="Times New Roman"/>
              </a:rPr>
              <a:t>B</a:t>
            </a:r>
            <a:r>
              <a:rPr lang="en-US" sz="2000" strike="noStrike" u="none">
                <a:solidFill>
                  <a:srgbClr val="000000"/>
                </a:solidFill>
                <a:latin typeface="Times New Roman"/>
                <a:ea typeface="Times New Roman"/>
                <a:cs typeface="Times New Roman"/>
                <a:sym typeface="Times New Roman"/>
              </a:rPr>
              <a:t>l</a:t>
            </a:r>
            <a:r>
              <a:rPr lang="en-US" sz="2000" strike="noStrike" u="none">
                <a:solidFill>
                  <a:srgbClr val="000000"/>
                </a:solidFill>
                <a:latin typeface="Times New Roman"/>
                <a:ea typeface="Times New Roman"/>
                <a:cs typeface="Times New Roman"/>
                <a:sym typeface="Times New Roman"/>
              </a:rPr>
              <a:t>ue </a:t>
            </a:r>
            <a:r>
              <a:rPr lang="en-US" sz="2000" strike="noStrike" u="none">
                <a:solidFill>
                  <a:srgbClr val="000000"/>
                </a:solidFill>
                <a:latin typeface="Times New Roman"/>
                <a:ea typeface="Times New Roman"/>
                <a:cs typeface="Times New Roman"/>
                <a:sym typeface="Times New Roman"/>
              </a:rPr>
              <a:t>or</a:t>
            </a:r>
            <a:r>
              <a:rPr lang="en-US" sz="2000" strike="noStrike" u="none">
                <a:solidFill>
                  <a:srgbClr val="000000"/>
                </a:solidFill>
                <a:latin typeface="Times New Roman"/>
                <a:ea typeface="Times New Roman"/>
                <a:cs typeface="Times New Roman"/>
                <a:sym typeface="Times New Roman"/>
              </a:rPr>
              <a:t> s</a:t>
            </a:r>
            <a:r>
              <a:rPr lang="en-US" sz="2000" strike="noStrike" u="none">
                <a:solidFill>
                  <a:srgbClr val="000000"/>
                </a:solidFill>
                <a:latin typeface="Times New Roman"/>
                <a:ea typeface="Times New Roman"/>
                <a:cs typeface="Times New Roman"/>
                <a:sym typeface="Times New Roman"/>
              </a:rPr>
              <a:t>im</a:t>
            </a:r>
            <a:r>
              <a:rPr lang="en-US" sz="2000" strike="noStrike" u="none">
                <a:solidFill>
                  <a:srgbClr val="000000"/>
                </a:solidFill>
                <a:latin typeface="Times New Roman"/>
                <a:ea typeface="Times New Roman"/>
                <a:cs typeface="Times New Roman"/>
                <a:sym typeface="Times New Roman"/>
              </a:rPr>
              <a:t>i</a:t>
            </a:r>
            <a:r>
              <a:rPr lang="en-US" sz="2000" strike="noStrike" u="none">
                <a:solidFill>
                  <a:srgbClr val="000000"/>
                </a:solidFill>
                <a:latin typeface="Times New Roman"/>
                <a:ea typeface="Times New Roman"/>
                <a:cs typeface="Times New Roman"/>
                <a:sym typeface="Times New Roman"/>
              </a:rPr>
              <a:t>l</a:t>
            </a:r>
            <a:r>
              <a:rPr lang="en-US" sz="2000" strike="noStrike" u="none">
                <a:solidFill>
                  <a:srgbClr val="000000"/>
                </a:solidFill>
                <a:latin typeface="Times New Roman"/>
                <a:ea typeface="Times New Roman"/>
                <a:cs typeface="Times New Roman"/>
                <a:sym typeface="Times New Roman"/>
              </a:rPr>
              <a:t>ar) for s</a:t>
            </a:r>
            <a:r>
              <a:rPr lang="en-US" sz="2000" strike="noStrike" u="none">
                <a:solidFill>
                  <a:srgbClr val="000000"/>
                </a:solidFill>
                <a:latin typeface="Times New Roman"/>
                <a:ea typeface="Times New Roman"/>
                <a:cs typeface="Times New Roman"/>
                <a:sym typeface="Times New Roman"/>
              </a:rPr>
              <a:t>en</a:t>
            </a:r>
            <a:r>
              <a:rPr lang="en-US" sz="2000" strike="noStrike" u="none">
                <a:solidFill>
                  <a:srgbClr val="000000"/>
                </a:solidFill>
                <a:latin typeface="Times New Roman"/>
                <a:ea typeface="Times New Roman"/>
                <a:cs typeface="Times New Roman"/>
                <a:sym typeface="Times New Roman"/>
              </a:rPr>
              <a:t>ding</a:t>
            </a:r>
            <a:r>
              <a:rPr lang="en-US" sz="2000" strike="noStrike" u="none">
                <a:solidFill>
                  <a:srgbClr val="000000"/>
                </a:solidFill>
                <a:latin typeface="Times New Roman"/>
                <a:ea typeface="Times New Roman"/>
                <a:cs typeface="Times New Roman"/>
                <a:sym typeface="Times New Roman"/>
              </a:rPr>
              <a:t> co</a:t>
            </a:r>
            <a:r>
              <a:rPr lang="en-US" sz="2000" strike="noStrike" u="none">
                <a:solidFill>
                  <a:srgbClr val="000000"/>
                </a:solidFill>
                <a:latin typeface="Times New Roman"/>
                <a:ea typeface="Times New Roman"/>
                <a:cs typeface="Times New Roman"/>
                <a:sym typeface="Times New Roman"/>
              </a:rPr>
              <a:t>n</a:t>
            </a:r>
            <a:r>
              <a:rPr lang="en-US" sz="2000" strike="noStrike" u="none">
                <a:solidFill>
                  <a:srgbClr val="000000"/>
                </a:solidFill>
                <a:latin typeface="Times New Roman"/>
                <a:ea typeface="Times New Roman"/>
                <a:cs typeface="Times New Roman"/>
                <a:sym typeface="Times New Roman"/>
              </a:rPr>
              <a:t>t</a:t>
            </a:r>
            <a:r>
              <a:rPr lang="en-US" sz="2000" strike="noStrike" u="none">
                <a:solidFill>
                  <a:srgbClr val="000000"/>
                </a:solidFill>
                <a:latin typeface="Times New Roman"/>
                <a:ea typeface="Times New Roman"/>
                <a:cs typeface="Times New Roman"/>
                <a:sym typeface="Times New Roman"/>
              </a:rPr>
              <a:t>ro</a:t>
            </a:r>
            <a:r>
              <a:rPr lang="en-US" sz="2000" strike="noStrike" u="none">
                <a:solidFill>
                  <a:srgbClr val="000000"/>
                </a:solidFill>
                <a:latin typeface="Times New Roman"/>
                <a:ea typeface="Times New Roman"/>
                <a:cs typeface="Times New Roman"/>
                <a:sym typeface="Times New Roman"/>
              </a:rPr>
              <a:t>l </a:t>
            </a:r>
            <a:r>
              <a:rPr lang="en-US" sz="2000" strike="noStrike" u="none">
                <a:solidFill>
                  <a:srgbClr val="000000"/>
                </a:solidFill>
                <a:latin typeface="Times New Roman"/>
                <a:ea typeface="Times New Roman"/>
                <a:cs typeface="Times New Roman"/>
                <a:sym typeface="Times New Roman"/>
              </a:rPr>
              <a:t>c</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mm</a:t>
            </a:r>
            <a:r>
              <a:rPr lang="en-US" sz="2000" strike="noStrike" u="none">
                <a:solidFill>
                  <a:srgbClr val="000000"/>
                </a:solidFill>
                <a:latin typeface="Times New Roman"/>
                <a:ea typeface="Times New Roman"/>
                <a:cs typeface="Times New Roman"/>
                <a:sym typeface="Times New Roman"/>
              </a:rPr>
              <a:t>an</a:t>
            </a:r>
            <a:r>
              <a:rPr lang="en-US" sz="2000" strike="noStrike" u="none">
                <a:solidFill>
                  <a:srgbClr val="000000"/>
                </a:solidFill>
                <a:latin typeface="Times New Roman"/>
                <a:ea typeface="Times New Roman"/>
                <a:cs typeface="Times New Roman"/>
                <a:sym typeface="Times New Roman"/>
              </a:rPr>
              <a:t>d</a:t>
            </a:r>
            <a:r>
              <a:rPr lang="en-US" sz="2000" strike="noStrike" u="none">
                <a:solidFill>
                  <a:srgbClr val="000000"/>
                </a:solidFill>
                <a:latin typeface="Times New Roman"/>
                <a:ea typeface="Times New Roman"/>
                <a:cs typeface="Times New Roman"/>
                <a:sym typeface="Times New Roman"/>
              </a:rPr>
              <a:t>s</a:t>
            </a:r>
            <a:r>
              <a:rPr lang="en-US" sz="2000" strike="noStrike" u="none">
                <a:solidFill>
                  <a:srgbClr val="000000"/>
                </a:solidFill>
                <a:latin typeface="Times New Roman"/>
                <a:ea typeface="Times New Roman"/>
                <a:cs typeface="Times New Roman"/>
                <a:sym typeface="Times New Roman"/>
              </a:rPr>
              <a:t> to</a:t>
            </a:r>
            <a:r>
              <a:rPr lang="en-US" sz="2000" strike="noStrike" u="none">
                <a:solidFill>
                  <a:srgbClr val="000000"/>
                </a:solidFill>
                <a:latin typeface="Times New Roman"/>
                <a:ea typeface="Times New Roman"/>
                <a:cs typeface="Times New Roman"/>
                <a:sym typeface="Times New Roman"/>
              </a:rPr>
              <a:t> the </a:t>
            </a:r>
            <a:r>
              <a:rPr lang="en-US" sz="2000" strike="noStrike" u="none">
                <a:solidFill>
                  <a:srgbClr val="000000"/>
                </a:solidFill>
                <a:latin typeface="Times New Roman"/>
                <a:ea typeface="Times New Roman"/>
                <a:cs typeface="Times New Roman"/>
                <a:sym typeface="Times New Roman"/>
              </a:rPr>
              <a:t>r</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b</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t</a:t>
            </a:r>
            <a:r>
              <a:rPr lang="en-US" sz="2000" strike="noStrike" u="none">
                <a:solidFill>
                  <a:srgbClr val="000000"/>
                </a:solidFill>
                <a:latin typeface="Times New Roman"/>
                <a:ea typeface="Times New Roman"/>
                <a:cs typeface="Times New Roman"/>
                <a:sym typeface="Times New Roman"/>
              </a:rPr>
              <a:t>.</a:t>
            </a:r>
          </a:p>
          <a:p>
            <a:pPr algn="l" marL="0" indent="0" lvl="0">
              <a:lnSpc>
                <a:spcPts val="3000"/>
              </a:lnSpc>
              <a:spcBef>
                <a:spcPct val="0"/>
              </a:spcBef>
            </a:pPr>
            <a:r>
              <a:rPr lang="en-US" sz="2000" strike="noStrike" u="none">
                <a:solidFill>
                  <a:srgbClr val="000000"/>
                </a:solidFill>
                <a:latin typeface="Times New Roman"/>
                <a:ea typeface="Times New Roman"/>
                <a:cs typeface="Times New Roman"/>
                <a:sym typeface="Times New Roman"/>
              </a:rPr>
              <a:t>En</a:t>
            </a:r>
            <a:r>
              <a:rPr lang="en-US" sz="2000" strike="noStrike" u="none">
                <a:solidFill>
                  <a:srgbClr val="000000"/>
                </a:solidFill>
                <a:latin typeface="Times New Roman"/>
                <a:ea typeface="Times New Roman"/>
                <a:cs typeface="Times New Roman"/>
                <a:sym typeface="Times New Roman"/>
              </a:rPr>
              <a:t>abl</a:t>
            </a:r>
            <a:r>
              <a:rPr lang="en-US" sz="2000" strike="noStrike" u="none">
                <a:solidFill>
                  <a:srgbClr val="000000"/>
                </a:solidFill>
                <a:latin typeface="Times New Roman"/>
                <a:ea typeface="Times New Roman"/>
                <a:cs typeface="Times New Roman"/>
                <a:sym typeface="Times New Roman"/>
              </a:rPr>
              <a:t>e </a:t>
            </a:r>
            <a:r>
              <a:rPr lang="en-US" sz="2000" strike="noStrike" u="none">
                <a:solidFill>
                  <a:srgbClr val="000000"/>
                </a:solidFill>
                <a:latin typeface="Times New Roman"/>
                <a:ea typeface="Times New Roman"/>
                <a:cs typeface="Times New Roman"/>
                <a:sym typeface="Times New Roman"/>
              </a:rPr>
              <a:t>m</a:t>
            </a:r>
            <a:r>
              <a:rPr lang="en-US" sz="2000" strike="noStrike" u="none">
                <a:solidFill>
                  <a:srgbClr val="000000"/>
                </a:solidFill>
                <a:latin typeface="Times New Roman"/>
                <a:ea typeface="Times New Roman"/>
                <a:cs typeface="Times New Roman"/>
                <a:sym typeface="Times New Roman"/>
              </a:rPr>
              <a:t>a</a:t>
            </a:r>
            <a:r>
              <a:rPr lang="en-US" sz="2000" strike="noStrike" u="none">
                <a:solidFill>
                  <a:srgbClr val="000000"/>
                </a:solidFill>
                <a:latin typeface="Times New Roman"/>
                <a:ea typeface="Times New Roman"/>
                <a:cs typeface="Times New Roman"/>
                <a:sym typeface="Times New Roman"/>
              </a:rPr>
              <a:t>nua</a:t>
            </a:r>
            <a:r>
              <a:rPr lang="en-US" sz="2000" strike="noStrike" u="none">
                <a:solidFill>
                  <a:srgbClr val="000000"/>
                </a:solidFill>
                <a:latin typeface="Times New Roman"/>
                <a:ea typeface="Times New Roman"/>
                <a:cs typeface="Times New Roman"/>
                <a:sym typeface="Times New Roman"/>
              </a:rPr>
              <a:t>l c</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nt</a:t>
            </a:r>
            <a:r>
              <a:rPr lang="en-US" sz="2000" strike="noStrike" u="none">
                <a:solidFill>
                  <a:srgbClr val="000000"/>
                </a:solidFill>
                <a:latin typeface="Times New Roman"/>
                <a:ea typeface="Times New Roman"/>
                <a:cs typeface="Times New Roman"/>
                <a:sym typeface="Times New Roman"/>
              </a:rPr>
              <a:t>r</a:t>
            </a:r>
            <a:r>
              <a:rPr lang="en-US" sz="2000" strike="noStrike" u="none">
                <a:solidFill>
                  <a:srgbClr val="000000"/>
                </a:solidFill>
                <a:latin typeface="Times New Roman"/>
                <a:ea typeface="Times New Roman"/>
                <a:cs typeface="Times New Roman"/>
                <a:sym typeface="Times New Roman"/>
              </a:rPr>
              <a:t>ol and </a:t>
            </a:r>
            <a:r>
              <a:rPr lang="en-US" sz="2000" strike="noStrike" u="none">
                <a:solidFill>
                  <a:srgbClr val="000000"/>
                </a:solidFill>
                <a:latin typeface="Times New Roman"/>
                <a:ea typeface="Times New Roman"/>
                <a:cs typeface="Times New Roman"/>
                <a:sym typeface="Times New Roman"/>
              </a:rPr>
              <a:t>high-</a:t>
            </a:r>
            <a:r>
              <a:rPr lang="en-US" sz="2000" strike="noStrike" u="none">
                <a:solidFill>
                  <a:srgbClr val="000000"/>
                </a:solidFill>
                <a:latin typeface="Times New Roman"/>
                <a:ea typeface="Times New Roman"/>
                <a:cs typeface="Times New Roman"/>
                <a:sym typeface="Times New Roman"/>
              </a:rPr>
              <a:t>l</a:t>
            </a:r>
            <a:r>
              <a:rPr lang="en-US" sz="2000" strike="noStrike" u="none">
                <a:solidFill>
                  <a:srgbClr val="000000"/>
                </a:solidFill>
                <a:latin typeface="Times New Roman"/>
                <a:ea typeface="Times New Roman"/>
                <a:cs typeface="Times New Roman"/>
                <a:sym typeface="Times New Roman"/>
              </a:rPr>
              <a:t>eve</a:t>
            </a:r>
            <a:r>
              <a:rPr lang="en-US" sz="2000" strike="noStrike" u="none">
                <a:solidFill>
                  <a:srgbClr val="000000"/>
                </a:solidFill>
                <a:latin typeface="Times New Roman"/>
                <a:ea typeface="Times New Roman"/>
                <a:cs typeface="Times New Roman"/>
                <a:sym typeface="Times New Roman"/>
              </a:rPr>
              <a:t>l </a:t>
            </a:r>
            <a:r>
              <a:rPr lang="en-US" sz="2000" strike="noStrike" u="none">
                <a:solidFill>
                  <a:srgbClr val="000000"/>
                </a:solidFill>
                <a:latin typeface="Times New Roman"/>
                <a:ea typeface="Times New Roman"/>
                <a:cs typeface="Times New Roman"/>
                <a:sym typeface="Times New Roman"/>
              </a:rPr>
              <a:t>comm</a:t>
            </a:r>
            <a:r>
              <a:rPr lang="en-US" sz="2000" strike="noStrike" u="none">
                <a:solidFill>
                  <a:srgbClr val="000000"/>
                </a:solidFill>
                <a:latin typeface="Times New Roman"/>
                <a:ea typeface="Times New Roman"/>
                <a:cs typeface="Times New Roman"/>
                <a:sym typeface="Times New Roman"/>
              </a:rPr>
              <a:t>an</a:t>
            </a:r>
            <a:r>
              <a:rPr lang="en-US" sz="2000" strike="noStrike" u="none">
                <a:solidFill>
                  <a:srgbClr val="000000"/>
                </a:solidFill>
                <a:latin typeface="Times New Roman"/>
                <a:ea typeface="Times New Roman"/>
                <a:cs typeface="Times New Roman"/>
                <a:sym typeface="Times New Roman"/>
              </a:rPr>
              <a:t>d</a:t>
            </a:r>
            <a:r>
              <a:rPr lang="en-US" sz="2000" strike="noStrike" u="none">
                <a:solidFill>
                  <a:srgbClr val="000000"/>
                </a:solidFill>
                <a:latin typeface="Times New Roman"/>
                <a:ea typeface="Times New Roman"/>
                <a:cs typeface="Times New Roman"/>
                <a:sym typeface="Times New Roman"/>
              </a:rPr>
              <a:t> </a:t>
            </a:r>
            <a:r>
              <a:rPr lang="en-US" sz="2000" strike="noStrike" u="none">
                <a:solidFill>
                  <a:srgbClr val="000000"/>
                </a:solidFill>
                <a:latin typeface="Times New Roman"/>
                <a:ea typeface="Times New Roman"/>
                <a:cs typeface="Times New Roman"/>
                <a:sym typeface="Times New Roman"/>
              </a:rPr>
              <a:t>ex</a:t>
            </a:r>
            <a:r>
              <a:rPr lang="en-US" sz="2000" strike="noStrike" u="none">
                <a:solidFill>
                  <a:srgbClr val="000000"/>
                </a:solidFill>
                <a:latin typeface="Times New Roman"/>
                <a:ea typeface="Times New Roman"/>
                <a:cs typeface="Times New Roman"/>
                <a:sym typeface="Times New Roman"/>
              </a:rPr>
              <a:t>ec</a:t>
            </a:r>
            <a:r>
              <a:rPr lang="en-US" sz="2000" strike="noStrike" u="none">
                <a:solidFill>
                  <a:srgbClr val="000000"/>
                </a:solidFill>
                <a:latin typeface="Times New Roman"/>
                <a:ea typeface="Times New Roman"/>
                <a:cs typeface="Times New Roman"/>
                <a:sym typeface="Times New Roman"/>
              </a:rPr>
              <a:t>ut</a:t>
            </a:r>
            <a:r>
              <a:rPr lang="en-US" sz="2000" strike="noStrike" u="none">
                <a:solidFill>
                  <a:srgbClr val="000000"/>
                </a:solidFill>
                <a:latin typeface="Times New Roman"/>
                <a:ea typeface="Times New Roman"/>
                <a:cs typeface="Times New Roman"/>
                <a:sym typeface="Times New Roman"/>
              </a:rPr>
              <a:t>i</a:t>
            </a:r>
            <a:r>
              <a:rPr lang="en-US" sz="2000" strike="noStrike" u="none">
                <a:solidFill>
                  <a:srgbClr val="000000"/>
                </a:solidFill>
                <a:latin typeface="Times New Roman"/>
                <a:ea typeface="Times New Roman"/>
                <a:cs typeface="Times New Roman"/>
                <a:sym typeface="Times New Roman"/>
              </a:rPr>
              <a:t>o</a:t>
            </a:r>
            <a:r>
              <a:rPr lang="en-US" sz="2000" strike="noStrike" u="none">
                <a:solidFill>
                  <a:srgbClr val="000000"/>
                </a:solidFill>
                <a:latin typeface="Times New Roman"/>
                <a:ea typeface="Times New Roman"/>
                <a:cs typeface="Times New Roman"/>
                <a:sym typeface="Times New Roman"/>
              </a:rPr>
              <a:t>n </a:t>
            </a:r>
            <a:r>
              <a:rPr lang="en-US" sz="2000" strike="noStrike" u="none">
                <a:solidFill>
                  <a:srgbClr val="000000"/>
                </a:solidFill>
                <a:latin typeface="Times New Roman"/>
                <a:ea typeface="Times New Roman"/>
                <a:cs typeface="Times New Roman"/>
                <a:sym typeface="Times New Roman"/>
              </a:rPr>
              <a:t>(e.g.,</a:t>
            </a:r>
            <a:r>
              <a:rPr lang="en-US" sz="2000" strike="noStrike" u="none">
                <a:solidFill>
                  <a:srgbClr val="000000"/>
                </a:solidFill>
                <a:latin typeface="Times New Roman"/>
                <a:ea typeface="Times New Roman"/>
                <a:cs typeface="Times New Roman"/>
                <a:sym typeface="Times New Roman"/>
              </a:rPr>
              <a:t> s</a:t>
            </a:r>
            <a:r>
              <a:rPr lang="en-US" sz="2000" strike="noStrike" u="none">
                <a:solidFill>
                  <a:srgbClr val="000000"/>
                </a:solidFill>
                <a:latin typeface="Times New Roman"/>
                <a:ea typeface="Times New Roman"/>
                <a:cs typeface="Times New Roman"/>
                <a:sym typeface="Times New Roman"/>
              </a:rPr>
              <a:t>t</a:t>
            </a:r>
            <a:r>
              <a:rPr lang="en-US" sz="2000" strike="noStrike" u="none">
                <a:solidFill>
                  <a:srgbClr val="000000"/>
                </a:solidFill>
                <a:latin typeface="Times New Roman"/>
                <a:ea typeface="Times New Roman"/>
                <a:cs typeface="Times New Roman"/>
                <a:sym typeface="Times New Roman"/>
              </a:rPr>
              <a:t>a</a:t>
            </a:r>
            <a:r>
              <a:rPr lang="en-US" sz="2000" strike="noStrike" u="none">
                <a:solidFill>
                  <a:srgbClr val="000000"/>
                </a:solidFill>
                <a:latin typeface="Times New Roman"/>
                <a:ea typeface="Times New Roman"/>
                <a:cs typeface="Times New Roman"/>
                <a:sym typeface="Times New Roman"/>
              </a:rPr>
              <a:t>rt, stop, r</a:t>
            </a:r>
            <a:r>
              <a:rPr lang="en-US" sz="2000" strike="noStrike" u="none">
                <a:solidFill>
                  <a:srgbClr val="000000"/>
                </a:solidFill>
                <a:latin typeface="Times New Roman"/>
                <a:ea typeface="Times New Roman"/>
                <a:cs typeface="Times New Roman"/>
                <a:sym typeface="Times New Roman"/>
              </a:rPr>
              <a:t>e</a:t>
            </a:r>
            <a:r>
              <a:rPr lang="en-US" sz="2000" strike="noStrike" u="none">
                <a:solidFill>
                  <a:srgbClr val="000000"/>
                </a:solidFill>
                <a:latin typeface="Times New Roman"/>
                <a:ea typeface="Times New Roman"/>
                <a:cs typeface="Times New Roman"/>
                <a:sym typeface="Times New Roman"/>
              </a:rPr>
              <a:t>tur</a:t>
            </a:r>
            <a:r>
              <a:rPr lang="en-US" sz="2000" strike="noStrike" u="none">
                <a:solidFill>
                  <a:srgbClr val="000000"/>
                </a:solidFill>
                <a:latin typeface="Times New Roman"/>
                <a:ea typeface="Times New Roman"/>
                <a:cs typeface="Times New Roman"/>
                <a:sym typeface="Times New Roman"/>
              </a:rPr>
              <a:t>n</a:t>
            </a:r>
            <a:r>
              <a:rPr lang="en-US" sz="2000" strike="noStrike" u="none">
                <a:solidFill>
                  <a:srgbClr val="000000"/>
                </a:solidFill>
                <a:latin typeface="Times New Roman"/>
                <a:ea typeface="Times New Roman"/>
                <a:cs typeface="Times New Roman"/>
                <a:sym typeface="Times New Roman"/>
              </a:rPr>
              <a:t> </a:t>
            </a:r>
            <a:r>
              <a:rPr lang="en-US" sz="2000" strike="noStrike" u="none">
                <a:solidFill>
                  <a:srgbClr val="000000"/>
                </a:solidFill>
                <a:latin typeface="Times New Roman"/>
                <a:ea typeface="Times New Roman"/>
                <a:cs typeface="Times New Roman"/>
                <a:sym typeface="Times New Roman"/>
              </a:rPr>
              <a:t>to</a:t>
            </a:r>
            <a:r>
              <a:rPr lang="en-US" sz="2000" strike="noStrike" u="none">
                <a:solidFill>
                  <a:srgbClr val="000000"/>
                </a:solidFill>
                <a:latin typeface="Times New Roman"/>
                <a:ea typeface="Times New Roman"/>
                <a:cs typeface="Times New Roman"/>
                <a:sym typeface="Times New Roman"/>
              </a:rPr>
              <a:t> start)</a:t>
            </a:r>
            <a:r>
              <a:rPr lang="en-US" sz="2000" strike="noStrike" u="none">
                <a:solidFill>
                  <a:srgbClr val="000000"/>
                </a:solidFill>
                <a:latin typeface="Times New Roman"/>
                <a:ea typeface="Times New Roman"/>
                <a:cs typeface="Times New Roman"/>
                <a:sym typeface="Times New Roman"/>
              </a:rPr>
              <a:t>.</a:t>
            </a:r>
          </a:p>
          <a:p>
            <a:pPr algn="l" marL="0" indent="0" lvl="0">
              <a:lnSpc>
                <a:spcPts val="3000"/>
              </a:lnSpc>
              <a:spcBef>
                <a:spcPct val="0"/>
              </a:spcBef>
            </a:pPr>
          </a:p>
        </p:txBody>
      </p:sp>
      <p:sp>
        <p:nvSpPr>
          <p:cNvPr name="TextBox 23" id="23"/>
          <p:cNvSpPr txBox="true"/>
          <p:nvPr/>
        </p:nvSpPr>
        <p:spPr>
          <a:xfrm rot="0">
            <a:off x="6214269" y="6267523"/>
            <a:ext cx="3082131" cy="396240"/>
          </a:xfrm>
          <a:prstGeom prst="rect">
            <a:avLst/>
          </a:prstGeom>
        </p:spPr>
        <p:txBody>
          <a:bodyPr anchor="t" rtlCol="false" tIns="0" lIns="0" bIns="0" rIns="0">
            <a:spAutoFit/>
          </a:bodyPr>
          <a:lstStyle/>
          <a:p>
            <a:pPr algn="just">
              <a:lnSpc>
                <a:spcPts val="3150"/>
              </a:lnSpc>
              <a:spcBef>
                <a:spcPct val="0"/>
              </a:spcBef>
            </a:pPr>
            <a:r>
              <a:rPr lang="en-US" b="true" sz="2100">
                <a:solidFill>
                  <a:srgbClr val="000000"/>
                </a:solidFill>
                <a:latin typeface="Times New Roman Bold"/>
                <a:ea typeface="Times New Roman Bold"/>
                <a:cs typeface="Times New Roman Bold"/>
                <a:sym typeface="Times New Roman Bold"/>
              </a:rPr>
              <a:t> Bluetooth Commu</a:t>
            </a:r>
            <a:r>
              <a:rPr lang="en-US" b="true" sz="2100">
                <a:solidFill>
                  <a:srgbClr val="000000"/>
                </a:solidFill>
                <a:latin typeface="Times New Roman Bold"/>
                <a:ea typeface="Times New Roman Bold"/>
                <a:cs typeface="Times New Roman Bold"/>
                <a:sym typeface="Times New Roman Bold"/>
              </a:rPr>
              <a:t>nication</a:t>
            </a:r>
          </a:p>
        </p:txBody>
      </p:sp>
      <p:sp>
        <p:nvSpPr>
          <p:cNvPr name="TextBox 24" id="24"/>
          <p:cNvSpPr txBox="true"/>
          <p:nvPr/>
        </p:nvSpPr>
        <p:spPr>
          <a:xfrm rot="0">
            <a:off x="12279202" y="3586067"/>
            <a:ext cx="2818309" cy="396240"/>
          </a:xfrm>
          <a:prstGeom prst="rect">
            <a:avLst/>
          </a:prstGeom>
        </p:spPr>
        <p:txBody>
          <a:bodyPr anchor="t" rtlCol="false" tIns="0" lIns="0" bIns="0" rIns="0">
            <a:spAutoFit/>
          </a:bodyPr>
          <a:lstStyle/>
          <a:p>
            <a:pPr algn="just">
              <a:lnSpc>
                <a:spcPts val="3150"/>
              </a:lnSpc>
              <a:spcBef>
                <a:spcPct val="0"/>
              </a:spcBef>
            </a:pPr>
            <a:r>
              <a:rPr lang="en-US" b="true" sz="2100">
                <a:solidFill>
                  <a:srgbClr val="000000"/>
                </a:solidFill>
                <a:latin typeface="Times New Roman Bold"/>
                <a:ea typeface="Times New Roman Bold"/>
                <a:cs typeface="Times New Roman Bold"/>
                <a:sym typeface="Times New Roman Bold"/>
              </a:rPr>
              <a:t>Simulation Environme</a:t>
            </a:r>
            <a:r>
              <a:rPr lang="en-US" b="true" sz="2100">
                <a:solidFill>
                  <a:srgbClr val="000000"/>
                </a:solidFill>
                <a:latin typeface="Times New Roman Bold"/>
                <a:ea typeface="Times New Roman Bold"/>
                <a:cs typeface="Times New Roman Bold"/>
                <a:sym typeface="Times New Roman Bold"/>
              </a:rPr>
              <a:t>nt</a:t>
            </a:r>
          </a:p>
        </p:txBody>
      </p:sp>
      <p:sp>
        <p:nvSpPr>
          <p:cNvPr name="TextBox 25" id="25"/>
          <p:cNvSpPr txBox="true"/>
          <p:nvPr/>
        </p:nvSpPr>
        <p:spPr>
          <a:xfrm rot="0">
            <a:off x="12279202" y="6231431"/>
            <a:ext cx="4156571" cy="796290"/>
          </a:xfrm>
          <a:prstGeom prst="rect">
            <a:avLst/>
          </a:prstGeom>
        </p:spPr>
        <p:txBody>
          <a:bodyPr anchor="t" rtlCol="false" tIns="0" lIns="0" bIns="0" rIns="0">
            <a:spAutoFit/>
          </a:bodyPr>
          <a:lstStyle/>
          <a:p>
            <a:pPr algn="just">
              <a:lnSpc>
                <a:spcPts val="3150"/>
              </a:lnSpc>
            </a:pPr>
            <a:r>
              <a:rPr lang="en-US" sz="2100" b="true">
                <a:solidFill>
                  <a:srgbClr val="000000"/>
                </a:solidFill>
                <a:latin typeface="Times New Roman Bold"/>
                <a:ea typeface="Times New Roman Bold"/>
                <a:cs typeface="Times New Roman Bold"/>
                <a:sym typeface="Times New Roman Bold"/>
              </a:rPr>
              <a:t>Real-World Deployment and Testing</a:t>
            </a:r>
          </a:p>
          <a:p>
            <a:pPr algn="just">
              <a:lnSpc>
                <a:spcPts val="315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112936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31520" y="41910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Freeform 8" id="8"/>
          <p:cNvSpPr/>
          <p:nvPr/>
        </p:nvSpPr>
        <p:spPr>
          <a:xfrm flipH="false" flipV="false" rot="0">
            <a:off x="12049999" y="5979675"/>
            <a:ext cx="5554038" cy="2823302"/>
          </a:xfrm>
          <a:custGeom>
            <a:avLst/>
            <a:gdLst/>
            <a:ahLst/>
            <a:cxnLst/>
            <a:rect r="r" b="b" t="t" l="l"/>
            <a:pathLst>
              <a:path h="2823302" w="5554038">
                <a:moveTo>
                  <a:pt x="0" y="0"/>
                </a:moveTo>
                <a:lnTo>
                  <a:pt x="5554037" y="0"/>
                </a:lnTo>
                <a:lnTo>
                  <a:pt x="5554037" y="2823302"/>
                </a:lnTo>
                <a:lnTo>
                  <a:pt x="0" y="2823302"/>
                </a:lnTo>
                <a:lnTo>
                  <a:pt x="0" y="0"/>
                </a:lnTo>
                <a:close/>
              </a:path>
            </a:pathLst>
          </a:custGeom>
          <a:blipFill>
            <a:blip r:embed="rId7"/>
            <a:stretch>
              <a:fillRect l="0" t="0" r="0" b="0"/>
            </a:stretch>
          </a:blipFill>
        </p:spPr>
      </p:sp>
      <p:sp>
        <p:nvSpPr>
          <p:cNvPr name="TextBox 9" id="9"/>
          <p:cNvSpPr txBox="true"/>
          <p:nvPr/>
        </p:nvSpPr>
        <p:spPr>
          <a:xfrm rot="0">
            <a:off x="12049999" y="3329612"/>
            <a:ext cx="5254766" cy="1999488"/>
          </a:xfrm>
          <a:prstGeom prst="rect">
            <a:avLst/>
          </a:prstGeom>
        </p:spPr>
        <p:txBody>
          <a:bodyPr anchor="t" rtlCol="false" tIns="0" lIns="0" bIns="0" rIns="0">
            <a:spAutoFit/>
          </a:bodyPr>
          <a:lstStyle/>
          <a:p>
            <a:pPr algn="just">
              <a:lnSpc>
                <a:spcPts val="2279"/>
              </a:lnSpc>
            </a:pPr>
            <a:r>
              <a:rPr lang="en-US" sz="1519">
                <a:solidFill>
                  <a:srgbClr val="404040"/>
                </a:solidFill>
                <a:latin typeface="Times New Roman"/>
                <a:ea typeface="Times New Roman"/>
                <a:cs typeface="Times New Roman"/>
                <a:sym typeface="Times New Roman"/>
              </a:rPr>
              <a:t>In this system, the Bluetooth module serves as the communication bridge between the host computer and the on-board control core.</a:t>
            </a:r>
          </a:p>
          <a:p>
            <a:pPr algn="just">
              <a:lnSpc>
                <a:spcPts val="2279"/>
              </a:lnSpc>
            </a:pPr>
            <a:r>
              <a:rPr lang="en-US" sz="1519">
                <a:solidFill>
                  <a:srgbClr val="404040"/>
                </a:solidFill>
                <a:latin typeface="Times New Roman"/>
                <a:ea typeface="Times New Roman"/>
                <a:cs typeface="Times New Roman"/>
                <a:sym typeface="Times New Roman"/>
              </a:rPr>
              <a:t>The host sends command frames to control vehicle actions, while the lower computer parses and executes them.</a:t>
            </a:r>
          </a:p>
          <a:p>
            <a:pPr algn="just">
              <a:lnSpc>
                <a:spcPts val="2279"/>
              </a:lnSpc>
            </a:pPr>
            <a:r>
              <a:rPr lang="en-US" sz="1519">
                <a:solidFill>
                  <a:srgbClr val="404040"/>
                </a:solidFill>
                <a:latin typeface="Times New Roman"/>
                <a:ea typeface="Times New Roman"/>
                <a:cs typeface="Times New Roman"/>
                <a:sym typeface="Times New Roman"/>
              </a:rPr>
              <a:t>Meanwhile, it packages real-time attitude, encoder readings, and LiDAR data and transmits them back to the host,</a:t>
            </a:r>
          </a:p>
          <a:p>
            <a:pPr algn="just">
              <a:lnSpc>
                <a:spcPts val="2279"/>
              </a:lnSpc>
            </a:pPr>
            <a:r>
              <a:rPr lang="en-US" sz="1519">
                <a:solidFill>
                  <a:srgbClr val="404040"/>
                </a:solidFill>
                <a:latin typeface="Times New Roman"/>
                <a:ea typeface="Times New Roman"/>
                <a:cs typeface="Times New Roman"/>
                <a:sym typeface="Times New Roman"/>
              </a:rPr>
              <a:t>forming a closed-loop data exchange and feedback mechanism.</a:t>
            </a:r>
          </a:p>
        </p:txBody>
      </p:sp>
      <p:sp>
        <p:nvSpPr>
          <p:cNvPr name="TextBox 10" id="10"/>
          <p:cNvSpPr txBox="true"/>
          <p:nvPr/>
        </p:nvSpPr>
        <p:spPr>
          <a:xfrm rot="0">
            <a:off x="1183002" y="2501185"/>
            <a:ext cx="3622814" cy="5003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Downlink Protocol</a:t>
            </a:r>
          </a:p>
        </p:txBody>
      </p:sp>
      <p:sp>
        <p:nvSpPr>
          <p:cNvPr name="TextBox 11" id="11"/>
          <p:cNvSpPr txBox="true"/>
          <p:nvPr/>
        </p:nvSpPr>
        <p:spPr>
          <a:xfrm rot="0">
            <a:off x="6674894" y="2501185"/>
            <a:ext cx="5005500" cy="500380"/>
          </a:xfrm>
          <a:prstGeom prst="rect">
            <a:avLst/>
          </a:prstGeom>
        </p:spPr>
        <p:txBody>
          <a:bodyPr anchor="t" rtlCol="false" tIns="0" lIns="0" bIns="0" rIns="0">
            <a:spAutoFit/>
          </a:bodyPr>
          <a:lstStyle/>
          <a:p>
            <a:pPr algn="just">
              <a:lnSpc>
                <a:spcPts val="3919"/>
              </a:lnSpc>
            </a:pPr>
            <a:r>
              <a:rPr lang="en-US" b="true" sz="2799" spc="278">
                <a:solidFill>
                  <a:srgbClr val="963D3D"/>
                </a:solidFill>
                <a:latin typeface="Times New Roman Bold"/>
                <a:ea typeface="Times New Roman Bold"/>
                <a:cs typeface="Times New Roman Bold"/>
                <a:sym typeface="Times New Roman Bold"/>
              </a:rPr>
              <a:t>Uplink Data Transmission</a:t>
            </a:r>
          </a:p>
        </p:txBody>
      </p:sp>
      <p:sp>
        <p:nvSpPr>
          <p:cNvPr name="TextBox 12" id="12"/>
          <p:cNvSpPr txBox="true"/>
          <p:nvPr/>
        </p:nvSpPr>
        <p:spPr>
          <a:xfrm rot="0">
            <a:off x="12049999" y="2501185"/>
            <a:ext cx="4995093" cy="500380"/>
          </a:xfrm>
          <a:prstGeom prst="rect">
            <a:avLst/>
          </a:prstGeom>
        </p:spPr>
        <p:txBody>
          <a:bodyPr anchor="t" rtlCol="false" tIns="0" lIns="0" bIns="0" rIns="0">
            <a:spAutoFit/>
          </a:bodyPr>
          <a:lstStyle/>
          <a:p>
            <a:pPr algn="just">
              <a:lnSpc>
                <a:spcPts val="3919"/>
              </a:lnSpc>
            </a:pPr>
            <a:r>
              <a:rPr lang="en-US" b="true" sz="2799" spc="278">
                <a:solidFill>
                  <a:srgbClr val="963D3D"/>
                </a:solidFill>
                <a:latin typeface="Times New Roman Bold"/>
                <a:ea typeface="Times New Roman Bold"/>
                <a:cs typeface="Times New Roman Bold"/>
                <a:sym typeface="Times New Roman Bold"/>
              </a:rPr>
              <a:t>Communication Workflow</a:t>
            </a:r>
          </a:p>
        </p:txBody>
      </p:sp>
      <p:sp>
        <p:nvSpPr>
          <p:cNvPr name="TextBox 13" id="13"/>
          <p:cNvSpPr txBox="true"/>
          <p:nvPr/>
        </p:nvSpPr>
        <p:spPr>
          <a:xfrm rot="0">
            <a:off x="2149183" y="259162"/>
            <a:ext cx="9531211" cy="1480023"/>
          </a:xfrm>
          <a:prstGeom prst="rect">
            <a:avLst/>
          </a:prstGeom>
        </p:spPr>
        <p:txBody>
          <a:bodyPr anchor="t" rtlCol="false" tIns="0" lIns="0" bIns="0" rIns="0">
            <a:spAutoFit/>
          </a:bodyPr>
          <a:lstStyle/>
          <a:p>
            <a:pPr algn="l">
              <a:lnSpc>
                <a:spcPts val="5776"/>
              </a:lnSpc>
            </a:pPr>
            <a:r>
              <a:rPr lang="en-US" sz="4813" b="true">
                <a:solidFill>
                  <a:srgbClr val="FFFFFF"/>
                </a:solidFill>
                <a:latin typeface="Times New Roman Bold"/>
                <a:ea typeface="Times New Roman Bold"/>
                <a:cs typeface="Times New Roman Bold"/>
                <a:sym typeface="Times New Roman Bold"/>
              </a:rPr>
              <a:t>Bluetooth Communication Protocol</a:t>
            </a:r>
          </a:p>
          <a:p>
            <a:pPr algn="l">
              <a:lnSpc>
                <a:spcPts val="5777"/>
              </a:lnSpc>
            </a:pPr>
            <a:r>
              <a:rPr lang="en-US" b="true" sz="4813" spc="0">
                <a:solidFill>
                  <a:srgbClr val="FFFFFF"/>
                </a:solidFill>
                <a:latin typeface="Times New Roman Bold"/>
                <a:ea typeface="Times New Roman Bold"/>
                <a:cs typeface="Times New Roman Bold"/>
                <a:sym typeface="Times New Roman Bold"/>
              </a:rPr>
              <a:t>&amp;</a:t>
            </a:r>
            <a:r>
              <a:rPr lang="en-US" b="true" sz="4813" spc="0">
                <a:solidFill>
                  <a:srgbClr val="FFFFFF"/>
                </a:solidFill>
                <a:latin typeface="Times New Roman Bold"/>
                <a:ea typeface="Times New Roman Bold"/>
                <a:cs typeface="Times New Roman Bold"/>
                <a:sym typeface="Times New Roman Bold"/>
              </a:rPr>
              <a:t> Data Transmission</a:t>
            </a:r>
          </a:p>
        </p:txBody>
      </p:sp>
      <p:sp>
        <p:nvSpPr>
          <p:cNvPr name="TextBox 14" id="14"/>
          <p:cNvSpPr txBox="true"/>
          <p:nvPr/>
        </p:nvSpPr>
        <p:spPr>
          <a:xfrm rot="0">
            <a:off x="12484011" y="-70895"/>
            <a:ext cx="5677741" cy="1904550"/>
          </a:xfrm>
          <a:prstGeom prst="rect">
            <a:avLst/>
          </a:prstGeom>
        </p:spPr>
        <p:txBody>
          <a:bodyPr anchor="t" rtlCol="false" tIns="0" lIns="0" bIns="0" rIns="0">
            <a:spAutoFit/>
          </a:bodyPr>
          <a:lstStyle/>
          <a:p>
            <a:pPr algn="l">
              <a:lnSpc>
                <a:spcPts val="3017"/>
              </a:lnSpc>
              <a:spcBef>
                <a:spcPct val="0"/>
              </a:spcBef>
            </a:pPr>
            <a:r>
              <a:rPr lang="en-US" sz="2011">
                <a:solidFill>
                  <a:srgbClr val="FFFFFF"/>
                </a:solidFill>
                <a:latin typeface="Times New Roman"/>
                <a:ea typeface="Times New Roman"/>
                <a:cs typeface="Times New Roman"/>
                <a:sym typeface="Times New Roman"/>
              </a:rPr>
              <a:t>This module is responsible for the </a:t>
            </a:r>
            <a:r>
              <a:rPr lang="en-US" b="true" sz="2011">
                <a:solidFill>
                  <a:srgbClr val="FFFFFF"/>
                </a:solidFill>
                <a:latin typeface="Times New Roman Bold"/>
                <a:ea typeface="Times New Roman Bold"/>
                <a:cs typeface="Times New Roman Bold"/>
                <a:sym typeface="Times New Roman Bold"/>
              </a:rPr>
              <a:t>bidirectional communication link </a:t>
            </a:r>
            <a:r>
              <a:rPr lang="en-US" sz="2011">
                <a:solidFill>
                  <a:srgbClr val="FFFFFF"/>
                </a:solidFill>
                <a:latin typeface="Times New Roman"/>
                <a:ea typeface="Times New Roman"/>
                <a:cs typeface="Times New Roman"/>
                <a:sym typeface="Times New Roman"/>
              </a:rPr>
              <a:t>between the vehicle and the host computer. It handles </a:t>
            </a:r>
            <a:r>
              <a:rPr lang="en-US" b="true" sz="2011">
                <a:solidFill>
                  <a:srgbClr val="FFFFFF"/>
                </a:solidFill>
                <a:latin typeface="Times New Roman Bold"/>
                <a:ea typeface="Times New Roman Bold"/>
                <a:cs typeface="Times New Roman Bold"/>
                <a:sym typeface="Times New Roman Bold"/>
              </a:rPr>
              <a:t>command reception and status feedback</a:t>
            </a:r>
            <a:r>
              <a:rPr lang="en-US" sz="2011">
                <a:solidFill>
                  <a:srgbClr val="FFFFFF"/>
                </a:solidFill>
                <a:latin typeface="Times New Roman"/>
                <a:ea typeface="Times New Roman"/>
                <a:cs typeface="Times New Roman"/>
                <a:sym typeface="Times New Roman"/>
              </a:rPr>
              <a:t>, providing the fundamental communication capability for remote control and data synchronization.</a:t>
            </a:r>
          </a:p>
        </p:txBody>
      </p:sp>
      <p:sp>
        <p:nvSpPr>
          <p:cNvPr name="TextBox 15" id="15"/>
          <p:cNvSpPr txBox="true"/>
          <p:nvPr/>
        </p:nvSpPr>
        <p:spPr>
          <a:xfrm rot="0">
            <a:off x="1183002" y="3158162"/>
            <a:ext cx="1516410"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Frame Format:</a:t>
            </a:r>
          </a:p>
        </p:txBody>
      </p:sp>
      <p:sp>
        <p:nvSpPr>
          <p:cNvPr name="TextBox 16" id="16"/>
          <p:cNvSpPr txBox="true"/>
          <p:nvPr/>
        </p:nvSpPr>
        <p:spPr>
          <a:xfrm rot="0">
            <a:off x="1183002" y="3553153"/>
            <a:ext cx="4393109" cy="349895"/>
          </a:xfrm>
          <a:prstGeom prst="rect">
            <a:avLst/>
          </a:prstGeom>
        </p:spPr>
        <p:txBody>
          <a:bodyPr anchor="t" rtlCol="false" tIns="0" lIns="0" bIns="0" rIns="0">
            <a:spAutoFit/>
          </a:bodyPr>
          <a:lstStyle/>
          <a:p>
            <a:pPr algn="l">
              <a:lnSpc>
                <a:spcPts val="2724"/>
              </a:lnSpc>
              <a:spcBef>
                <a:spcPct val="0"/>
              </a:spcBef>
            </a:pPr>
            <a:r>
              <a:rPr lang="en-US" sz="1816">
                <a:solidFill>
                  <a:srgbClr val="000000"/>
                </a:solidFill>
                <a:latin typeface="Times New Roman"/>
                <a:ea typeface="Times New Roman"/>
                <a:cs typeface="Times New Roman"/>
                <a:sym typeface="Times New Roman"/>
              </a:rPr>
              <a:t>0xAA 0x55 | LenL LenH | Payload | CrcL CrcH</a:t>
            </a:r>
          </a:p>
        </p:txBody>
      </p:sp>
      <p:sp>
        <p:nvSpPr>
          <p:cNvPr name="TextBox 17" id="17"/>
          <p:cNvSpPr txBox="true"/>
          <p:nvPr/>
        </p:nvSpPr>
        <p:spPr>
          <a:xfrm rot="0">
            <a:off x="1183002" y="4345658"/>
            <a:ext cx="2355503"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State Machine Parsing:</a:t>
            </a:r>
          </a:p>
        </p:txBody>
      </p:sp>
      <p:sp>
        <p:nvSpPr>
          <p:cNvPr name="TextBox 18" id="18"/>
          <p:cNvSpPr txBox="true"/>
          <p:nvPr/>
        </p:nvSpPr>
        <p:spPr>
          <a:xfrm rot="0">
            <a:off x="1183002" y="4882256"/>
            <a:ext cx="4656410" cy="1142990"/>
          </a:xfrm>
          <a:prstGeom prst="rect">
            <a:avLst/>
          </a:prstGeom>
        </p:spPr>
        <p:txBody>
          <a:bodyPr anchor="t" rtlCol="false" tIns="0" lIns="0" bIns="0" rIns="0">
            <a:spAutoFit/>
          </a:bodyPr>
          <a:lstStyle/>
          <a:p>
            <a:pPr algn="l">
              <a:lnSpc>
                <a:spcPts val="2250"/>
              </a:lnSpc>
              <a:spcBef>
                <a:spcPct val="0"/>
              </a:spcBef>
            </a:pPr>
            <a:r>
              <a:rPr lang="en-US" sz="1500">
                <a:solidFill>
                  <a:srgbClr val="000000"/>
                </a:solidFill>
                <a:latin typeface="Times New Roman"/>
                <a:ea typeface="Times New Roman"/>
                <a:cs typeface="Times New Roman"/>
                <a:sym typeface="Times New Roman"/>
              </a:rPr>
              <a:t>The </a:t>
            </a:r>
            <a:r>
              <a:rPr lang="en-US" sz="1500" i="true">
                <a:solidFill>
                  <a:srgbClr val="000000"/>
                </a:solidFill>
                <a:latin typeface="Times New Roman Italics"/>
                <a:ea typeface="Times New Roman Italics"/>
                <a:cs typeface="Times New Roman Italics"/>
                <a:sym typeface="Times New Roman Italics"/>
              </a:rPr>
              <a:t>Bluetooth_Uart_Receive_Handler</a:t>
            </a:r>
            <a:r>
              <a:rPr lang="en-US" sz="1500">
                <a:solidFill>
                  <a:srgbClr val="000000"/>
                </a:solidFill>
                <a:latin typeface="Times New Roman"/>
                <a:ea typeface="Times New Roman"/>
                <a:cs typeface="Times New Roman"/>
                <a:sym typeface="Times New Roman"/>
              </a:rPr>
              <a:t> runs under HAL UART interrupt and transitions through the states above.</a:t>
            </a:r>
          </a:p>
          <a:p>
            <a:pPr algn="l">
              <a:lnSpc>
                <a:spcPts val="2250"/>
              </a:lnSpc>
              <a:spcBef>
                <a:spcPct val="0"/>
              </a:spcBef>
            </a:pPr>
            <a:r>
              <a:rPr lang="en-US" sz="1500">
                <a:solidFill>
                  <a:srgbClr val="000000"/>
                </a:solidFill>
                <a:latin typeface="Times New Roman"/>
                <a:ea typeface="Times New Roman"/>
                <a:cs typeface="Times New Roman"/>
                <a:sym typeface="Times New Roman"/>
              </a:rPr>
              <a:t> Once complete, data is stored in </a:t>
            </a:r>
            <a:r>
              <a:rPr lang="en-US" sz="1500" i="true">
                <a:solidFill>
                  <a:srgbClr val="000000"/>
                </a:solidFill>
                <a:latin typeface="Times New Roman Italics"/>
                <a:ea typeface="Times New Roman Italics"/>
                <a:cs typeface="Times New Roman Italics"/>
                <a:sym typeface="Times New Roman Italics"/>
              </a:rPr>
              <a:t>Bluetooth_Receive_buff</a:t>
            </a:r>
            <a:r>
              <a:rPr lang="en-US" sz="1500">
                <a:solidFill>
                  <a:srgbClr val="000000"/>
                </a:solidFill>
                <a:latin typeface="Times New Roman"/>
                <a:ea typeface="Times New Roman"/>
                <a:cs typeface="Times New Roman"/>
                <a:sym typeface="Times New Roman"/>
              </a:rPr>
              <a:t> and the flag </a:t>
            </a:r>
            <a:r>
              <a:rPr lang="en-US" sz="1500" i="true">
                <a:solidFill>
                  <a:srgbClr val="000000"/>
                </a:solidFill>
                <a:latin typeface="Times New Roman Italics"/>
                <a:ea typeface="Times New Roman Italics"/>
                <a:cs typeface="Times New Roman Italics"/>
                <a:sym typeface="Times New Roman Italics"/>
              </a:rPr>
              <a:t>Complete_Bluetooth_Receive_Frame</a:t>
            </a:r>
            <a:r>
              <a:rPr lang="en-US" sz="1500">
                <a:solidFill>
                  <a:srgbClr val="000000"/>
                </a:solidFill>
                <a:latin typeface="Times New Roman"/>
                <a:ea typeface="Times New Roman"/>
                <a:cs typeface="Times New Roman"/>
                <a:sym typeface="Times New Roman"/>
              </a:rPr>
              <a:t> is set.</a:t>
            </a:r>
          </a:p>
        </p:txBody>
      </p:sp>
      <p:sp>
        <p:nvSpPr>
          <p:cNvPr name="TextBox 19" id="19"/>
          <p:cNvSpPr txBox="true"/>
          <p:nvPr/>
        </p:nvSpPr>
        <p:spPr>
          <a:xfrm rot="0">
            <a:off x="1183002" y="6313377"/>
            <a:ext cx="1925687"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Command Format:</a:t>
            </a:r>
          </a:p>
        </p:txBody>
      </p:sp>
      <p:sp>
        <p:nvSpPr>
          <p:cNvPr name="TextBox 20" id="20"/>
          <p:cNvSpPr txBox="true"/>
          <p:nvPr/>
        </p:nvSpPr>
        <p:spPr>
          <a:xfrm rot="0">
            <a:off x="1183002" y="6747784"/>
            <a:ext cx="3739158" cy="326646"/>
          </a:xfrm>
          <a:prstGeom prst="rect">
            <a:avLst/>
          </a:prstGeom>
        </p:spPr>
        <p:txBody>
          <a:bodyPr anchor="t" rtlCol="false" tIns="0" lIns="0" bIns="0" rIns="0">
            <a:spAutoFit/>
          </a:bodyPr>
          <a:lstStyle/>
          <a:p>
            <a:pPr algn="l">
              <a:lnSpc>
                <a:spcPts val="2514"/>
              </a:lnSpc>
              <a:spcBef>
                <a:spcPct val="0"/>
              </a:spcBef>
            </a:pPr>
            <a:r>
              <a:rPr lang="en-US" sz="1676">
                <a:solidFill>
                  <a:srgbClr val="000000"/>
                </a:solidFill>
                <a:latin typeface="Times New Roman"/>
                <a:ea typeface="Times New Roman"/>
                <a:cs typeface="Times New Roman"/>
                <a:sym typeface="Times New Roman"/>
              </a:rPr>
              <a:t>cmd_id(2B) | turn_rad(4B) | straight_m(4B)</a:t>
            </a:r>
          </a:p>
        </p:txBody>
      </p:sp>
      <p:sp>
        <p:nvSpPr>
          <p:cNvPr name="TextBox 21" id="21"/>
          <p:cNvSpPr txBox="true"/>
          <p:nvPr/>
        </p:nvSpPr>
        <p:spPr>
          <a:xfrm rot="0">
            <a:off x="1183002" y="7161481"/>
            <a:ext cx="4990682" cy="508906"/>
          </a:xfrm>
          <a:prstGeom prst="rect">
            <a:avLst/>
          </a:prstGeom>
        </p:spPr>
        <p:txBody>
          <a:bodyPr anchor="t" rtlCol="false" tIns="0" lIns="0" bIns="0" rIns="0">
            <a:spAutoFit/>
          </a:bodyPr>
          <a:lstStyle/>
          <a:p>
            <a:pPr algn="l">
              <a:lnSpc>
                <a:spcPts val="2089"/>
              </a:lnSpc>
              <a:spcBef>
                <a:spcPct val="0"/>
              </a:spcBef>
            </a:pPr>
            <a:r>
              <a:rPr lang="en-US" sz="1392">
                <a:solidFill>
                  <a:srgbClr val="000000"/>
                </a:solidFill>
                <a:latin typeface="Times New Roman"/>
                <a:ea typeface="Times New Roman"/>
                <a:cs typeface="Times New Roman"/>
                <a:sym typeface="Times New Roman"/>
              </a:rPr>
              <a:t>The decoded result is passed to Car_FSM_Cmd_Set() for execution.</a:t>
            </a:r>
          </a:p>
          <a:p>
            <a:pPr algn="l">
              <a:lnSpc>
                <a:spcPts val="2089"/>
              </a:lnSpc>
              <a:spcBef>
                <a:spcPct val="0"/>
              </a:spcBef>
            </a:pPr>
            <a:r>
              <a:rPr lang="en-US" sz="1392">
                <a:solidFill>
                  <a:srgbClr val="000000"/>
                </a:solidFill>
                <a:latin typeface="Times New Roman"/>
                <a:ea typeface="Times New Roman"/>
                <a:cs typeface="Times New Roman"/>
                <a:sym typeface="Times New Roman"/>
              </a:rPr>
              <a:t> New commands are accepted only when the car is in the STOP state.</a:t>
            </a:r>
          </a:p>
        </p:txBody>
      </p:sp>
      <p:sp>
        <p:nvSpPr>
          <p:cNvPr name="TextBox 22" id="22"/>
          <p:cNvSpPr txBox="true"/>
          <p:nvPr/>
        </p:nvSpPr>
        <p:spPr>
          <a:xfrm rot="0">
            <a:off x="1183002" y="7916183"/>
            <a:ext cx="2273647"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Buffer &amp; CRC Check:</a:t>
            </a:r>
          </a:p>
        </p:txBody>
      </p:sp>
      <p:sp>
        <p:nvSpPr>
          <p:cNvPr name="TextBox 23" id="23"/>
          <p:cNvSpPr txBox="true"/>
          <p:nvPr/>
        </p:nvSpPr>
        <p:spPr>
          <a:xfrm rot="0">
            <a:off x="1183002" y="8435924"/>
            <a:ext cx="4498718" cy="803345"/>
          </a:xfrm>
          <a:prstGeom prst="rect">
            <a:avLst/>
          </a:prstGeom>
        </p:spPr>
        <p:txBody>
          <a:bodyPr anchor="t" rtlCol="false" tIns="0" lIns="0" bIns="0" rIns="0">
            <a:spAutoFit/>
          </a:bodyPr>
          <a:lstStyle/>
          <a:p>
            <a:pPr algn="l">
              <a:lnSpc>
                <a:spcPts val="2122"/>
              </a:lnSpc>
              <a:spcBef>
                <a:spcPct val="0"/>
              </a:spcBef>
            </a:pPr>
            <a:r>
              <a:rPr lang="en-US" sz="1414">
                <a:solidFill>
                  <a:srgbClr val="000000"/>
                </a:solidFill>
                <a:latin typeface="Times New Roman"/>
                <a:ea typeface="Times New Roman"/>
                <a:cs typeface="Times New Roman"/>
                <a:sym typeface="Times New Roman"/>
              </a:rPr>
              <a:t>The receive buffer is dynamically allocated and reset. CRC verification is currently a placeholder (if(1)), ready for future implementation.</a:t>
            </a:r>
          </a:p>
        </p:txBody>
      </p:sp>
      <p:sp>
        <p:nvSpPr>
          <p:cNvPr name="TextBox 24" id="24"/>
          <p:cNvSpPr txBox="true"/>
          <p:nvPr/>
        </p:nvSpPr>
        <p:spPr>
          <a:xfrm rot="0">
            <a:off x="6674894" y="3553153"/>
            <a:ext cx="2799815"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0x55 0xAA | Payload | Crc</a:t>
            </a:r>
          </a:p>
        </p:txBody>
      </p:sp>
      <p:sp>
        <p:nvSpPr>
          <p:cNvPr name="TextBox 25" id="25"/>
          <p:cNvSpPr txBox="true"/>
          <p:nvPr/>
        </p:nvSpPr>
        <p:spPr>
          <a:xfrm rot="0">
            <a:off x="6674894" y="3158162"/>
            <a:ext cx="1445865"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Frame Format</a:t>
            </a:r>
          </a:p>
        </p:txBody>
      </p:sp>
      <p:sp>
        <p:nvSpPr>
          <p:cNvPr name="TextBox 26" id="26"/>
          <p:cNvSpPr txBox="true"/>
          <p:nvPr/>
        </p:nvSpPr>
        <p:spPr>
          <a:xfrm rot="0">
            <a:off x="6674894" y="4345658"/>
            <a:ext cx="1741884"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Payload Includes</a:t>
            </a:r>
          </a:p>
        </p:txBody>
      </p:sp>
      <p:sp>
        <p:nvSpPr>
          <p:cNvPr name="TextBox 27" id="27"/>
          <p:cNvSpPr txBox="true"/>
          <p:nvPr/>
        </p:nvSpPr>
        <p:spPr>
          <a:xfrm rot="0">
            <a:off x="6674894" y="6618177"/>
            <a:ext cx="1905533"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Data Preparation</a:t>
            </a:r>
          </a:p>
        </p:txBody>
      </p:sp>
      <p:sp>
        <p:nvSpPr>
          <p:cNvPr name="TextBox 28" id="28"/>
          <p:cNvSpPr txBox="true"/>
          <p:nvPr/>
        </p:nvSpPr>
        <p:spPr>
          <a:xfrm rot="0">
            <a:off x="6674894" y="7069129"/>
            <a:ext cx="4536905" cy="587244"/>
          </a:xfrm>
          <a:prstGeom prst="rect">
            <a:avLst/>
          </a:prstGeom>
        </p:spPr>
        <p:txBody>
          <a:bodyPr anchor="t" rtlCol="false" tIns="0" lIns="0" bIns="0" rIns="0">
            <a:spAutoFit/>
          </a:bodyPr>
          <a:lstStyle/>
          <a:p>
            <a:pPr algn="just">
              <a:lnSpc>
                <a:spcPts val="2380"/>
              </a:lnSpc>
              <a:spcBef>
                <a:spcPct val="0"/>
              </a:spcBef>
            </a:pPr>
            <a:r>
              <a:rPr lang="en-US" sz="1586">
                <a:solidFill>
                  <a:srgbClr val="000000"/>
                </a:solidFill>
                <a:latin typeface="Times New Roman"/>
                <a:ea typeface="Times New Roman"/>
                <a:cs typeface="Times New Roman"/>
                <a:sym typeface="Times New Roman"/>
              </a:rPr>
              <a:t>Before each transmission, data from car state, IMU, motor encoders, and LiDAR are synchronized.</a:t>
            </a:r>
          </a:p>
        </p:txBody>
      </p:sp>
      <p:sp>
        <p:nvSpPr>
          <p:cNvPr name="TextBox 29" id="29"/>
          <p:cNvSpPr txBox="true"/>
          <p:nvPr/>
        </p:nvSpPr>
        <p:spPr>
          <a:xfrm rot="0">
            <a:off x="6719235" y="7697259"/>
            <a:ext cx="3921010" cy="1142698"/>
          </a:xfrm>
          <a:prstGeom prst="rect">
            <a:avLst/>
          </a:prstGeom>
        </p:spPr>
        <p:txBody>
          <a:bodyPr anchor="t" rtlCol="false" tIns="0" lIns="0" bIns="0" rIns="0">
            <a:spAutoFit/>
          </a:bodyPr>
          <a:lstStyle/>
          <a:p>
            <a:pPr algn="just">
              <a:lnSpc>
                <a:spcPts val="2261"/>
              </a:lnSpc>
              <a:spcBef>
                <a:spcPct val="0"/>
              </a:spcBef>
            </a:pPr>
            <a:r>
              <a:rPr lang="en-US" sz="1507">
                <a:solidFill>
                  <a:srgbClr val="000000"/>
                </a:solidFill>
                <a:latin typeface="Times New Roman"/>
                <a:ea typeface="Times New Roman"/>
                <a:cs typeface="Times New Roman"/>
                <a:sym typeface="Times New Roman"/>
              </a:rPr>
              <a:t>car_state</a:t>
            </a:r>
          </a:p>
          <a:p>
            <a:pPr algn="just">
              <a:lnSpc>
                <a:spcPts val="2261"/>
              </a:lnSpc>
              <a:spcBef>
                <a:spcPct val="0"/>
              </a:spcBef>
            </a:pPr>
            <a:r>
              <a:rPr lang="en-US" sz="1507">
                <a:solidFill>
                  <a:srgbClr val="000000"/>
                </a:solidFill>
                <a:latin typeface="Times New Roman"/>
                <a:ea typeface="Times New Roman"/>
                <a:cs typeface="Times New Roman"/>
                <a:sym typeface="Times New Roman"/>
              </a:rPr>
              <a:t>mpu6500_data</a:t>
            </a:r>
          </a:p>
          <a:p>
            <a:pPr algn="just">
              <a:lnSpc>
                <a:spcPts val="2261"/>
              </a:lnSpc>
              <a:spcBef>
                <a:spcPct val="0"/>
              </a:spcBef>
            </a:pPr>
            <a:r>
              <a:rPr lang="en-US" sz="1507">
                <a:solidFill>
                  <a:srgbClr val="000000"/>
                </a:solidFill>
                <a:latin typeface="Times New Roman"/>
                <a:ea typeface="Times New Roman"/>
                <a:cs typeface="Times New Roman"/>
                <a:sym typeface="Times New Roman"/>
              </a:rPr>
              <a:t>l_motor/r_motor</a:t>
            </a:r>
          </a:p>
          <a:p>
            <a:pPr algn="just">
              <a:lnSpc>
                <a:spcPts val="2261"/>
              </a:lnSpc>
              <a:spcBef>
                <a:spcPct val="0"/>
              </a:spcBef>
            </a:pPr>
            <a:r>
              <a:rPr lang="en-US" sz="1507">
                <a:solidFill>
                  <a:srgbClr val="000000"/>
                </a:solidFill>
                <a:latin typeface="Times New Roman"/>
                <a:ea typeface="Times New Roman"/>
                <a:cs typeface="Times New Roman"/>
                <a:sym typeface="Times New Roman"/>
              </a:rPr>
              <a:t>last_rplidar_data。</a:t>
            </a:r>
          </a:p>
        </p:txBody>
      </p:sp>
      <p:sp>
        <p:nvSpPr>
          <p:cNvPr name="TextBox 30" id="30"/>
          <p:cNvSpPr txBox="true"/>
          <p:nvPr/>
        </p:nvSpPr>
        <p:spPr>
          <a:xfrm rot="0">
            <a:off x="6675460" y="4736183"/>
            <a:ext cx="2567880" cy="1713957"/>
          </a:xfrm>
          <a:prstGeom prst="rect">
            <a:avLst/>
          </a:prstGeom>
        </p:spPr>
        <p:txBody>
          <a:bodyPr anchor="t" rtlCol="false" tIns="0" lIns="0" bIns="0" rIns="0">
            <a:spAutoFit/>
          </a:bodyPr>
          <a:lstStyle/>
          <a:p>
            <a:pPr algn="just">
              <a:lnSpc>
                <a:spcPts val="2271"/>
              </a:lnSpc>
              <a:spcBef>
                <a:spcPct val="0"/>
              </a:spcBef>
            </a:pPr>
            <a:r>
              <a:rPr lang="en-US" sz="1514">
                <a:solidFill>
                  <a:srgbClr val="000000"/>
                </a:solidFill>
                <a:latin typeface="Times New Roman"/>
                <a:ea typeface="Times New Roman"/>
                <a:cs typeface="Times New Roman"/>
                <a:sym typeface="Times New Roman"/>
              </a:rPr>
              <a:t>Timestamp</a:t>
            </a:r>
          </a:p>
          <a:p>
            <a:pPr algn="just">
              <a:lnSpc>
                <a:spcPts val="2271"/>
              </a:lnSpc>
              <a:spcBef>
                <a:spcPct val="0"/>
              </a:spcBef>
            </a:pPr>
            <a:r>
              <a:rPr lang="en-US" sz="1514">
                <a:solidFill>
                  <a:srgbClr val="000000"/>
                </a:solidFill>
                <a:latin typeface="Times New Roman"/>
                <a:ea typeface="Times New Roman"/>
                <a:cs typeface="Times New Roman"/>
                <a:sym typeface="Times New Roman"/>
              </a:rPr>
              <a:t>Command ID</a:t>
            </a:r>
          </a:p>
          <a:p>
            <a:pPr algn="just">
              <a:lnSpc>
                <a:spcPts val="2271"/>
              </a:lnSpc>
              <a:spcBef>
                <a:spcPct val="0"/>
              </a:spcBef>
            </a:pPr>
            <a:r>
              <a:rPr lang="en-US" sz="1514">
                <a:solidFill>
                  <a:srgbClr val="000000"/>
                </a:solidFill>
                <a:latin typeface="Times New Roman"/>
                <a:ea typeface="Times New Roman"/>
                <a:cs typeface="Times New Roman"/>
                <a:sym typeface="Times New Roman"/>
              </a:rPr>
              <a:t>Vehicle Status</a:t>
            </a:r>
          </a:p>
          <a:p>
            <a:pPr algn="just">
              <a:lnSpc>
                <a:spcPts val="2271"/>
              </a:lnSpc>
              <a:spcBef>
                <a:spcPct val="0"/>
              </a:spcBef>
            </a:pPr>
            <a:r>
              <a:rPr lang="en-US" sz="1514">
                <a:solidFill>
                  <a:srgbClr val="000000"/>
                </a:solidFill>
                <a:latin typeface="Times New Roman"/>
                <a:ea typeface="Times New Roman"/>
                <a:cs typeface="Times New Roman"/>
                <a:sym typeface="Times New Roman"/>
              </a:rPr>
              <a:t>Encoders of Left &amp; Right Motors</a:t>
            </a:r>
          </a:p>
          <a:p>
            <a:pPr algn="just">
              <a:lnSpc>
                <a:spcPts val="2271"/>
              </a:lnSpc>
              <a:spcBef>
                <a:spcPct val="0"/>
              </a:spcBef>
            </a:pPr>
            <a:r>
              <a:rPr lang="en-US" sz="1514">
                <a:solidFill>
                  <a:srgbClr val="000000"/>
                </a:solidFill>
                <a:latin typeface="Times New Roman"/>
                <a:ea typeface="Times New Roman"/>
                <a:cs typeface="Times New Roman"/>
                <a:sym typeface="Times New Roman"/>
              </a:rPr>
              <a:t>Current Yaw Angle</a:t>
            </a:r>
          </a:p>
          <a:p>
            <a:pPr algn="just">
              <a:lnSpc>
                <a:spcPts val="2271"/>
              </a:lnSpc>
              <a:spcBef>
                <a:spcPct val="0"/>
              </a:spcBef>
            </a:pPr>
            <a:r>
              <a:rPr lang="en-US" sz="1514">
                <a:solidFill>
                  <a:srgbClr val="000000"/>
                </a:solidFill>
                <a:latin typeface="Times New Roman"/>
                <a:ea typeface="Times New Roman"/>
                <a:cs typeface="Times New Roman"/>
                <a:sym typeface="Times New Roman"/>
              </a:rPr>
              <a:t>RPLIDAR_Send_Data</a:t>
            </a:r>
          </a:p>
        </p:txBody>
      </p:sp>
      <p:sp>
        <p:nvSpPr>
          <p:cNvPr name="TextBox 31" id="31"/>
          <p:cNvSpPr txBox="true"/>
          <p:nvPr/>
        </p:nvSpPr>
        <p:spPr>
          <a:xfrm rot="0">
            <a:off x="6675460" y="9067519"/>
            <a:ext cx="7516378" cy="558877"/>
          </a:xfrm>
          <a:prstGeom prst="rect">
            <a:avLst/>
          </a:prstGeom>
        </p:spPr>
        <p:txBody>
          <a:bodyPr anchor="t" rtlCol="false" tIns="0" lIns="0" bIns="0" rIns="0">
            <a:spAutoFit/>
          </a:bodyPr>
          <a:lstStyle/>
          <a:p>
            <a:pPr algn="l">
              <a:lnSpc>
                <a:spcPts val="2253"/>
              </a:lnSpc>
              <a:spcBef>
                <a:spcPct val="0"/>
              </a:spcBef>
            </a:pPr>
            <a:r>
              <a:rPr lang="en-US" sz="1502">
                <a:solidFill>
                  <a:srgbClr val="000000"/>
                </a:solidFill>
                <a:latin typeface="Times New Roman"/>
                <a:ea typeface="Times New Roman"/>
                <a:cs typeface="Times New Roman"/>
                <a:sym typeface="Times New Roman"/>
              </a:rPr>
              <a:t>The transmitting side uses DMA (HAL_UART_Transmit_DMA()) for segmented transmission. Once completed, HAL_UART_TxCpltCallback() sets bluetooth_send_enable to continue sending.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112936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31520" y="41910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Freeform 8" id="8"/>
          <p:cNvSpPr/>
          <p:nvPr/>
        </p:nvSpPr>
        <p:spPr>
          <a:xfrm flipH="false" flipV="false" rot="0">
            <a:off x="7503717" y="6069650"/>
            <a:ext cx="2504551" cy="3730268"/>
          </a:xfrm>
          <a:custGeom>
            <a:avLst/>
            <a:gdLst/>
            <a:ahLst/>
            <a:cxnLst/>
            <a:rect r="r" b="b" t="t" l="l"/>
            <a:pathLst>
              <a:path h="3730268" w="2504551">
                <a:moveTo>
                  <a:pt x="0" y="0"/>
                </a:moveTo>
                <a:lnTo>
                  <a:pt x="2504552" y="0"/>
                </a:lnTo>
                <a:lnTo>
                  <a:pt x="2504552" y="3730268"/>
                </a:lnTo>
                <a:lnTo>
                  <a:pt x="0" y="3730268"/>
                </a:lnTo>
                <a:lnTo>
                  <a:pt x="0" y="0"/>
                </a:lnTo>
                <a:close/>
              </a:path>
            </a:pathLst>
          </a:custGeom>
          <a:blipFill>
            <a:blip r:embed="rId7"/>
            <a:stretch>
              <a:fillRect l="0" t="-774" r="0" b="0"/>
            </a:stretch>
          </a:blipFill>
        </p:spPr>
      </p:sp>
      <p:sp>
        <p:nvSpPr>
          <p:cNvPr name="TextBox 9" id="9"/>
          <p:cNvSpPr txBox="true"/>
          <p:nvPr/>
        </p:nvSpPr>
        <p:spPr>
          <a:xfrm rot="0">
            <a:off x="12264207" y="3329612"/>
            <a:ext cx="5254766" cy="1999488"/>
          </a:xfrm>
          <a:prstGeom prst="rect">
            <a:avLst/>
          </a:prstGeom>
        </p:spPr>
        <p:txBody>
          <a:bodyPr anchor="t" rtlCol="false" tIns="0" lIns="0" bIns="0" rIns="0">
            <a:spAutoFit/>
          </a:bodyPr>
          <a:lstStyle/>
          <a:p>
            <a:pPr algn="just">
              <a:lnSpc>
                <a:spcPts val="2279"/>
              </a:lnSpc>
            </a:pPr>
            <a:r>
              <a:rPr lang="en-US" sz="1519">
                <a:solidFill>
                  <a:srgbClr val="404040"/>
                </a:solidFill>
                <a:latin typeface="Times New Roman"/>
                <a:ea typeface="Times New Roman"/>
                <a:cs typeface="Times New Roman"/>
                <a:sym typeface="Times New Roman"/>
              </a:rPr>
              <a:t>The processed LiDAR data are used for:</a:t>
            </a:r>
          </a:p>
          <a:p>
            <a:pPr algn="just">
              <a:lnSpc>
                <a:spcPts val="2279"/>
              </a:lnSpc>
            </a:pPr>
            <a:r>
              <a:rPr lang="en-US" sz="1519">
                <a:solidFill>
                  <a:srgbClr val="404040"/>
                </a:solidFill>
                <a:latin typeface="Times New Roman"/>
                <a:ea typeface="Times New Roman"/>
                <a:cs typeface="Times New Roman"/>
                <a:sym typeface="Times New Roman"/>
              </a:rPr>
              <a:t>Obstacle avoidance – detecting obstacles in front or near the vehicle.</a:t>
            </a:r>
          </a:p>
          <a:p>
            <a:pPr algn="just">
              <a:lnSpc>
                <a:spcPts val="2279"/>
              </a:lnSpc>
            </a:pPr>
            <a:r>
              <a:rPr lang="en-US" sz="1519">
                <a:solidFill>
                  <a:srgbClr val="404040"/>
                </a:solidFill>
                <a:latin typeface="Times New Roman"/>
                <a:ea typeface="Times New Roman"/>
                <a:cs typeface="Times New Roman"/>
                <a:sym typeface="Times New Roman"/>
              </a:rPr>
              <a:t>Path planning – marking non-traversable areas.</a:t>
            </a:r>
          </a:p>
          <a:p>
            <a:pPr algn="just">
              <a:lnSpc>
                <a:spcPts val="2279"/>
              </a:lnSpc>
            </a:pPr>
            <a:r>
              <a:rPr lang="en-US" sz="1519">
                <a:solidFill>
                  <a:srgbClr val="404040"/>
                </a:solidFill>
                <a:latin typeface="Times New Roman"/>
                <a:ea typeface="Times New Roman"/>
                <a:cs typeface="Times New Roman"/>
                <a:sym typeface="Times New Roman"/>
              </a:rPr>
              <a:t>Visualization – transmitting scan results via Bluetooth for real-time display.</a:t>
            </a:r>
          </a:p>
          <a:p>
            <a:pPr algn="just">
              <a:lnSpc>
                <a:spcPts val="2279"/>
              </a:lnSpc>
            </a:pPr>
          </a:p>
        </p:txBody>
      </p:sp>
      <p:sp>
        <p:nvSpPr>
          <p:cNvPr name="TextBox 10" id="10"/>
          <p:cNvSpPr txBox="true"/>
          <p:nvPr/>
        </p:nvSpPr>
        <p:spPr>
          <a:xfrm rot="0">
            <a:off x="1183002" y="2501185"/>
            <a:ext cx="4818515" cy="5003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LiDAR Data Acquisition</a:t>
            </a:r>
          </a:p>
        </p:txBody>
      </p:sp>
      <p:sp>
        <p:nvSpPr>
          <p:cNvPr name="TextBox 11" id="11"/>
          <p:cNvSpPr txBox="true"/>
          <p:nvPr/>
        </p:nvSpPr>
        <p:spPr>
          <a:xfrm rot="0">
            <a:off x="6468880" y="2501185"/>
            <a:ext cx="6011657" cy="500380"/>
          </a:xfrm>
          <a:prstGeom prst="rect">
            <a:avLst/>
          </a:prstGeom>
        </p:spPr>
        <p:txBody>
          <a:bodyPr anchor="t" rtlCol="false" tIns="0" lIns="0" bIns="0" rIns="0">
            <a:spAutoFit/>
          </a:bodyPr>
          <a:lstStyle/>
          <a:p>
            <a:pPr algn="just">
              <a:lnSpc>
                <a:spcPts val="3919"/>
              </a:lnSpc>
            </a:pPr>
            <a:r>
              <a:rPr lang="en-US" b="true" sz="2799" spc="278">
                <a:solidFill>
                  <a:srgbClr val="963D3D"/>
                </a:solidFill>
                <a:latin typeface="Times New Roman Bold"/>
                <a:ea typeface="Times New Roman Bold"/>
                <a:cs typeface="Times New Roman Bold"/>
                <a:sym typeface="Times New Roman Bold"/>
              </a:rPr>
              <a:t>Noise Filtering and Validation</a:t>
            </a:r>
          </a:p>
        </p:txBody>
      </p:sp>
      <p:sp>
        <p:nvSpPr>
          <p:cNvPr name="TextBox 12" id="12"/>
          <p:cNvSpPr txBox="true"/>
          <p:nvPr/>
        </p:nvSpPr>
        <p:spPr>
          <a:xfrm rot="0">
            <a:off x="12264207" y="2391082"/>
            <a:ext cx="5897545" cy="995680"/>
          </a:xfrm>
          <a:prstGeom prst="rect">
            <a:avLst/>
          </a:prstGeom>
        </p:spPr>
        <p:txBody>
          <a:bodyPr anchor="t" rtlCol="false" tIns="0" lIns="0" bIns="0" rIns="0">
            <a:spAutoFit/>
          </a:bodyPr>
          <a:lstStyle/>
          <a:p>
            <a:pPr algn="just">
              <a:lnSpc>
                <a:spcPts val="3919"/>
              </a:lnSpc>
            </a:pPr>
            <a:r>
              <a:rPr lang="en-US" b="true" sz="2799" spc="278">
                <a:solidFill>
                  <a:srgbClr val="963D3D"/>
                </a:solidFill>
                <a:latin typeface="Times New Roman Bold"/>
                <a:ea typeface="Times New Roman Bold"/>
                <a:cs typeface="Times New Roman Bold"/>
                <a:sym typeface="Times New Roman Bold"/>
              </a:rPr>
              <a:t>Environmental Perception and Control</a:t>
            </a:r>
          </a:p>
        </p:txBody>
      </p:sp>
      <p:sp>
        <p:nvSpPr>
          <p:cNvPr name="TextBox 13" id="13"/>
          <p:cNvSpPr txBox="true"/>
          <p:nvPr/>
        </p:nvSpPr>
        <p:spPr>
          <a:xfrm rot="0">
            <a:off x="2149183" y="259162"/>
            <a:ext cx="9531211" cy="1479966"/>
          </a:xfrm>
          <a:prstGeom prst="rect">
            <a:avLst/>
          </a:prstGeom>
        </p:spPr>
        <p:txBody>
          <a:bodyPr anchor="t" rtlCol="false" tIns="0" lIns="0" bIns="0" rIns="0">
            <a:spAutoFit/>
          </a:bodyPr>
          <a:lstStyle/>
          <a:p>
            <a:pPr algn="l">
              <a:lnSpc>
                <a:spcPts val="5777"/>
              </a:lnSpc>
            </a:pPr>
            <a:r>
              <a:rPr lang="en-US" sz="4813" b="true">
                <a:solidFill>
                  <a:srgbClr val="FFFFFF"/>
                </a:solidFill>
                <a:latin typeface="Times New Roman Bold"/>
                <a:ea typeface="Times New Roman Bold"/>
                <a:cs typeface="Times New Roman Bold"/>
                <a:sym typeface="Times New Roman Bold"/>
              </a:rPr>
              <a:t>Lidar Data Processing and Environmental Perception</a:t>
            </a:r>
          </a:p>
        </p:txBody>
      </p:sp>
      <p:sp>
        <p:nvSpPr>
          <p:cNvPr name="TextBox 14" id="14"/>
          <p:cNvSpPr txBox="true"/>
          <p:nvPr/>
        </p:nvSpPr>
        <p:spPr>
          <a:xfrm rot="0">
            <a:off x="10433649" y="-70895"/>
            <a:ext cx="7728103" cy="1904550"/>
          </a:xfrm>
          <a:prstGeom prst="rect">
            <a:avLst/>
          </a:prstGeom>
        </p:spPr>
        <p:txBody>
          <a:bodyPr anchor="t" rtlCol="false" tIns="0" lIns="0" bIns="0" rIns="0">
            <a:spAutoFit/>
          </a:bodyPr>
          <a:lstStyle/>
          <a:p>
            <a:pPr algn="l">
              <a:lnSpc>
                <a:spcPts val="3017"/>
              </a:lnSpc>
              <a:spcBef>
                <a:spcPct val="0"/>
              </a:spcBef>
            </a:pPr>
            <a:r>
              <a:rPr lang="en-US" sz="2011">
                <a:solidFill>
                  <a:srgbClr val="FFFFFF"/>
                </a:solidFill>
                <a:latin typeface="Times New Roman"/>
                <a:ea typeface="Times New Roman"/>
                <a:cs typeface="Times New Roman"/>
                <a:sym typeface="Times New Roman"/>
              </a:rPr>
              <a:t>The system mainly obtains environmental point cloud data through RPLIDAR, and then completes perception tasks through the following process: LiDAR raw data acquisition, polar coordinate to Cartesian coordinate conversion, noise filtering and effective distance screening, obstacle detection, environmental modeling, and output control signals</a:t>
            </a:r>
          </a:p>
        </p:txBody>
      </p:sp>
      <p:sp>
        <p:nvSpPr>
          <p:cNvPr name="TextBox 15" id="15"/>
          <p:cNvSpPr txBox="true"/>
          <p:nvPr/>
        </p:nvSpPr>
        <p:spPr>
          <a:xfrm rot="0">
            <a:off x="1183002" y="3158162"/>
            <a:ext cx="2228627"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Serial Data Reception</a:t>
            </a:r>
          </a:p>
        </p:txBody>
      </p:sp>
      <p:sp>
        <p:nvSpPr>
          <p:cNvPr name="TextBox 16" id="16"/>
          <p:cNvSpPr txBox="true"/>
          <p:nvPr/>
        </p:nvSpPr>
        <p:spPr>
          <a:xfrm rot="0">
            <a:off x="1183002" y="3553153"/>
            <a:ext cx="4990682" cy="1378595"/>
          </a:xfrm>
          <a:prstGeom prst="rect">
            <a:avLst/>
          </a:prstGeom>
        </p:spPr>
        <p:txBody>
          <a:bodyPr anchor="t" rtlCol="false" tIns="0" lIns="0" bIns="0" rIns="0">
            <a:spAutoFit/>
          </a:bodyPr>
          <a:lstStyle/>
          <a:p>
            <a:pPr algn="l">
              <a:lnSpc>
                <a:spcPts val="2724"/>
              </a:lnSpc>
            </a:pPr>
            <a:r>
              <a:rPr lang="en-US" sz="1816">
                <a:solidFill>
                  <a:srgbClr val="000000"/>
                </a:solidFill>
                <a:latin typeface="Times New Roman"/>
                <a:ea typeface="Times New Roman"/>
                <a:cs typeface="Times New Roman"/>
                <a:sym typeface="Times New Roman"/>
              </a:rPr>
              <a:t>The LiDAR continuously streams scan frames via UART.</a:t>
            </a:r>
          </a:p>
          <a:p>
            <a:pPr algn="l">
              <a:lnSpc>
                <a:spcPts val="2724"/>
              </a:lnSpc>
              <a:spcBef>
                <a:spcPct val="0"/>
              </a:spcBef>
            </a:pPr>
            <a:r>
              <a:rPr lang="en-US" sz="1816">
                <a:solidFill>
                  <a:srgbClr val="000000"/>
                </a:solidFill>
                <a:latin typeface="Times New Roman"/>
                <a:ea typeface="Times New Roman"/>
                <a:cs typeface="Times New Roman"/>
                <a:sym typeface="Times New Roman"/>
              </a:rPr>
              <a:t> Each frame includes angle, distance, and signal strength values.</a:t>
            </a:r>
          </a:p>
        </p:txBody>
      </p:sp>
      <p:sp>
        <p:nvSpPr>
          <p:cNvPr name="TextBox 17" id="17"/>
          <p:cNvSpPr txBox="true"/>
          <p:nvPr/>
        </p:nvSpPr>
        <p:spPr>
          <a:xfrm rot="0">
            <a:off x="1183002" y="4855548"/>
            <a:ext cx="1474366" cy="381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Frame Parsing</a:t>
            </a:r>
          </a:p>
        </p:txBody>
      </p:sp>
      <p:sp>
        <p:nvSpPr>
          <p:cNvPr name="TextBox 18" id="18"/>
          <p:cNvSpPr txBox="true"/>
          <p:nvPr/>
        </p:nvSpPr>
        <p:spPr>
          <a:xfrm rot="0">
            <a:off x="1183002" y="5212410"/>
            <a:ext cx="4656410" cy="857240"/>
          </a:xfrm>
          <a:prstGeom prst="rect">
            <a:avLst/>
          </a:prstGeom>
        </p:spPr>
        <p:txBody>
          <a:bodyPr anchor="t" rtlCol="false" tIns="0" lIns="0" bIns="0" rIns="0">
            <a:spAutoFit/>
          </a:bodyPr>
          <a:lstStyle/>
          <a:p>
            <a:pPr algn="l">
              <a:lnSpc>
                <a:spcPts val="2250"/>
              </a:lnSpc>
            </a:pPr>
            <a:r>
              <a:rPr lang="en-US" sz="1500">
                <a:solidFill>
                  <a:srgbClr val="000000"/>
                </a:solidFill>
                <a:latin typeface="Times New Roman"/>
                <a:ea typeface="Times New Roman"/>
                <a:cs typeface="Times New Roman"/>
                <a:sym typeface="Times New Roman"/>
              </a:rPr>
              <a:t>[Header][Angle_L][Angle_H][Distance_L][Distance_H][Quality]</a:t>
            </a:r>
          </a:p>
          <a:p>
            <a:pPr algn="l">
              <a:lnSpc>
                <a:spcPts val="2250"/>
              </a:lnSpc>
              <a:spcBef>
                <a:spcPct val="0"/>
              </a:spcBef>
            </a:pPr>
          </a:p>
        </p:txBody>
      </p:sp>
      <p:sp>
        <p:nvSpPr>
          <p:cNvPr name="TextBox 19" id="19"/>
          <p:cNvSpPr txBox="true"/>
          <p:nvPr/>
        </p:nvSpPr>
        <p:spPr>
          <a:xfrm rot="0">
            <a:off x="1096918" y="7113438"/>
            <a:ext cx="5210957" cy="640971"/>
          </a:xfrm>
          <a:prstGeom prst="rect">
            <a:avLst/>
          </a:prstGeom>
        </p:spPr>
        <p:txBody>
          <a:bodyPr anchor="t" rtlCol="false" tIns="0" lIns="0" bIns="0" rIns="0">
            <a:spAutoFit/>
          </a:bodyPr>
          <a:lstStyle/>
          <a:p>
            <a:pPr algn="l">
              <a:lnSpc>
                <a:spcPts val="2514"/>
              </a:lnSpc>
              <a:spcBef>
                <a:spcPct val="0"/>
              </a:spcBef>
            </a:pPr>
            <a:r>
              <a:rPr lang="en-US" sz="1676">
                <a:solidFill>
                  <a:srgbClr val="000000"/>
                </a:solidFill>
                <a:latin typeface="Times New Roman"/>
                <a:ea typeface="Times New Roman"/>
                <a:cs typeface="Times New Roman"/>
                <a:sym typeface="Times New Roman"/>
              </a:rPr>
              <a:t>LiDAR provides polar coordinates (r, θ). The code converts them to Cartesian (x, y):</a:t>
            </a:r>
          </a:p>
        </p:txBody>
      </p:sp>
      <p:sp>
        <p:nvSpPr>
          <p:cNvPr name="TextBox 20" id="20"/>
          <p:cNvSpPr txBox="true"/>
          <p:nvPr/>
        </p:nvSpPr>
        <p:spPr>
          <a:xfrm rot="0">
            <a:off x="1096918" y="7944432"/>
            <a:ext cx="4990682" cy="766081"/>
          </a:xfrm>
          <a:prstGeom prst="rect">
            <a:avLst/>
          </a:prstGeom>
        </p:spPr>
        <p:txBody>
          <a:bodyPr anchor="t" rtlCol="false" tIns="0" lIns="0" bIns="0" rIns="0">
            <a:spAutoFit/>
          </a:bodyPr>
          <a:lstStyle/>
          <a:p>
            <a:pPr algn="l">
              <a:lnSpc>
                <a:spcPts val="2089"/>
              </a:lnSpc>
            </a:pPr>
            <a:r>
              <a:rPr lang="en-US" sz="1392">
                <a:solidFill>
                  <a:srgbClr val="000000"/>
                </a:solidFill>
                <a:latin typeface="Times New Roman"/>
                <a:ea typeface="Times New Roman"/>
                <a:cs typeface="Times New Roman"/>
                <a:sym typeface="Times New Roman"/>
              </a:rPr>
              <a:t>x = distance * cos(angle * PI / 180);</a:t>
            </a:r>
          </a:p>
          <a:p>
            <a:pPr algn="l">
              <a:lnSpc>
                <a:spcPts val="2089"/>
              </a:lnSpc>
            </a:pPr>
            <a:r>
              <a:rPr lang="en-US" sz="1392">
                <a:solidFill>
                  <a:srgbClr val="000000"/>
                </a:solidFill>
                <a:latin typeface="Times New Roman"/>
                <a:ea typeface="Times New Roman"/>
                <a:cs typeface="Times New Roman"/>
                <a:sym typeface="Times New Roman"/>
              </a:rPr>
              <a:t>y = distance * sin(angle * PI / 180);</a:t>
            </a:r>
          </a:p>
          <a:p>
            <a:pPr algn="l">
              <a:lnSpc>
                <a:spcPts val="2089"/>
              </a:lnSpc>
              <a:spcBef>
                <a:spcPct val="0"/>
              </a:spcBef>
            </a:pPr>
          </a:p>
        </p:txBody>
      </p:sp>
      <p:sp>
        <p:nvSpPr>
          <p:cNvPr name="TextBox 21" id="21"/>
          <p:cNvSpPr txBox="true"/>
          <p:nvPr/>
        </p:nvSpPr>
        <p:spPr>
          <a:xfrm rot="0">
            <a:off x="6674894" y="3553153"/>
            <a:ext cx="2799815"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Signal quality filtering</a:t>
            </a:r>
          </a:p>
        </p:txBody>
      </p:sp>
      <p:sp>
        <p:nvSpPr>
          <p:cNvPr name="TextBox 22" id="22"/>
          <p:cNvSpPr txBox="true"/>
          <p:nvPr/>
        </p:nvSpPr>
        <p:spPr>
          <a:xfrm rot="0">
            <a:off x="6674894" y="3158162"/>
            <a:ext cx="1657648" cy="381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Range threshold</a:t>
            </a:r>
          </a:p>
        </p:txBody>
      </p:sp>
      <p:sp>
        <p:nvSpPr>
          <p:cNvPr name="TextBox 23" id="23"/>
          <p:cNvSpPr txBox="true"/>
          <p:nvPr/>
        </p:nvSpPr>
        <p:spPr>
          <a:xfrm rot="0">
            <a:off x="6674894" y="3943678"/>
            <a:ext cx="5005500" cy="762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Smoothing filter to remove sharp jumps between consecutive points.</a:t>
            </a:r>
          </a:p>
        </p:txBody>
      </p:sp>
      <p:sp>
        <p:nvSpPr>
          <p:cNvPr name="TextBox 24" id="24"/>
          <p:cNvSpPr txBox="true"/>
          <p:nvPr/>
        </p:nvSpPr>
        <p:spPr>
          <a:xfrm rot="0">
            <a:off x="1096918" y="6406087"/>
            <a:ext cx="5731786" cy="5003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Polar to Cartesian Conversion</a:t>
            </a:r>
          </a:p>
        </p:txBody>
      </p:sp>
      <p:sp>
        <p:nvSpPr>
          <p:cNvPr name="TextBox 25" id="25"/>
          <p:cNvSpPr txBox="true"/>
          <p:nvPr/>
        </p:nvSpPr>
        <p:spPr>
          <a:xfrm rot="0">
            <a:off x="6615035" y="5133665"/>
            <a:ext cx="4873549" cy="995680"/>
          </a:xfrm>
          <a:prstGeom prst="rect">
            <a:avLst/>
          </a:prstGeom>
        </p:spPr>
        <p:txBody>
          <a:bodyPr anchor="t" rtlCol="false" tIns="0" lIns="0" bIns="0" rIns="0">
            <a:spAutoFit/>
          </a:bodyPr>
          <a:lstStyle/>
          <a:p>
            <a:pPr algn="just">
              <a:lnSpc>
                <a:spcPts val="3919"/>
              </a:lnSpc>
            </a:pPr>
            <a:r>
              <a:rPr lang="en-US" b="true" sz="2799" spc="278">
                <a:solidFill>
                  <a:srgbClr val="963D3D"/>
                </a:solidFill>
                <a:latin typeface="Times New Roman Bold"/>
                <a:ea typeface="Times New Roman Bold"/>
                <a:cs typeface="Times New Roman Bold"/>
                <a:sym typeface="Times New Roman Bold"/>
              </a:rPr>
              <a:t>Obstacle Detection and Environmental Modeling</a:t>
            </a:r>
          </a:p>
        </p:txBody>
      </p:sp>
      <p:sp>
        <p:nvSpPr>
          <p:cNvPr name="TextBox 26" id="26"/>
          <p:cNvSpPr txBox="true"/>
          <p:nvPr/>
        </p:nvSpPr>
        <p:spPr>
          <a:xfrm rot="0">
            <a:off x="12264207" y="5160348"/>
            <a:ext cx="5897545" cy="1490980"/>
          </a:xfrm>
          <a:prstGeom prst="rect">
            <a:avLst/>
          </a:prstGeom>
        </p:spPr>
        <p:txBody>
          <a:bodyPr anchor="t" rtlCol="false" tIns="0" lIns="0" bIns="0" rIns="0">
            <a:spAutoFit/>
          </a:bodyPr>
          <a:lstStyle/>
          <a:p>
            <a:pPr algn="just">
              <a:lnSpc>
                <a:spcPts val="3919"/>
              </a:lnSpc>
            </a:pPr>
            <a:r>
              <a:rPr lang="en-US" b="true" sz="2799" spc="277">
                <a:solidFill>
                  <a:srgbClr val="963D3D"/>
                </a:solidFill>
                <a:latin typeface="Times New Roman Bold"/>
                <a:ea typeface="Times New Roman Bold"/>
                <a:cs typeface="Times New Roman Bold"/>
                <a:sym typeface="Times New Roman Bold"/>
              </a:rPr>
              <a:t>Environmental Perception and Control</a:t>
            </a:r>
          </a:p>
          <a:p>
            <a:pPr algn="just">
              <a:lnSpc>
                <a:spcPts val="3919"/>
              </a:lnSpc>
            </a:pPr>
          </a:p>
        </p:txBody>
      </p:sp>
      <p:sp>
        <p:nvSpPr>
          <p:cNvPr name="TextBox 27" id="27"/>
          <p:cNvSpPr txBox="true"/>
          <p:nvPr/>
        </p:nvSpPr>
        <p:spPr>
          <a:xfrm rot="0">
            <a:off x="12264207" y="6487367"/>
            <a:ext cx="5678183" cy="1905000"/>
          </a:xfrm>
          <a:prstGeom prst="rect">
            <a:avLst/>
          </a:prstGeom>
        </p:spPr>
        <p:txBody>
          <a:bodyPr anchor="t" rtlCol="false" tIns="0" lIns="0" bIns="0" rIns="0">
            <a:spAutoFit/>
          </a:bodyPr>
          <a:lstStyle/>
          <a:p>
            <a:pPr algn="just">
              <a:lnSpc>
                <a:spcPts val="3000"/>
              </a:lnSpc>
              <a:spcBef>
                <a:spcPct val="0"/>
              </a:spcBef>
            </a:pPr>
            <a:r>
              <a:rPr lang="en-US" sz="2000">
                <a:solidFill>
                  <a:srgbClr val="000000"/>
                </a:solidFill>
                <a:latin typeface="Times New Roman"/>
                <a:ea typeface="Times New Roman"/>
                <a:cs typeface="Times New Roman"/>
                <a:sym typeface="Times New Roman"/>
              </a:rPr>
              <a:t>Before sending, LiDAR data are synchronized with other sensors such as IMU and wheel encoders.The system combines and packages various sensor data in the bluetooth_send_data() .This fusion enables more accurate pose estimation and map alignment.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31520" y="419100"/>
            <a:ext cx="1000760" cy="1000760"/>
            <a:chOff x="0" y="0"/>
            <a:chExt cx="1334347" cy="1334347"/>
          </a:xfrm>
        </p:grpSpPr>
        <p:sp>
          <p:nvSpPr>
            <p:cNvPr name="Freeform 5" id="5"/>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grpSp>
        <p:nvGrpSpPr>
          <p:cNvPr name="Group 6" id="6"/>
          <p:cNvGrpSpPr/>
          <p:nvPr/>
        </p:nvGrpSpPr>
        <p:grpSpPr>
          <a:xfrm rot="0">
            <a:off x="1052724" y="2943695"/>
            <a:ext cx="3639689" cy="703259"/>
            <a:chOff x="0" y="0"/>
            <a:chExt cx="958601" cy="185221"/>
          </a:xfrm>
        </p:grpSpPr>
        <p:sp>
          <p:nvSpPr>
            <p:cNvPr name="Freeform 7" id="7"/>
            <p:cNvSpPr/>
            <p:nvPr/>
          </p:nvSpPr>
          <p:spPr>
            <a:xfrm flipH="false" flipV="false" rot="0">
              <a:off x="0" y="0"/>
              <a:ext cx="958601" cy="185221"/>
            </a:xfrm>
            <a:custGeom>
              <a:avLst/>
              <a:gdLst/>
              <a:ahLst/>
              <a:cxnLst/>
              <a:rect r="r" b="b" t="t" l="l"/>
              <a:pathLst>
                <a:path h="185221" w="958601">
                  <a:moveTo>
                    <a:pt x="36160" y="0"/>
                  </a:moveTo>
                  <a:lnTo>
                    <a:pt x="922441" y="0"/>
                  </a:lnTo>
                  <a:cubicBezTo>
                    <a:pt x="932031" y="0"/>
                    <a:pt x="941229" y="3810"/>
                    <a:pt x="948010" y="10591"/>
                  </a:cubicBezTo>
                  <a:cubicBezTo>
                    <a:pt x="954792" y="17373"/>
                    <a:pt x="958601" y="26570"/>
                    <a:pt x="958601" y="36160"/>
                  </a:cubicBezTo>
                  <a:lnTo>
                    <a:pt x="958601" y="149060"/>
                  </a:lnTo>
                  <a:cubicBezTo>
                    <a:pt x="958601" y="158651"/>
                    <a:pt x="954792" y="167848"/>
                    <a:pt x="948010" y="174629"/>
                  </a:cubicBezTo>
                  <a:cubicBezTo>
                    <a:pt x="941229" y="181411"/>
                    <a:pt x="932031" y="185221"/>
                    <a:pt x="922441" y="185221"/>
                  </a:cubicBezTo>
                  <a:lnTo>
                    <a:pt x="36160" y="185221"/>
                  </a:lnTo>
                  <a:cubicBezTo>
                    <a:pt x="26570" y="185221"/>
                    <a:pt x="17373" y="181411"/>
                    <a:pt x="10591" y="174629"/>
                  </a:cubicBezTo>
                  <a:cubicBezTo>
                    <a:pt x="3810" y="167848"/>
                    <a:pt x="0" y="158651"/>
                    <a:pt x="0" y="149060"/>
                  </a:cubicBezTo>
                  <a:lnTo>
                    <a:pt x="0" y="36160"/>
                  </a:lnTo>
                  <a:cubicBezTo>
                    <a:pt x="0" y="26570"/>
                    <a:pt x="3810" y="17373"/>
                    <a:pt x="10591" y="10591"/>
                  </a:cubicBezTo>
                  <a:cubicBezTo>
                    <a:pt x="17373" y="3810"/>
                    <a:pt x="26570" y="0"/>
                    <a:pt x="36160" y="0"/>
                  </a:cubicBezTo>
                  <a:close/>
                </a:path>
              </a:pathLst>
            </a:custGeom>
            <a:solidFill>
              <a:srgbClr val="FFFFFF"/>
            </a:solidFill>
          </p:spPr>
        </p:sp>
        <p:sp>
          <p:nvSpPr>
            <p:cNvPr name="TextBox 8" id="8"/>
            <p:cNvSpPr txBox="true"/>
            <p:nvPr/>
          </p:nvSpPr>
          <p:spPr>
            <a:xfrm>
              <a:off x="0" y="-76200"/>
              <a:ext cx="958601" cy="261421"/>
            </a:xfrm>
            <a:prstGeom prst="rect">
              <a:avLst/>
            </a:prstGeom>
          </p:spPr>
          <p:txBody>
            <a:bodyPr anchor="ctr" rtlCol="false" tIns="50800" lIns="50800" bIns="50800" rIns="50800"/>
            <a:lstStyle/>
            <a:p>
              <a:pPr algn="ctr">
                <a:lnSpc>
                  <a:spcPts val="3000"/>
                </a:lnSpc>
              </a:pPr>
            </a:p>
          </p:txBody>
        </p:sp>
      </p:grpSp>
      <p:grpSp>
        <p:nvGrpSpPr>
          <p:cNvPr name="Group 9" id="9"/>
          <p:cNvGrpSpPr/>
          <p:nvPr/>
        </p:nvGrpSpPr>
        <p:grpSpPr>
          <a:xfrm rot="0">
            <a:off x="9705210" y="2771611"/>
            <a:ext cx="2475933" cy="565997"/>
            <a:chOff x="0" y="0"/>
            <a:chExt cx="652097" cy="149069"/>
          </a:xfrm>
        </p:grpSpPr>
        <p:sp>
          <p:nvSpPr>
            <p:cNvPr name="Freeform 10" id="10"/>
            <p:cNvSpPr/>
            <p:nvPr/>
          </p:nvSpPr>
          <p:spPr>
            <a:xfrm flipH="false" flipV="false" rot="0">
              <a:off x="0" y="0"/>
              <a:ext cx="652098" cy="149069"/>
            </a:xfrm>
            <a:custGeom>
              <a:avLst/>
              <a:gdLst/>
              <a:ahLst/>
              <a:cxnLst/>
              <a:rect r="r" b="b" t="t" l="l"/>
              <a:pathLst>
                <a:path h="149069" w="652098">
                  <a:moveTo>
                    <a:pt x="53157" y="0"/>
                  </a:moveTo>
                  <a:lnTo>
                    <a:pt x="598941" y="0"/>
                  </a:lnTo>
                  <a:cubicBezTo>
                    <a:pt x="628298" y="0"/>
                    <a:pt x="652098" y="23799"/>
                    <a:pt x="652098" y="53157"/>
                  </a:cubicBezTo>
                  <a:lnTo>
                    <a:pt x="652098" y="95912"/>
                  </a:lnTo>
                  <a:cubicBezTo>
                    <a:pt x="652098" y="110010"/>
                    <a:pt x="646497" y="123531"/>
                    <a:pt x="636528" y="133500"/>
                  </a:cubicBezTo>
                  <a:cubicBezTo>
                    <a:pt x="626559" y="143469"/>
                    <a:pt x="613039" y="149069"/>
                    <a:pt x="598941" y="149069"/>
                  </a:cubicBezTo>
                  <a:lnTo>
                    <a:pt x="53157" y="149069"/>
                  </a:lnTo>
                  <a:cubicBezTo>
                    <a:pt x="23799" y="149069"/>
                    <a:pt x="0" y="125270"/>
                    <a:pt x="0" y="95912"/>
                  </a:cubicBezTo>
                  <a:lnTo>
                    <a:pt x="0" y="53157"/>
                  </a:lnTo>
                  <a:cubicBezTo>
                    <a:pt x="0" y="23799"/>
                    <a:pt x="23799" y="0"/>
                    <a:pt x="53157" y="0"/>
                  </a:cubicBezTo>
                  <a:close/>
                </a:path>
              </a:pathLst>
            </a:custGeom>
            <a:solidFill>
              <a:srgbClr val="FFFFFF"/>
            </a:solidFill>
            <a:ln w="28575" cap="sq">
              <a:solidFill>
                <a:srgbClr val="000000"/>
              </a:solidFill>
              <a:prstDash val="solid"/>
              <a:miter/>
            </a:ln>
          </p:spPr>
        </p:sp>
        <p:sp>
          <p:nvSpPr>
            <p:cNvPr name="TextBox 11" id="11"/>
            <p:cNvSpPr txBox="true"/>
            <p:nvPr/>
          </p:nvSpPr>
          <p:spPr>
            <a:xfrm>
              <a:off x="0" y="-66675"/>
              <a:ext cx="652097"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Position loop (outer loop) </a:t>
              </a:r>
            </a:p>
          </p:txBody>
        </p:sp>
      </p:grpSp>
      <p:grpSp>
        <p:nvGrpSpPr>
          <p:cNvPr name="Group 12" id="12"/>
          <p:cNvGrpSpPr/>
          <p:nvPr/>
        </p:nvGrpSpPr>
        <p:grpSpPr>
          <a:xfrm rot="0">
            <a:off x="12706347" y="2771611"/>
            <a:ext cx="2742375" cy="565997"/>
            <a:chOff x="0" y="0"/>
            <a:chExt cx="722272" cy="149069"/>
          </a:xfrm>
        </p:grpSpPr>
        <p:sp>
          <p:nvSpPr>
            <p:cNvPr name="Freeform 13" id="13"/>
            <p:cNvSpPr/>
            <p:nvPr/>
          </p:nvSpPr>
          <p:spPr>
            <a:xfrm flipH="false" flipV="false" rot="0">
              <a:off x="0" y="0"/>
              <a:ext cx="722272" cy="149069"/>
            </a:xfrm>
            <a:custGeom>
              <a:avLst/>
              <a:gdLst/>
              <a:ahLst/>
              <a:cxnLst/>
              <a:rect r="r" b="b" t="t" l="l"/>
              <a:pathLst>
                <a:path h="149069" w="722272">
                  <a:moveTo>
                    <a:pt x="47992" y="0"/>
                  </a:moveTo>
                  <a:lnTo>
                    <a:pt x="674279" y="0"/>
                  </a:lnTo>
                  <a:cubicBezTo>
                    <a:pt x="700785" y="0"/>
                    <a:pt x="722272" y="21487"/>
                    <a:pt x="722272" y="47992"/>
                  </a:cubicBezTo>
                  <a:lnTo>
                    <a:pt x="722272" y="101077"/>
                  </a:lnTo>
                  <a:cubicBezTo>
                    <a:pt x="722272" y="113805"/>
                    <a:pt x="717215" y="126012"/>
                    <a:pt x="708215" y="135012"/>
                  </a:cubicBezTo>
                  <a:cubicBezTo>
                    <a:pt x="699215" y="144013"/>
                    <a:pt x="687008" y="149069"/>
                    <a:pt x="674279" y="149069"/>
                  </a:cubicBezTo>
                  <a:lnTo>
                    <a:pt x="47992" y="149069"/>
                  </a:lnTo>
                  <a:cubicBezTo>
                    <a:pt x="35264" y="149069"/>
                    <a:pt x="23057" y="144013"/>
                    <a:pt x="14057" y="135012"/>
                  </a:cubicBezTo>
                  <a:cubicBezTo>
                    <a:pt x="5056" y="126012"/>
                    <a:pt x="0" y="113805"/>
                    <a:pt x="0" y="101077"/>
                  </a:cubicBezTo>
                  <a:lnTo>
                    <a:pt x="0" y="47992"/>
                  </a:lnTo>
                  <a:cubicBezTo>
                    <a:pt x="0" y="35264"/>
                    <a:pt x="5056" y="23057"/>
                    <a:pt x="14057" y="14057"/>
                  </a:cubicBezTo>
                  <a:cubicBezTo>
                    <a:pt x="23057" y="5056"/>
                    <a:pt x="35264" y="0"/>
                    <a:pt x="47992" y="0"/>
                  </a:cubicBezTo>
                  <a:close/>
                </a:path>
              </a:pathLst>
            </a:custGeom>
            <a:solidFill>
              <a:srgbClr val="FFFFFF"/>
            </a:solidFill>
            <a:ln w="28575" cap="sq">
              <a:solidFill>
                <a:srgbClr val="000000"/>
              </a:solidFill>
              <a:prstDash val="solid"/>
              <a:miter/>
            </a:ln>
          </p:spPr>
        </p:sp>
        <p:sp>
          <p:nvSpPr>
            <p:cNvPr name="TextBox 14" id="14"/>
            <p:cNvSpPr txBox="true"/>
            <p:nvPr/>
          </p:nvSpPr>
          <p:spPr>
            <a:xfrm>
              <a:off x="0" y="-66675"/>
              <a:ext cx="72227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Speed loop (inner loop)</a:t>
              </a:r>
            </a:p>
          </p:txBody>
        </p:sp>
      </p:grpSp>
      <p:grpSp>
        <p:nvGrpSpPr>
          <p:cNvPr name="Group 15" id="15"/>
          <p:cNvGrpSpPr/>
          <p:nvPr/>
        </p:nvGrpSpPr>
        <p:grpSpPr>
          <a:xfrm rot="0">
            <a:off x="9819244" y="3756409"/>
            <a:ext cx="2139776" cy="565997"/>
            <a:chOff x="0" y="0"/>
            <a:chExt cx="563562" cy="149069"/>
          </a:xfrm>
        </p:grpSpPr>
        <p:sp>
          <p:nvSpPr>
            <p:cNvPr name="Freeform 16" id="16"/>
            <p:cNvSpPr/>
            <p:nvPr/>
          </p:nvSpPr>
          <p:spPr>
            <a:xfrm flipH="false" flipV="false" rot="0">
              <a:off x="0" y="0"/>
              <a:ext cx="563562" cy="149069"/>
            </a:xfrm>
            <a:custGeom>
              <a:avLst/>
              <a:gdLst/>
              <a:ahLst/>
              <a:cxnLst/>
              <a:rect r="r" b="b" t="t" l="l"/>
              <a:pathLst>
                <a:path h="149069" w="563562">
                  <a:moveTo>
                    <a:pt x="61508" y="0"/>
                  </a:moveTo>
                  <a:lnTo>
                    <a:pt x="502055" y="0"/>
                  </a:lnTo>
                  <a:cubicBezTo>
                    <a:pt x="536025" y="0"/>
                    <a:pt x="563562" y="27538"/>
                    <a:pt x="563562" y="61508"/>
                  </a:cubicBezTo>
                  <a:lnTo>
                    <a:pt x="563562" y="87561"/>
                  </a:lnTo>
                  <a:cubicBezTo>
                    <a:pt x="563562" y="103874"/>
                    <a:pt x="557082" y="119519"/>
                    <a:pt x="545547" y="131054"/>
                  </a:cubicBezTo>
                  <a:cubicBezTo>
                    <a:pt x="534012" y="142589"/>
                    <a:pt x="518368" y="149069"/>
                    <a:pt x="502055" y="149069"/>
                  </a:cubicBezTo>
                  <a:lnTo>
                    <a:pt x="61508" y="149069"/>
                  </a:lnTo>
                  <a:cubicBezTo>
                    <a:pt x="27538" y="149069"/>
                    <a:pt x="0" y="121531"/>
                    <a:pt x="0" y="87561"/>
                  </a:cubicBezTo>
                  <a:lnTo>
                    <a:pt x="0" y="61508"/>
                  </a:lnTo>
                  <a:cubicBezTo>
                    <a:pt x="0" y="27538"/>
                    <a:pt x="27538" y="0"/>
                    <a:pt x="61508" y="0"/>
                  </a:cubicBezTo>
                  <a:close/>
                </a:path>
              </a:pathLst>
            </a:custGeom>
            <a:solidFill>
              <a:srgbClr val="FFFFFF"/>
            </a:solidFill>
            <a:ln w="28575" cap="sq">
              <a:solidFill>
                <a:srgbClr val="000000"/>
              </a:solidFill>
              <a:prstDash val="solid"/>
              <a:miter/>
            </a:ln>
          </p:spPr>
        </p:sp>
        <p:sp>
          <p:nvSpPr>
            <p:cNvPr name="TextBox 17" id="17"/>
            <p:cNvSpPr txBox="true"/>
            <p:nvPr/>
          </p:nvSpPr>
          <p:spPr>
            <a:xfrm>
              <a:off x="0" y="-66675"/>
              <a:ext cx="56356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Position error</a:t>
              </a:r>
            </a:p>
          </p:txBody>
        </p:sp>
      </p:grpSp>
      <p:grpSp>
        <p:nvGrpSpPr>
          <p:cNvPr name="Group 18" id="18"/>
          <p:cNvGrpSpPr/>
          <p:nvPr/>
        </p:nvGrpSpPr>
        <p:grpSpPr>
          <a:xfrm rot="0">
            <a:off x="12821321" y="3759108"/>
            <a:ext cx="2139776" cy="565997"/>
            <a:chOff x="0" y="0"/>
            <a:chExt cx="563562" cy="149069"/>
          </a:xfrm>
        </p:grpSpPr>
        <p:sp>
          <p:nvSpPr>
            <p:cNvPr name="Freeform 19" id="19"/>
            <p:cNvSpPr/>
            <p:nvPr/>
          </p:nvSpPr>
          <p:spPr>
            <a:xfrm flipH="false" flipV="false" rot="0">
              <a:off x="0" y="0"/>
              <a:ext cx="563562" cy="149069"/>
            </a:xfrm>
            <a:custGeom>
              <a:avLst/>
              <a:gdLst/>
              <a:ahLst/>
              <a:cxnLst/>
              <a:rect r="r" b="b" t="t" l="l"/>
              <a:pathLst>
                <a:path h="149069" w="563562">
                  <a:moveTo>
                    <a:pt x="61508" y="0"/>
                  </a:moveTo>
                  <a:lnTo>
                    <a:pt x="502055" y="0"/>
                  </a:lnTo>
                  <a:cubicBezTo>
                    <a:pt x="536025" y="0"/>
                    <a:pt x="563562" y="27538"/>
                    <a:pt x="563562" y="61508"/>
                  </a:cubicBezTo>
                  <a:lnTo>
                    <a:pt x="563562" y="87561"/>
                  </a:lnTo>
                  <a:cubicBezTo>
                    <a:pt x="563562" y="103874"/>
                    <a:pt x="557082" y="119519"/>
                    <a:pt x="545547" y="131054"/>
                  </a:cubicBezTo>
                  <a:cubicBezTo>
                    <a:pt x="534012" y="142589"/>
                    <a:pt x="518368" y="149069"/>
                    <a:pt x="502055" y="149069"/>
                  </a:cubicBezTo>
                  <a:lnTo>
                    <a:pt x="61508" y="149069"/>
                  </a:lnTo>
                  <a:cubicBezTo>
                    <a:pt x="27538" y="149069"/>
                    <a:pt x="0" y="121531"/>
                    <a:pt x="0" y="87561"/>
                  </a:cubicBezTo>
                  <a:lnTo>
                    <a:pt x="0" y="61508"/>
                  </a:lnTo>
                  <a:cubicBezTo>
                    <a:pt x="0" y="27538"/>
                    <a:pt x="27538" y="0"/>
                    <a:pt x="61508" y="0"/>
                  </a:cubicBezTo>
                  <a:close/>
                </a:path>
              </a:pathLst>
            </a:custGeom>
            <a:solidFill>
              <a:srgbClr val="FFFFFF"/>
            </a:solidFill>
            <a:ln w="28575" cap="sq">
              <a:solidFill>
                <a:srgbClr val="000000"/>
              </a:solidFill>
              <a:prstDash val="solid"/>
              <a:miter/>
            </a:ln>
          </p:spPr>
        </p:sp>
        <p:sp>
          <p:nvSpPr>
            <p:cNvPr name="TextBox 20" id="20"/>
            <p:cNvSpPr txBox="true"/>
            <p:nvPr/>
          </p:nvSpPr>
          <p:spPr>
            <a:xfrm>
              <a:off x="0" y="-66675"/>
              <a:ext cx="56356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Speed error</a:t>
              </a:r>
            </a:p>
          </p:txBody>
        </p:sp>
      </p:grpSp>
      <p:grpSp>
        <p:nvGrpSpPr>
          <p:cNvPr name="Group 21" id="21"/>
          <p:cNvGrpSpPr/>
          <p:nvPr/>
        </p:nvGrpSpPr>
        <p:grpSpPr>
          <a:xfrm rot="0">
            <a:off x="9819244" y="4841863"/>
            <a:ext cx="2139776" cy="565997"/>
            <a:chOff x="0" y="0"/>
            <a:chExt cx="563562" cy="149069"/>
          </a:xfrm>
        </p:grpSpPr>
        <p:sp>
          <p:nvSpPr>
            <p:cNvPr name="Freeform 22" id="22"/>
            <p:cNvSpPr/>
            <p:nvPr/>
          </p:nvSpPr>
          <p:spPr>
            <a:xfrm flipH="false" flipV="false" rot="0">
              <a:off x="0" y="0"/>
              <a:ext cx="563562" cy="149069"/>
            </a:xfrm>
            <a:custGeom>
              <a:avLst/>
              <a:gdLst/>
              <a:ahLst/>
              <a:cxnLst/>
              <a:rect r="r" b="b" t="t" l="l"/>
              <a:pathLst>
                <a:path h="149069" w="563562">
                  <a:moveTo>
                    <a:pt x="61508" y="0"/>
                  </a:moveTo>
                  <a:lnTo>
                    <a:pt x="502055" y="0"/>
                  </a:lnTo>
                  <a:cubicBezTo>
                    <a:pt x="536025" y="0"/>
                    <a:pt x="563562" y="27538"/>
                    <a:pt x="563562" y="61508"/>
                  </a:cubicBezTo>
                  <a:lnTo>
                    <a:pt x="563562" y="87561"/>
                  </a:lnTo>
                  <a:cubicBezTo>
                    <a:pt x="563562" y="103874"/>
                    <a:pt x="557082" y="119519"/>
                    <a:pt x="545547" y="131054"/>
                  </a:cubicBezTo>
                  <a:cubicBezTo>
                    <a:pt x="534012" y="142589"/>
                    <a:pt x="518368" y="149069"/>
                    <a:pt x="502055" y="149069"/>
                  </a:cubicBezTo>
                  <a:lnTo>
                    <a:pt x="61508" y="149069"/>
                  </a:lnTo>
                  <a:cubicBezTo>
                    <a:pt x="27538" y="149069"/>
                    <a:pt x="0" y="121531"/>
                    <a:pt x="0" y="87561"/>
                  </a:cubicBezTo>
                  <a:lnTo>
                    <a:pt x="0" y="61508"/>
                  </a:lnTo>
                  <a:cubicBezTo>
                    <a:pt x="0" y="27538"/>
                    <a:pt x="27538" y="0"/>
                    <a:pt x="61508" y="0"/>
                  </a:cubicBezTo>
                  <a:close/>
                </a:path>
              </a:pathLst>
            </a:custGeom>
            <a:solidFill>
              <a:srgbClr val="FFFFFF"/>
            </a:solidFill>
            <a:ln w="28575" cap="sq">
              <a:solidFill>
                <a:srgbClr val="000000"/>
              </a:solidFill>
              <a:prstDash val="solid"/>
              <a:miter/>
            </a:ln>
          </p:spPr>
        </p:sp>
        <p:sp>
          <p:nvSpPr>
            <p:cNvPr name="TextBox 23" id="23"/>
            <p:cNvSpPr txBox="true"/>
            <p:nvPr/>
          </p:nvSpPr>
          <p:spPr>
            <a:xfrm>
              <a:off x="0" y="-66675"/>
              <a:ext cx="56356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Target speed</a:t>
              </a:r>
            </a:p>
          </p:txBody>
        </p:sp>
      </p:grpSp>
      <p:grpSp>
        <p:nvGrpSpPr>
          <p:cNvPr name="Group 24" id="24"/>
          <p:cNvGrpSpPr/>
          <p:nvPr/>
        </p:nvGrpSpPr>
        <p:grpSpPr>
          <a:xfrm rot="0">
            <a:off x="12821321" y="4854879"/>
            <a:ext cx="2139776" cy="565997"/>
            <a:chOff x="0" y="0"/>
            <a:chExt cx="563562" cy="149069"/>
          </a:xfrm>
        </p:grpSpPr>
        <p:sp>
          <p:nvSpPr>
            <p:cNvPr name="Freeform 25" id="25"/>
            <p:cNvSpPr/>
            <p:nvPr/>
          </p:nvSpPr>
          <p:spPr>
            <a:xfrm flipH="false" flipV="false" rot="0">
              <a:off x="0" y="0"/>
              <a:ext cx="563562" cy="149069"/>
            </a:xfrm>
            <a:custGeom>
              <a:avLst/>
              <a:gdLst/>
              <a:ahLst/>
              <a:cxnLst/>
              <a:rect r="r" b="b" t="t" l="l"/>
              <a:pathLst>
                <a:path h="149069" w="563562">
                  <a:moveTo>
                    <a:pt x="61508" y="0"/>
                  </a:moveTo>
                  <a:lnTo>
                    <a:pt x="502055" y="0"/>
                  </a:lnTo>
                  <a:cubicBezTo>
                    <a:pt x="536025" y="0"/>
                    <a:pt x="563562" y="27538"/>
                    <a:pt x="563562" y="61508"/>
                  </a:cubicBezTo>
                  <a:lnTo>
                    <a:pt x="563562" y="87561"/>
                  </a:lnTo>
                  <a:cubicBezTo>
                    <a:pt x="563562" y="103874"/>
                    <a:pt x="557082" y="119519"/>
                    <a:pt x="545547" y="131054"/>
                  </a:cubicBezTo>
                  <a:cubicBezTo>
                    <a:pt x="534012" y="142589"/>
                    <a:pt x="518368" y="149069"/>
                    <a:pt x="502055" y="149069"/>
                  </a:cubicBezTo>
                  <a:lnTo>
                    <a:pt x="61508" y="149069"/>
                  </a:lnTo>
                  <a:cubicBezTo>
                    <a:pt x="27538" y="149069"/>
                    <a:pt x="0" y="121531"/>
                    <a:pt x="0" y="87561"/>
                  </a:cubicBezTo>
                  <a:lnTo>
                    <a:pt x="0" y="61508"/>
                  </a:lnTo>
                  <a:cubicBezTo>
                    <a:pt x="0" y="27538"/>
                    <a:pt x="27538" y="0"/>
                    <a:pt x="61508" y="0"/>
                  </a:cubicBezTo>
                  <a:close/>
                </a:path>
              </a:pathLst>
            </a:custGeom>
            <a:solidFill>
              <a:srgbClr val="FFFFFF"/>
            </a:solidFill>
            <a:ln w="28575" cap="sq">
              <a:solidFill>
                <a:srgbClr val="000000"/>
              </a:solidFill>
              <a:prstDash val="solid"/>
              <a:miter/>
            </a:ln>
          </p:spPr>
        </p:sp>
        <p:sp>
          <p:nvSpPr>
            <p:cNvPr name="TextBox 26" id="26"/>
            <p:cNvSpPr txBox="true"/>
            <p:nvPr/>
          </p:nvSpPr>
          <p:spPr>
            <a:xfrm>
              <a:off x="0" y="-66675"/>
              <a:ext cx="56356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Motor output</a:t>
              </a:r>
            </a:p>
          </p:txBody>
        </p:sp>
      </p:grpSp>
      <p:sp>
        <p:nvSpPr>
          <p:cNvPr name="TextBox 27" id="27"/>
          <p:cNvSpPr txBox="true"/>
          <p:nvPr/>
        </p:nvSpPr>
        <p:spPr>
          <a:xfrm rot="0">
            <a:off x="6719869" y="98298"/>
            <a:ext cx="11351510" cy="1556639"/>
          </a:xfrm>
          <a:prstGeom prst="rect">
            <a:avLst/>
          </a:prstGeom>
        </p:spPr>
        <p:txBody>
          <a:bodyPr anchor="t" rtlCol="false" tIns="0" lIns="0" bIns="0" rIns="0">
            <a:spAutoFit/>
          </a:bodyPr>
          <a:lstStyle/>
          <a:p>
            <a:pPr algn="just">
              <a:lnSpc>
                <a:spcPts val="3057"/>
              </a:lnSpc>
            </a:pPr>
            <a:r>
              <a:rPr lang="en-US" sz="2199">
                <a:solidFill>
                  <a:srgbClr val="FFFFFF"/>
                </a:solidFill>
                <a:latin typeface="Calibri (MS)"/>
                <a:ea typeface="Calibri (MS)"/>
                <a:cs typeface="Calibri (MS)"/>
                <a:sym typeface="Calibri (MS)"/>
              </a:rPr>
              <a:t>The motor module adopts a dual-wheel differential drive design. It controls the left and right wheels independently through two separate motors to achieve actions such as moving forward, backward, and turning. The motor speed is controlled by PWM, the position information is provided by the encoder, and the PID controller is used to achieve precise speed and position control.</a:t>
            </a:r>
          </a:p>
        </p:txBody>
      </p:sp>
      <p:sp>
        <p:nvSpPr>
          <p:cNvPr name="TextBox 28" id="28"/>
          <p:cNvSpPr txBox="true"/>
          <p:nvPr/>
        </p:nvSpPr>
        <p:spPr>
          <a:xfrm rot="0">
            <a:off x="2094535" y="53496"/>
            <a:ext cx="4875515" cy="1693867"/>
          </a:xfrm>
          <a:prstGeom prst="rect">
            <a:avLst/>
          </a:prstGeom>
        </p:spPr>
        <p:txBody>
          <a:bodyPr anchor="t" rtlCol="false" tIns="0" lIns="0" bIns="0" rIns="0">
            <a:spAutoFit/>
          </a:bodyPr>
          <a:lstStyle/>
          <a:p>
            <a:pPr algn="l">
              <a:lnSpc>
                <a:spcPts val="6589"/>
              </a:lnSpc>
            </a:pPr>
            <a:r>
              <a:rPr lang="en-US" sz="5491" b="true">
                <a:solidFill>
                  <a:srgbClr val="FFFFFF"/>
                </a:solidFill>
                <a:latin typeface="Times New Roman Bold"/>
                <a:ea typeface="Times New Roman Bold"/>
                <a:cs typeface="Times New Roman Bold"/>
                <a:sym typeface="Times New Roman Bold"/>
              </a:rPr>
              <a:t>Motor drive </a:t>
            </a:r>
          </a:p>
          <a:p>
            <a:pPr algn="l">
              <a:lnSpc>
                <a:spcPts val="6590"/>
              </a:lnSpc>
            </a:pPr>
            <a:r>
              <a:rPr lang="en-US" b="true" sz="5491" spc="-1">
                <a:solidFill>
                  <a:srgbClr val="FFFFFF"/>
                </a:solidFill>
                <a:latin typeface="Times New Roman Bold"/>
                <a:ea typeface="Times New Roman Bold"/>
                <a:cs typeface="Times New Roman Bold"/>
                <a:sym typeface="Times New Roman Bold"/>
              </a:rPr>
              <a:t>&amp; PID control</a:t>
            </a:r>
          </a:p>
        </p:txBody>
      </p:sp>
      <p:sp>
        <p:nvSpPr>
          <p:cNvPr name="TextBox 29" id="29"/>
          <p:cNvSpPr txBox="true"/>
          <p:nvPr/>
        </p:nvSpPr>
        <p:spPr>
          <a:xfrm rot="0">
            <a:off x="297485" y="6057413"/>
            <a:ext cx="5479949" cy="500380"/>
          </a:xfrm>
          <a:prstGeom prst="rect">
            <a:avLst/>
          </a:prstGeom>
        </p:spPr>
        <p:txBody>
          <a:bodyPr anchor="t" rtlCol="false" tIns="0" lIns="0" bIns="0" rIns="0">
            <a:spAutoFit/>
          </a:bodyPr>
          <a:lstStyle/>
          <a:p>
            <a:pPr algn="l">
              <a:lnSpc>
                <a:spcPts val="3920"/>
              </a:lnSpc>
            </a:pPr>
            <a:r>
              <a:rPr lang="en-US" sz="2800" spc="279" b="true">
                <a:solidFill>
                  <a:srgbClr val="963D3D"/>
                </a:solidFill>
                <a:latin typeface="Times New Roman Bold"/>
                <a:ea typeface="Times New Roman Bold"/>
                <a:cs typeface="Times New Roman Bold"/>
                <a:sym typeface="Times New Roman Bold"/>
              </a:rPr>
              <a:t>Two-wheel differential drive</a:t>
            </a:r>
          </a:p>
        </p:txBody>
      </p:sp>
      <p:sp>
        <p:nvSpPr>
          <p:cNvPr name="TextBox 30" id="30"/>
          <p:cNvSpPr txBox="true"/>
          <p:nvPr/>
        </p:nvSpPr>
        <p:spPr>
          <a:xfrm rot="0">
            <a:off x="297485" y="6662568"/>
            <a:ext cx="8835277" cy="3047376"/>
          </a:xfrm>
          <a:prstGeom prst="rect">
            <a:avLst/>
          </a:prstGeom>
        </p:spPr>
        <p:txBody>
          <a:bodyPr anchor="t" rtlCol="false" tIns="0" lIns="0" bIns="0" rIns="0">
            <a:spAutoFit/>
          </a:bodyPr>
          <a:lstStyle/>
          <a:p>
            <a:pPr algn="just">
              <a:lnSpc>
                <a:spcPts val="3024"/>
              </a:lnSpc>
              <a:spcBef>
                <a:spcPct val="0"/>
              </a:spcBef>
            </a:pPr>
            <a:r>
              <a:rPr lang="en-US" sz="2016">
                <a:solidFill>
                  <a:srgbClr val="000000"/>
                </a:solidFill>
                <a:latin typeface="Times New Roman"/>
                <a:ea typeface="Times New Roman"/>
                <a:cs typeface="Times New Roman"/>
                <a:sym typeface="Times New Roman"/>
              </a:rPr>
              <a:t>The differential</a:t>
            </a:r>
            <a:r>
              <a:rPr lang="en-US" sz="2016">
                <a:solidFill>
                  <a:srgbClr val="000000"/>
                </a:solidFill>
                <a:latin typeface="Times New Roman"/>
                <a:ea typeface="Times New Roman"/>
                <a:cs typeface="Times New Roman"/>
                <a:sym typeface="Times New Roman"/>
              </a:rPr>
              <a:t> drive chassis generates angular velocity through the difference in linear speeds of the left and right wheels, enabling straight driving, turning, and spinning on the spot.</a:t>
            </a:r>
          </a:p>
          <a:p>
            <a:pPr algn="just">
              <a:lnSpc>
                <a:spcPts val="3024"/>
              </a:lnSpc>
              <a:spcBef>
                <a:spcPct val="0"/>
              </a:spcBef>
            </a:pPr>
            <a:r>
              <a:rPr lang="en-US" sz="2016">
                <a:solidFill>
                  <a:srgbClr val="000000"/>
                </a:solidFill>
                <a:latin typeface="Times New Roman"/>
                <a:ea typeface="Times New Roman"/>
                <a:cs typeface="Times New Roman"/>
                <a:sym typeface="Times New Roman"/>
              </a:rPr>
              <a:t>Kinematic relationship: v = (vL + vR) / 2, ω = (vR - vL) / L. In terms of control, the target speeds vL and vR for the left and right wheels are given, and then the closed loop is converted to PWM.</a:t>
            </a:r>
          </a:p>
          <a:p>
            <a:pPr algn="just">
              <a:lnSpc>
                <a:spcPts val="3024"/>
              </a:lnSpc>
              <a:spcBef>
                <a:spcPct val="0"/>
              </a:spcBef>
            </a:pPr>
            <a:r>
              <a:rPr lang="en-US" sz="2016">
                <a:solidFill>
                  <a:srgbClr val="000000"/>
                </a:solidFill>
                <a:latin typeface="Times New Roman"/>
                <a:ea typeface="Times New Roman"/>
                <a:cs typeface="Times New Roman"/>
                <a:sym typeface="Times New Roman"/>
              </a:rPr>
              <a:t>Each wheel uses two PWM channels. The mutually exclusive output determines the direction, and the duty cycle determines the force.</a:t>
            </a:r>
          </a:p>
        </p:txBody>
      </p:sp>
      <p:sp>
        <p:nvSpPr>
          <p:cNvPr name="TextBox 31" id="31"/>
          <p:cNvSpPr txBox="true"/>
          <p:nvPr/>
        </p:nvSpPr>
        <p:spPr>
          <a:xfrm rot="0">
            <a:off x="297485" y="1820361"/>
            <a:ext cx="4574103" cy="500380"/>
          </a:xfrm>
          <a:prstGeom prst="rect">
            <a:avLst/>
          </a:prstGeom>
        </p:spPr>
        <p:txBody>
          <a:bodyPr anchor="t" rtlCol="false" tIns="0" lIns="0" bIns="0" rIns="0">
            <a:spAutoFit/>
          </a:bodyPr>
          <a:lstStyle/>
          <a:p>
            <a:pPr algn="l">
              <a:lnSpc>
                <a:spcPts val="3920"/>
              </a:lnSpc>
            </a:pPr>
            <a:r>
              <a:rPr lang="en-US" sz="2800" spc="277" b="true">
                <a:solidFill>
                  <a:srgbClr val="963D3D"/>
                </a:solidFill>
                <a:latin typeface="Times New Roman Bold"/>
                <a:ea typeface="Times New Roman Bold"/>
                <a:cs typeface="Times New Roman Bold"/>
                <a:sym typeface="Times New Roman Bold"/>
              </a:rPr>
              <a:t>Multi-level PID control</a:t>
            </a:r>
          </a:p>
        </p:txBody>
      </p:sp>
      <p:sp>
        <p:nvSpPr>
          <p:cNvPr name="TextBox 32" id="32"/>
          <p:cNvSpPr txBox="true"/>
          <p:nvPr/>
        </p:nvSpPr>
        <p:spPr>
          <a:xfrm rot="0">
            <a:off x="297485" y="2300861"/>
            <a:ext cx="8835277" cy="3428376"/>
          </a:xfrm>
          <a:prstGeom prst="rect">
            <a:avLst/>
          </a:prstGeom>
        </p:spPr>
        <p:txBody>
          <a:bodyPr anchor="t" rtlCol="false" tIns="0" lIns="0" bIns="0" rIns="0">
            <a:spAutoFit/>
          </a:bodyPr>
          <a:lstStyle/>
          <a:p>
            <a:pPr algn="just">
              <a:lnSpc>
                <a:spcPts val="3024"/>
              </a:lnSpc>
              <a:spcBef>
                <a:spcPct val="0"/>
              </a:spcBef>
            </a:pPr>
            <a:r>
              <a:rPr lang="en-US" sz="2016">
                <a:solidFill>
                  <a:srgbClr val="000000"/>
                </a:solidFill>
                <a:latin typeface="Times New Roman"/>
                <a:ea typeface="Times New Roman"/>
                <a:cs typeface="Times New Roman"/>
                <a:sym typeface="Times New Roman"/>
              </a:rPr>
              <a:t>The multi-level PID adopts an</a:t>
            </a:r>
            <a:r>
              <a:rPr lang="en-US" sz="2016">
                <a:solidFill>
                  <a:srgbClr val="000000"/>
                </a:solidFill>
                <a:latin typeface="Times New Roman"/>
                <a:ea typeface="Times New Roman"/>
                <a:cs typeface="Times New Roman"/>
                <a:sym typeface="Times New Roman"/>
              </a:rPr>
              <a:t> engineering design of "external slow, internal fast, decoupling and hierarchical, limiting and preventing saturation, normalization and anti-jitter", achieving closed-loop control of the differential chassis with stable straight-line operation, smooth steering, and rapid response. </a:t>
            </a:r>
          </a:p>
          <a:p>
            <a:pPr algn="just">
              <a:lnSpc>
                <a:spcPts val="3024"/>
              </a:lnSpc>
              <a:spcBef>
                <a:spcPct val="0"/>
              </a:spcBef>
            </a:pPr>
            <a:r>
              <a:rPr lang="en-US" sz="2016">
                <a:solidFill>
                  <a:srgbClr val="000000"/>
                </a:solidFill>
                <a:latin typeface="Times New Roman"/>
                <a:ea typeface="Times New Roman"/>
                <a:cs typeface="Times New Roman"/>
                <a:sym typeface="Times New Roman"/>
              </a:rPr>
              <a:t>Cascade control: Position loop (outer loop) → Speed loop (inner loop) → PWM output. The angle loop is responsible for heading control, and the speed difference ensures linearity and synchronization of the two wheels. </a:t>
            </a:r>
          </a:p>
          <a:p>
            <a:pPr algn="just">
              <a:lnSpc>
                <a:spcPts val="3024"/>
              </a:lnSpc>
              <a:spcBef>
                <a:spcPct val="0"/>
              </a:spcBef>
            </a:pPr>
            <a:r>
              <a:rPr lang="en-US" sz="2016">
                <a:solidFill>
                  <a:srgbClr val="000000"/>
                </a:solidFill>
                <a:latin typeface="Times New Roman"/>
                <a:ea typeface="Times New Roman"/>
                <a:cs typeface="Times New Roman"/>
                <a:sym typeface="Times New Roman"/>
              </a:rPr>
              <a:t>Each loop has clear responsibilities, clear sequence, and parameters are layered, reducing coupling and mutual interference.</a:t>
            </a:r>
          </a:p>
        </p:txBody>
      </p:sp>
      <p:grpSp>
        <p:nvGrpSpPr>
          <p:cNvPr name="Group 33" id="33"/>
          <p:cNvGrpSpPr/>
          <p:nvPr/>
        </p:nvGrpSpPr>
        <p:grpSpPr>
          <a:xfrm rot="0">
            <a:off x="12237302" y="2886138"/>
            <a:ext cx="412886" cy="257902"/>
            <a:chOff x="0" y="0"/>
            <a:chExt cx="922437" cy="576184"/>
          </a:xfrm>
        </p:grpSpPr>
        <p:sp>
          <p:nvSpPr>
            <p:cNvPr name="Freeform 34" id="34"/>
            <p:cNvSpPr/>
            <p:nvPr/>
          </p:nvSpPr>
          <p:spPr>
            <a:xfrm flipH="false" flipV="false" rot="0">
              <a:off x="0" y="0"/>
              <a:ext cx="922437" cy="576184"/>
            </a:xfrm>
            <a:custGeom>
              <a:avLst/>
              <a:gdLst/>
              <a:ahLst/>
              <a:cxnLst/>
              <a:rect r="r" b="b" t="t" l="l"/>
              <a:pathLst>
                <a:path h="576184" w="922437">
                  <a:moveTo>
                    <a:pt x="922437" y="288092"/>
                  </a:moveTo>
                  <a:lnTo>
                    <a:pt x="516037" y="0"/>
                  </a:lnTo>
                  <a:lnTo>
                    <a:pt x="516037" y="203200"/>
                  </a:lnTo>
                  <a:lnTo>
                    <a:pt x="0" y="203200"/>
                  </a:lnTo>
                  <a:lnTo>
                    <a:pt x="0" y="372984"/>
                  </a:lnTo>
                  <a:lnTo>
                    <a:pt x="516037" y="372984"/>
                  </a:lnTo>
                  <a:lnTo>
                    <a:pt x="516037" y="576184"/>
                  </a:lnTo>
                  <a:lnTo>
                    <a:pt x="922437" y="288092"/>
                  </a:lnTo>
                  <a:close/>
                </a:path>
              </a:pathLst>
            </a:custGeom>
            <a:solidFill>
              <a:srgbClr val="000000"/>
            </a:solidFill>
          </p:spPr>
        </p:sp>
        <p:sp>
          <p:nvSpPr>
            <p:cNvPr name="TextBox 35" id="35"/>
            <p:cNvSpPr txBox="true"/>
            <p:nvPr/>
          </p:nvSpPr>
          <p:spPr>
            <a:xfrm>
              <a:off x="0" y="127000"/>
              <a:ext cx="820837" cy="245984"/>
            </a:xfrm>
            <a:prstGeom prst="rect">
              <a:avLst/>
            </a:prstGeom>
          </p:spPr>
          <p:txBody>
            <a:bodyPr anchor="ctr" rtlCol="false" tIns="50800" lIns="50800" bIns="50800" rIns="50800"/>
            <a:lstStyle/>
            <a:p>
              <a:pPr algn="ctr">
                <a:lnSpc>
                  <a:spcPts val="3000"/>
                </a:lnSpc>
              </a:pPr>
            </a:p>
          </p:txBody>
        </p:sp>
      </p:grpSp>
      <p:grpSp>
        <p:nvGrpSpPr>
          <p:cNvPr name="Group 36" id="36"/>
          <p:cNvGrpSpPr/>
          <p:nvPr/>
        </p:nvGrpSpPr>
        <p:grpSpPr>
          <a:xfrm rot="5400000">
            <a:off x="10684309" y="3453354"/>
            <a:ext cx="369609" cy="236499"/>
            <a:chOff x="0" y="0"/>
            <a:chExt cx="965549" cy="617820"/>
          </a:xfrm>
        </p:grpSpPr>
        <p:sp>
          <p:nvSpPr>
            <p:cNvPr name="Freeform 37" id="37"/>
            <p:cNvSpPr/>
            <p:nvPr/>
          </p:nvSpPr>
          <p:spPr>
            <a:xfrm flipH="false" flipV="false" rot="0">
              <a:off x="0" y="0"/>
              <a:ext cx="965549" cy="617820"/>
            </a:xfrm>
            <a:custGeom>
              <a:avLst/>
              <a:gdLst/>
              <a:ahLst/>
              <a:cxnLst/>
              <a:rect r="r" b="b" t="t" l="l"/>
              <a:pathLst>
                <a:path h="617820" w="965549">
                  <a:moveTo>
                    <a:pt x="965549" y="308910"/>
                  </a:moveTo>
                  <a:lnTo>
                    <a:pt x="559149" y="0"/>
                  </a:lnTo>
                  <a:lnTo>
                    <a:pt x="559149" y="203200"/>
                  </a:lnTo>
                  <a:lnTo>
                    <a:pt x="0" y="203200"/>
                  </a:lnTo>
                  <a:lnTo>
                    <a:pt x="0" y="414620"/>
                  </a:lnTo>
                  <a:lnTo>
                    <a:pt x="559149" y="414620"/>
                  </a:lnTo>
                  <a:lnTo>
                    <a:pt x="559149" y="617820"/>
                  </a:lnTo>
                  <a:lnTo>
                    <a:pt x="965549" y="308910"/>
                  </a:lnTo>
                  <a:close/>
                </a:path>
              </a:pathLst>
            </a:custGeom>
            <a:solidFill>
              <a:srgbClr val="000000"/>
            </a:solidFill>
          </p:spPr>
        </p:sp>
        <p:sp>
          <p:nvSpPr>
            <p:cNvPr name="TextBox 38" id="38"/>
            <p:cNvSpPr txBox="true"/>
            <p:nvPr/>
          </p:nvSpPr>
          <p:spPr>
            <a:xfrm>
              <a:off x="0" y="127000"/>
              <a:ext cx="863949" cy="287620"/>
            </a:xfrm>
            <a:prstGeom prst="rect">
              <a:avLst/>
            </a:prstGeom>
          </p:spPr>
          <p:txBody>
            <a:bodyPr anchor="ctr" rtlCol="false" tIns="50800" lIns="50800" bIns="50800" rIns="50800"/>
            <a:lstStyle/>
            <a:p>
              <a:pPr algn="ctr">
                <a:lnSpc>
                  <a:spcPts val="3000"/>
                </a:lnSpc>
              </a:pPr>
            </a:p>
          </p:txBody>
        </p:sp>
      </p:grpSp>
      <p:grpSp>
        <p:nvGrpSpPr>
          <p:cNvPr name="Group 39" id="39"/>
          <p:cNvGrpSpPr/>
          <p:nvPr/>
        </p:nvGrpSpPr>
        <p:grpSpPr>
          <a:xfrm rot="5400000">
            <a:off x="10673041" y="4467605"/>
            <a:ext cx="432183" cy="276538"/>
            <a:chOff x="0" y="0"/>
            <a:chExt cx="965549" cy="617820"/>
          </a:xfrm>
        </p:grpSpPr>
        <p:sp>
          <p:nvSpPr>
            <p:cNvPr name="Freeform 40" id="40"/>
            <p:cNvSpPr/>
            <p:nvPr/>
          </p:nvSpPr>
          <p:spPr>
            <a:xfrm flipH="false" flipV="false" rot="0">
              <a:off x="0" y="0"/>
              <a:ext cx="965549" cy="617820"/>
            </a:xfrm>
            <a:custGeom>
              <a:avLst/>
              <a:gdLst/>
              <a:ahLst/>
              <a:cxnLst/>
              <a:rect r="r" b="b" t="t" l="l"/>
              <a:pathLst>
                <a:path h="617820" w="965549">
                  <a:moveTo>
                    <a:pt x="965549" y="308910"/>
                  </a:moveTo>
                  <a:lnTo>
                    <a:pt x="559149" y="0"/>
                  </a:lnTo>
                  <a:lnTo>
                    <a:pt x="559149" y="203200"/>
                  </a:lnTo>
                  <a:lnTo>
                    <a:pt x="0" y="203200"/>
                  </a:lnTo>
                  <a:lnTo>
                    <a:pt x="0" y="414620"/>
                  </a:lnTo>
                  <a:lnTo>
                    <a:pt x="559149" y="414620"/>
                  </a:lnTo>
                  <a:lnTo>
                    <a:pt x="559149" y="617820"/>
                  </a:lnTo>
                  <a:lnTo>
                    <a:pt x="965549" y="308910"/>
                  </a:lnTo>
                  <a:close/>
                </a:path>
              </a:pathLst>
            </a:custGeom>
            <a:solidFill>
              <a:srgbClr val="000000"/>
            </a:solidFill>
          </p:spPr>
        </p:sp>
        <p:sp>
          <p:nvSpPr>
            <p:cNvPr name="TextBox 41" id="41"/>
            <p:cNvSpPr txBox="true"/>
            <p:nvPr/>
          </p:nvSpPr>
          <p:spPr>
            <a:xfrm>
              <a:off x="0" y="127000"/>
              <a:ext cx="863949" cy="287620"/>
            </a:xfrm>
            <a:prstGeom prst="rect">
              <a:avLst/>
            </a:prstGeom>
          </p:spPr>
          <p:txBody>
            <a:bodyPr anchor="ctr" rtlCol="false" tIns="50800" lIns="50800" bIns="50800" rIns="50800"/>
            <a:lstStyle/>
            <a:p>
              <a:pPr algn="ctr">
                <a:lnSpc>
                  <a:spcPts val="3000"/>
                </a:lnSpc>
              </a:pPr>
            </a:p>
          </p:txBody>
        </p:sp>
      </p:grpSp>
      <p:grpSp>
        <p:nvGrpSpPr>
          <p:cNvPr name="Group 42" id="42"/>
          <p:cNvGrpSpPr/>
          <p:nvPr/>
        </p:nvGrpSpPr>
        <p:grpSpPr>
          <a:xfrm rot="5400000">
            <a:off x="13686385" y="3453354"/>
            <a:ext cx="369609" cy="236499"/>
            <a:chOff x="0" y="0"/>
            <a:chExt cx="965549" cy="617820"/>
          </a:xfrm>
        </p:grpSpPr>
        <p:sp>
          <p:nvSpPr>
            <p:cNvPr name="Freeform 43" id="43"/>
            <p:cNvSpPr/>
            <p:nvPr/>
          </p:nvSpPr>
          <p:spPr>
            <a:xfrm flipH="false" flipV="false" rot="0">
              <a:off x="0" y="0"/>
              <a:ext cx="965549" cy="617820"/>
            </a:xfrm>
            <a:custGeom>
              <a:avLst/>
              <a:gdLst/>
              <a:ahLst/>
              <a:cxnLst/>
              <a:rect r="r" b="b" t="t" l="l"/>
              <a:pathLst>
                <a:path h="617820" w="965549">
                  <a:moveTo>
                    <a:pt x="965549" y="308910"/>
                  </a:moveTo>
                  <a:lnTo>
                    <a:pt x="559149" y="0"/>
                  </a:lnTo>
                  <a:lnTo>
                    <a:pt x="559149" y="203200"/>
                  </a:lnTo>
                  <a:lnTo>
                    <a:pt x="0" y="203200"/>
                  </a:lnTo>
                  <a:lnTo>
                    <a:pt x="0" y="414620"/>
                  </a:lnTo>
                  <a:lnTo>
                    <a:pt x="559149" y="414620"/>
                  </a:lnTo>
                  <a:lnTo>
                    <a:pt x="559149" y="617820"/>
                  </a:lnTo>
                  <a:lnTo>
                    <a:pt x="965549" y="308910"/>
                  </a:lnTo>
                  <a:close/>
                </a:path>
              </a:pathLst>
            </a:custGeom>
            <a:solidFill>
              <a:srgbClr val="000000"/>
            </a:solidFill>
          </p:spPr>
        </p:sp>
        <p:sp>
          <p:nvSpPr>
            <p:cNvPr name="TextBox 44" id="44"/>
            <p:cNvSpPr txBox="true"/>
            <p:nvPr/>
          </p:nvSpPr>
          <p:spPr>
            <a:xfrm>
              <a:off x="0" y="127000"/>
              <a:ext cx="863949" cy="287620"/>
            </a:xfrm>
            <a:prstGeom prst="rect">
              <a:avLst/>
            </a:prstGeom>
          </p:spPr>
          <p:txBody>
            <a:bodyPr anchor="ctr" rtlCol="false" tIns="50800" lIns="50800" bIns="50800" rIns="50800"/>
            <a:lstStyle/>
            <a:p>
              <a:pPr algn="ctr">
                <a:lnSpc>
                  <a:spcPts val="3000"/>
                </a:lnSpc>
              </a:pPr>
            </a:p>
          </p:txBody>
        </p:sp>
      </p:grpSp>
      <p:grpSp>
        <p:nvGrpSpPr>
          <p:cNvPr name="Group 45" id="45"/>
          <p:cNvGrpSpPr/>
          <p:nvPr/>
        </p:nvGrpSpPr>
        <p:grpSpPr>
          <a:xfrm rot="5400000">
            <a:off x="13675117" y="4447906"/>
            <a:ext cx="432183" cy="276538"/>
            <a:chOff x="0" y="0"/>
            <a:chExt cx="965549" cy="617820"/>
          </a:xfrm>
        </p:grpSpPr>
        <p:sp>
          <p:nvSpPr>
            <p:cNvPr name="Freeform 46" id="46"/>
            <p:cNvSpPr/>
            <p:nvPr/>
          </p:nvSpPr>
          <p:spPr>
            <a:xfrm flipH="false" flipV="false" rot="0">
              <a:off x="0" y="0"/>
              <a:ext cx="965549" cy="617820"/>
            </a:xfrm>
            <a:custGeom>
              <a:avLst/>
              <a:gdLst/>
              <a:ahLst/>
              <a:cxnLst/>
              <a:rect r="r" b="b" t="t" l="l"/>
              <a:pathLst>
                <a:path h="617820" w="965549">
                  <a:moveTo>
                    <a:pt x="965549" y="308910"/>
                  </a:moveTo>
                  <a:lnTo>
                    <a:pt x="559149" y="0"/>
                  </a:lnTo>
                  <a:lnTo>
                    <a:pt x="559149" y="203200"/>
                  </a:lnTo>
                  <a:lnTo>
                    <a:pt x="0" y="203200"/>
                  </a:lnTo>
                  <a:lnTo>
                    <a:pt x="0" y="414620"/>
                  </a:lnTo>
                  <a:lnTo>
                    <a:pt x="559149" y="414620"/>
                  </a:lnTo>
                  <a:lnTo>
                    <a:pt x="559149" y="617820"/>
                  </a:lnTo>
                  <a:lnTo>
                    <a:pt x="965549" y="308910"/>
                  </a:lnTo>
                  <a:close/>
                </a:path>
              </a:pathLst>
            </a:custGeom>
            <a:solidFill>
              <a:srgbClr val="000000"/>
            </a:solidFill>
          </p:spPr>
        </p:sp>
        <p:sp>
          <p:nvSpPr>
            <p:cNvPr name="TextBox 47" id="47"/>
            <p:cNvSpPr txBox="true"/>
            <p:nvPr/>
          </p:nvSpPr>
          <p:spPr>
            <a:xfrm>
              <a:off x="0" y="127000"/>
              <a:ext cx="863949" cy="287620"/>
            </a:xfrm>
            <a:prstGeom prst="rect">
              <a:avLst/>
            </a:prstGeom>
          </p:spPr>
          <p:txBody>
            <a:bodyPr anchor="ctr" rtlCol="false" tIns="50800" lIns="50800" bIns="50800" rIns="50800"/>
            <a:lstStyle/>
            <a:p>
              <a:pPr algn="ctr">
                <a:lnSpc>
                  <a:spcPts val="3000"/>
                </a:lnSpc>
              </a:pPr>
            </a:p>
          </p:txBody>
        </p:sp>
      </p:grpSp>
      <p:grpSp>
        <p:nvGrpSpPr>
          <p:cNvPr name="Group 48" id="48"/>
          <p:cNvGrpSpPr/>
          <p:nvPr/>
        </p:nvGrpSpPr>
        <p:grpSpPr>
          <a:xfrm rot="0">
            <a:off x="15505872" y="2886138"/>
            <a:ext cx="412886" cy="257902"/>
            <a:chOff x="0" y="0"/>
            <a:chExt cx="922437" cy="576184"/>
          </a:xfrm>
        </p:grpSpPr>
        <p:sp>
          <p:nvSpPr>
            <p:cNvPr name="Freeform 49" id="49"/>
            <p:cNvSpPr/>
            <p:nvPr/>
          </p:nvSpPr>
          <p:spPr>
            <a:xfrm flipH="false" flipV="false" rot="0">
              <a:off x="0" y="0"/>
              <a:ext cx="922437" cy="576184"/>
            </a:xfrm>
            <a:custGeom>
              <a:avLst/>
              <a:gdLst/>
              <a:ahLst/>
              <a:cxnLst/>
              <a:rect r="r" b="b" t="t" l="l"/>
              <a:pathLst>
                <a:path h="576184" w="922437">
                  <a:moveTo>
                    <a:pt x="922437" y="288092"/>
                  </a:moveTo>
                  <a:lnTo>
                    <a:pt x="516037" y="0"/>
                  </a:lnTo>
                  <a:lnTo>
                    <a:pt x="516037" y="203200"/>
                  </a:lnTo>
                  <a:lnTo>
                    <a:pt x="0" y="203200"/>
                  </a:lnTo>
                  <a:lnTo>
                    <a:pt x="0" y="372984"/>
                  </a:lnTo>
                  <a:lnTo>
                    <a:pt x="516037" y="372984"/>
                  </a:lnTo>
                  <a:lnTo>
                    <a:pt x="516037" y="576184"/>
                  </a:lnTo>
                  <a:lnTo>
                    <a:pt x="922437" y="288092"/>
                  </a:lnTo>
                  <a:close/>
                </a:path>
              </a:pathLst>
            </a:custGeom>
            <a:solidFill>
              <a:srgbClr val="000000"/>
            </a:solidFill>
          </p:spPr>
        </p:sp>
        <p:sp>
          <p:nvSpPr>
            <p:cNvPr name="TextBox 50" id="50"/>
            <p:cNvSpPr txBox="true"/>
            <p:nvPr/>
          </p:nvSpPr>
          <p:spPr>
            <a:xfrm>
              <a:off x="0" y="127000"/>
              <a:ext cx="820837" cy="245984"/>
            </a:xfrm>
            <a:prstGeom prst="rect">
              <a:avLst/>
            </a:prstGeom>
          </p:spPr>
          <p:txBody>
            <a:bodyPr anchor="ctr" rtlCol="false" tIns="50800" lIns="50800" bIns="50800" rIns="50800"/>
            <a:lstStyle/>
            <a:p>
              <a:pPr algn="ctr">
                <a:lnSpc>
                  <a:spcPts val="3000"/>
                </a:lnSpc>
              </a:pPr>
            </a:p>
          </p:txBody>
        </p:sp>
      </p:grpSp>
      <p:grpSp>
        <p:nvGrpSpPr>
          <p:cNvPr name="Group 51" id="51"/>
          <p:cNvGrpSpPr/>
          <p:nvPr/>
        </p:nvGrpSpPr>
        <p:grpSpPr>
          <a:xfrm rot="0">
            <a:off x="15975908" y="2771611"/>
            <a:ext cx="2139776" cy="565997"/>
            <a:chOff x="0" y="0"/>
            <a:chExt cx="563562" cy="149069"/>
          </a:xfrm>
        </p:grpSpPr>
        <p:sp>
          <p:nvSpPr>
            <p:cNvPr name="Freeform 52" id="52"/>
            <p:cNvSpPr/>
            <p:nvPr/>
          </p:nvSpPr>
          <p:spPr>
            <a:xfrm flipH="false" flipV="false" rot="0">
              <a:off x="0" y="0"/>
              <a:ext cx="563562" cy="149069"/>
            </a:xfrm>
            <a:custGeom>
              <a:avLst/>
              <a:gdLst/>
              <a:ahLst/>
              <a:cxnLst/>
              <a:rect r="r" b="b" t="t" l="l"/>
              <a:pathLst>
                <a:path h="149069" w="563562">
                  <a:moveTo>
                    <a:pt x="61508" y="0"/>
                  </a:moveTo>
                  <a:lnTo>
                    <a:pt x="502055" y="0"/>
                  </a:lnTo>
                  <a:cubicBezTo>
                    <a:pt x="536025" y="0"/>
                    <a:pt x="563562" y="27538"/>
                    <a:pt x="563562" y="61508"/>
                  </a:cubicBezTo>
                  <a:lnTo>
                    <a:pt x="563562" y="87561"/>
                  </a:lnTo>
                  <a:cubicBezTo>
                    <a:pt x="563562" y="103874"/>
                    <a:pt x="557082" y="119519"/>
                    <a:pt x="545547" y="131054"/>
                  </a:cubicBezTo>
                  <a:cubicBezTo>
                    <a:pt x="534012" y="142589"/>
                    <a:pt x="518368" y="149069"/>
                    <a:pt x="502055" y="149069"/>
                  </a:cubicBezTo>
                  <a:lnTo>
                    <a:pt x="61508" y="149069"/>
                  </a:lnTo>
                  <a:cubicBezTo>
                    <a:pt x="27538" y="149069"/>
                    <a:pt x="0" y="121531"/>
                    <a:pt x="0" y="87561"/>
                  </a:cubicBezTo>
                  <a:lnTo>
                    <a:pt x="0" y="61508"/>
                  </a:lnTo>
                  <a:cubicBezTo>
                    <a:pt x="0" y="27538"/>
                    <a:pt x="27538" y="0"/>
                    <a:pt x="61508" y="0"/>
                  </a:cubicBezTo>
                  <a:close/>
                </a:path>
              </a:pathLst>
            </a:custGeom>
            <a:solidFill>
              <a:srgbClr val="FFFFFF"/>
            </a:solidFill>
            <a:ln w="28575" cap="sq">
              <a:solidFill>
                <a:srgbClr val="000000"/>
              </a:solidFill>
              <a:prstDash val="solid"/>
              <a:miter/>
            </a:ln>
          </p:spPr>
        </p:sp>
        <p:sp>
          <p:nvSpPr>
            <p:cNvPr name="TextBox 53" id="53"/>
            <p:cNvSpPr txBox="true"/>
            <p:nvPr/>
          </p:nvSpPr>
          <p:spPr>
            <a:xfrm>
              <a:off x="0" y="-66675"/>
              <a:ext cx="563562" cy="215744"/>
            </a:xfrm>
            <a:prstGeom prst="rect">
              <a:avLst/>
            </a:prstGeom>
          </p:spPr>
          <p:txBody>
            <a:bodyPr anchor="ctr" rtlCol="false" tIns="50800" lIns="50800" bIns="50800" rIns="50800"/>
            <a:lstStyle/>
            <a:p>
              <a:pPr algn="ctr">
                <a:lnSpc>
                  <a:spcPts val="2400"/>
                </a:lnSpc>
              </a:pPr>
              <a:r>
                <a:rPr lang="en-US" sz="1600">
                  <a:solidFill>
                    <a:srgbClr val="000000"/>
                  </a:solidFill>
                  <a:latin typeface="Times New Roman"/>
                  <a:ea typeface="Times New Roman"/>
                  <a:cs typeface="Times New Roman"/>
                  <a:sym typeface="Times New Roman"/>
                </a:rPr>
                <a:t>PWM output</a:t>
              </a:r>
            </a:p>
          </p:txBody>
        </p:sp>
      </p:grpSp>
      <p:sp>
        <p:nvSpPr>
          <p:cNvPr name="TextBox 54" id="54"/>
          <p:cNvSpPr txBox="true"/>
          <p:nvPr/>
        </p:nvSpPr>
        <p:spPr>
          <a:xfrm rot="0">
            <a:off x="9819244" y="6662568"/>
            <a:ext cx="8252134" cy="1523376"/>
          </a:xfrm>
          <a:prstGeom prst="rect">
            <a:avLst/>
          </a:prstGeom>
        </p:spPr>
        <p:txBody>
          <a:bodyPr anchor="t" rtlCol="false" tIns="0" lIns="0" bIns="0" rIns="0">
            <a:spAutoFit/>
          </a:bodyPr>
          <a:lstStyle/>
          <a:p>
            <a:pPr algn="just">
              <a:lnSpc>
                <a:spcPts val="3024"/>
              </a:lnSpc>
              <a:spcBef>
                <a:spcPct val="0"/>
              </a:spcBef>
            </a:pPr>
            <a:r>
              <a:rPr lang="en-US" sz="2016">
                <a:solidFill>
                  <a:srgbClr val="000000"/>
                </a:solidFill>
                <a:latin typeface="Times New Roman"/>
                <a:ea typeface="Times New Roman"/>
                <a:cs typeface="Times New Roman"/>
                <a:sym typeface="Times New Roman"/>
              </a:rPr>
              <a:t>Using</a:t>
            </a:r>
            <a:r>
              <a:rPr lang="en-US" sz="2016">
                <a:solidFill>
                  <a:srgbClr val="000000"/>
                </a:solidFill>
                <a:latin typeface="Times New Roman"/>
                <a:ea typeface="Times New Roman"/>
                <a:cs typeface="Times New Roman"/>
                <a:sym typeface="Times New Roman"/>
              </a:rPr>
              <a:t> a 1ms timer interrupt, the encoder and timestamp are uniformly sampled. The main loop calculates the speed based on the increment and microsecond timing, ensuring the real-time, consistency and anti-jitter capabilities of the feedback.</a:t>
            </a:r>
          </a:p>
        </p:txBody>
      </p:sp>
      <p:sp>
        <p:nvSpPr>
          <p:cNvPr name="TextBox 55" id="55"/>
          <p:cNvSpPr txBox="true"/>
          <p:nvPr/>
        </p:nvSpPr>
        <p:spPr>
          <a:xfrm rot="0">
            <a:off x="9830569" y="6057413"/>
            <a:ext cx="5479949" cy="500380"/>
          </a:xfrm>
          <a:prstGeom prst="rect">
            <a:avLst/>
          </a:prstGeom>
        </p:spPr>
        <p:txBody>
          <a:bodyPr anchor="t" rtlCol="false" tIns="0" lIns="0" bIns="0" rIns="0">
            <a:spAutoFit/>
          </a:bodyPr>
          <a:lstStyle/>
          <a:p>
            <a:pPr algn="l">
              <a:lnSpc>
                <a:spcPts val="3920"/>
              </a:lnSpc>
            </a:pPr>
            <a:r>
              <a:rPr lang="en-US" sz="2800" spc="279" b="true">
                <a:solidFill>
                  <a:srgbClr val="963D3D"/>
                </a:solidFill>
                <a:latin typeface="Times New Roman Bold"/>
                <a:ea typeface="Times New Roman Bold"/>
                <a:cs typeface="Times New Roman Bold"/>
                <a:sym typeface="Times New Roman Bold"/>
              </a:rPr>
              <a:t>Real-time feedback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133913"/>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31520" y="419100"/>
            <a:ext cx="1000760" cy="1000760"/>
            <a:chOff x="0" y="0"/>
            <a:chExt cx="1334347" cy="1334347"/>
          </a:xfrm>
        </p:grpSpPr>
        <p:sp>
          <p:nvSpPr>
            <p:cNvPr name="Freeform 5" id="5"/>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grpSp>
        <p:nvGrpSpPr>
          <p:cNvPr name="Group 6" id="6"/>
          <p:cNvGrpSpPr/>
          <p:nvPr/>
        </p:nvGrpSpPr>
        <p:grpSpPr>
          <a:xfrm rot="0">
            <a:off x="1052724" y="2943695"/>
            <a:ext cx="3639689" cy="703259"/>
            <a:chOff x="0" y="0"/>
            <a:chExt cx="958601" cy="185221"/>
          </a:xfrm>
        </p:grpSpPr>
        <p:sp>
          <p:nvSpPr>
            <p:cNvPr name="Freeform 7" id="7"/>
            <p:cNvSpPr/>
            <p:nvPr/>
          </p:nvSpPr>
          <p:spPr>
            <a:xfrm flipH="false" flipV="false" rot="0">
              <a:off x="0" y="0"/>
              <a:ext cx="958601" cy="185221"/>
            </a:xfrm>
            <a:custGeom>
              <a:avLst/>
              <a:gdLst/>
              <a:ahLst/>
              <a:cxnLst/>
              <a:rect r="r" b="b" t="t" l="l"/>
              <a:pathLst>
                <a:path h="185221" w="958601">
                  <a:moveTo>
                    <a:pt x="36160" y="0"/>
                  </a:moveTo>
                  <a:lnTo>
                    <a:pt x="922441" y="0"/>
                  </a:lnTo>
                  <a:cubicBezTo>
                    <a:pt x="932031" y="0"/>
                    <a:pt x="941229" y="3810"/>
                    <a:pt x="948010" y="10591"/>
                  </a:cubicBezTo>
                  <a:cubicBezTo>
                    <a:pt x="954792" y="17373"/>
                    <a:pt x="958601" y="26570"/>
                    <a:pt x="958601" y="36160"/>
                  </a:cubicBezTo>
                  <a:lnTo>
                    <a:pt x="958601" y="149060"/>
                  </a:lnTo>
                  <a:cubicBezTo>
                    <a:pt x="958601" y="158651"/>
                    <a:pt x="954792" y="167848"/>
                    <a:pt x="948010" y="174629"/>
                  </a:cubicBezTo>
                  <a:cubicBezTo>
                    <a:pt x="941229" y="181411"/>
                    <a:pt x="932031" y="185221"/>
                    <a:pt x="922441" y="185221"/>
                  </a:cubicBezTo>
                  <a:lnTo>
                    <a:pt x="36160" y="185221"/>
                  </a:lnTo>
                  <a:cubicBezTo>
                    <a:pt x="26570" y="185221"/>
                    <a:pt x="17373" y="181411"/>
                    <a:pt x="10591" y="174629"/>
                  </a:cubicBezTo>
                  <a:cubicBezTo>
                    <a:pt x="3810" y="167848"/>
                    <a:pt x="0" y="158651"/>
                    <a:pt x="0" y="149060"/>
                  </a:cubicBezTo>
                  <a:lnTo>
                    <a:pt x="0" y="36160"/>
                  </a:lnTo>
                  <a:cubicBezTo>
                    <a:pt x="0" y="26570"/>
                    <a:pt x="3810" y="17373"/>
                    <a:pt x="10591" y="10591"/>
                  </a:cubicBezTo>
                  <a:cubicBezTo>
                    <a:pt x="17373" y="3810"/>
                    <a:pt x="26570" y="0"/>
                    <a:pt x="36160" y="0"/>
                  </a:cubicBezTo>
                  <a:close/>
                </a:path>
              </a:pathLst>
            </a:custGeom>
            <a:solidFill>
              <a:srgbClr val="FFFFFF"/>
            </a:solidFill>
          </p:spPr>
        </p:sp>
        <p:sp>
          <p:nvSpPr>
            <p:cNvPr name="TextBox 8" id="8"/>
            <p:cNvSpPr txBox="true"/>
            <p:nvPr/>
          </p:nvSpPr>
          <p:spPr>
            <a:xfrm>
              <a:off x="0" y="-76200"/>
              <a:ext cx="958601" cy="261421"/>
            </a:xfrm>
            <a:prstGeom prst="rect">
              <a:avLst/>
            </a:prstGeom>
          </p:spPr>
          <p:txBody>
            <a:bodyPr anchor="ctr" rtlCol="false" tIns="50800" lIns="50800" bIns="50800" rIns="50800"/>
            <a:lstStyle/>
            <a:p>
              <a:pPr algn="ctr">
                <a:lnSpc>
                  <a:spcPts val="3000"/>
                </a:lnSpc>
              </a:pPr>
            </a:p>
          </p:txBody>
        </p:sp>
      </p:grpSp>
      <p:sp>
        <p:nvSpPr>
          <p:cNvPr name="TextBox 9" id="9"/>
          <p:cNvSpPr txBox="true"/>
          <p:nvPr/>
        </p:nvSpPr>
        <p:spPr>
          <a:xfrm rot="0">
            <a:off x="10002490" y="243607"/>
            <a:ext cx="8068888" cy="1604391"/>
          </a:xfrm>
          <a:prstGeom prst="rect">
            <a:avLst/>
          </a:prstGeom>
        </p:spPr>
        <p:txBody>
          <a:bodyPr anchor="t" rtlCol="false" tIns="0" lIns="0" bIns="0" rIns="0">
            <a:spAutoFit/>
          </a:bodyPr>
          <a:lstStyle/>
          <a:p>
            <a:pPr algn="just">
              <a:lnSpc>
                <a:spcPts val="2502"/>
              </a:lnSpc>
            </a:pPr>
            <a:r>
              <a:rPr lang="en-US" sz="1800">
                <a:solidFill>
                  <a:srgbClr val="FFFFFF"/>
                </a:solidFill>
                <a:latin typeface="Calibri (MS)"/>
                <a:ea typeface="Calibri (MS)"/>
                <a:cs typeface="Calibri (MS)"/>
                <a:sym typeface="Calibri (MS)"/>
              </a:rPr>
              <a:t>Calculating the real-time attitude of the vehicle using the MPU6500 inertial measurement unit.</a:t>
            </a:r>
          </a:p>
          <a:p>
            <a:pPr algn="just">
              <a:lnSpc>
                <a:spcPts val="2502"/>
              </a:lnSpc>
            </a:pPr>
            <a:r>
              <a:rPr lang="en-US" sz="1800">
                <a:solidFill>
                  <a:srgbClr val="FFFFFF"/>
                </a:solidFill>
                <a:latin typeface="Calibri (MS)"/>
                <a:ea typeface="Calibri (MS)"/>
                <a:cs typeface="Calibri (MS)"/>
                <a:sym typeface="Calibri (MS)"/>
              </a:rPr>
              <a:t> By fusing accelerometer and gyroscope data, it provides accurate roll, pitch, and yaw estimation for SLAM localization, ensuring smooth motion control and improved mapping precision.</a:t>
            </a:r>
          </a:p>
        </p:txBody>
      </p:sp>
      <p:sp>
        <p:nvSpPr>
          <p:cNvPr name="TextBox 10" id="10"/>
          <p:cNvSpPr txBox="true"/>
          <p:nvPr/>
        </p:nvSpPr>
        <p:spPr>
          <a:xfrm rot="0">
            <a:off x="2094535" y="119754"/>
            <a:ext cx="8656329" cy="1533407"/>
          </a:xfrm>
          <a:prstGeom prst="rect">
            <a:avLst/>
          </a:prstGeom>
        </p:spPr>
        <p:txBody>
          <a:bodyPr anchor="t" rtlCol="false" tIns="0" lIns="0" bIns="0" rIns="0">
            <a:spAutoFit/>
          </a:bodyPr>
          <a:lstStyle/>
          <a:p>
            <a:pPr algn="l">
              <a:lnSpc>
                <a:spcPts val="5990"/>
              </a:lnSpc>
            </a:pPr>
            <a:r>
              <a:rPr lang="en-US" b="true" sz="4991" spc="0">
                <a:solidFill>
                  <a:srgbClr val="FFFFFF"/>
                </a:solidFill>
                <a:latin typeface="Times New Roman Bold"/>
                <a:ea typeface="Times New Roman Bold"/>
                <a:cs typeface="Times New Roman Bold"/>
                <a:sym typeface="Times New Roman Bold"/>
              </a:rPr>
              <a:t> IMU Attitude Estimation &amp; Orientation Computation</a:t>
            </a:r>
          </a:p>
        </p:txBody>
      </p:sp>
      <p:sp>
        <p:nvSpPr>
          <p:cNvPr name="TextBox 11" id="11"/>
          <p:cNvSpPr txBox="true"/>
          <p:nvPr/>
        </p:nvSpPr>
        <p:spPr>
          <a:xfrm rot="0">
            <a:off x="297485" y="6057413"/>
            <a:ext cx="7184539" cy="500380"/>
          </a:xfrm>
          <a:prstGeom prst="rect">
            <a:avLst/>
          </a:prstGeom>
        </p:spPr>
        <p:txBody>
          <a:bodyPr anchor="t" rtlCol="false" tIns="0" lIns="0" bIns="0" rIns="0">
            <a:spAutoFit/>
          </a:bodyPr>
          <a:lstStyle/>
          <a:p>
            <a:pPr algn="l">
              <a:lnSpc>
                <a:spcPts val="3920"/>
              </a:lnSpc>
            </a:pPr>
            <a:r>
              <a:rPr lang="en-US" sz="2800" spc="279" b="true">
                <a:solidFill>
                  <a:srgbClr val="963D3D"/>
                </a:solidFill>
                <a:latin typeface="Times New Roman Bold"/>
                <a:ea typeface="Times New Roman Bold"/>
                <a:cs typeface="Times New Roman Bold"/>
                <a:sym typeface="Times New Roman Bold"/>
              </a:rPr>
              <a:t>Data Processing &amp; Fusion Algorithm</a:t>
            </a:r>
          </a:p>
        </p:txBody>
      </p:sp>
      <p:sp>
        <p:nvSpPr>
          <p:cNvPr name="TextBox 12" id="12"/>
          <p:cNvSpPr txBox="true"/>
          <p:nvPr/>
        </p:nvSpPr>
        <p:spPr>
          <a:xfrm rot="0">
            <a:off x="297485" y="1820361"/>
            <a:ext cx="4574103" cy="500380"/>
          </a:xfrm>
          <a:prstGeom prst="rect">
            <a:avLst/>
          </a:prstGeom>
        </p:spPr>
        <p:txBody>
          <a:bodyPr anchor="t" rtlCol="false" tIns="0" lIns="0" bIns="0" rIns="0">
            <a:spAutoFit/>
          </a:bodyPr>
          <a:lstStyle/>
          <a:p>
            <a:pPr algn="l">
              <a:lnSpc>
                <a:spcPts val="3920"/>
              </a:lnSpc>
            </a:pPr>
            <a:r>
              <a:rPr lang="en-US" sz="2800" spc="277" b="true">
                <a:solidFill>
                  <a:srgbClr val="963D3D"/>
                </a:solidFill>
                <a:latin typeface="Times New Roman Bold"/>
                <a:ea typeface="Times New Roman Bold"/>
                <a:cs typeface="Times New Roman Bold"/>
                <a:sym typeface="Times New Roman Bold"/>
              </a:rPr>
              <a:t>Sensor Overview</a:t>
            </a:r>
          </a:p>
        </p:txBody>
      </p:sp>
      <p:sp>
        <p:nvSpPr>
          <p:cNvPr name="TextBox 13" id="13"/>
          <p:cNvSpPr txBox="true"/>
          <p:nvPr/>
        </p:nvSpPr>
        <p:spPr>
          <a:xfrm rot="0">
            <a:off x="297485" y="2300861"/>
            <a:ext cx="8835277" cy="4190376"/>
          </a:xfrm>
          <a:prstGeom prst="rect">
            <a:avLst/>
          </a:prstGeom>
        </p:spPr>
        <p:txBody>
          <a:bodyPr anchor="t" rtlCol="false" tIns="0" lIns="0" bIns="0" rIns="0">
            <a:spAutoFit/>
          </a:bodyPr>
          <a:lstStyle/>
          <a:p>
            <a:pPr algn="just">
              <a:lnSpc>
                <a:spcPts val="3024"/>
              </a:lnSpc>
            </a:pPr>
            <a:r>
              <a:rPr lang="en-US" sz="2016">
                <a:solidFill>
                  <a:srgbClr val="000000"/>
                </a:solidFill>
                <a:latin typeface="Times New Roman"/>
                <a:ea typeface="Times New Roman"/>
                <a:cs typeface="Times New Roman"/>
                <a:sym typeface="Times New Roman"/>
              </a:rPr>
              <a:t>Device Specification:</a:t>
            </a:r>
          </a:p>
          <a:p>
            <a:pPr algn="just">
              <a:lnSpc>
                <a:spcPts val="3024"/>
              </a:lnSpc>
              <a:spcBef>
                <a:spcPct val="0"/>
              </a:spcBef>
            </a:pPr>
            <a:r>
              <a:rPr lang="en-US" sz="2016">
                <a:solidFill>
                  <a:srgbClr val="000000"/>
                </a:solidFill>
                <a:latin typeface="Times New Roman"/>
                <a:ea typeface="Times New Roman"/>
                <a:cs typeface="Times New Roman"/>
                <a:sym typeface="Times New Roman"/>
              </a:rPr>
              <a:t> MPU6500 Six-Axis IMU</a:t>
            </a:r>
            <a:r>
              <a:rPr lang="en-US" sz="2016">
                <a:solidFill>
                  <a:srgbClr val="000000"/>
                </a:solidFill>
                <a:latin typeface="Times New Roman"/>
                <a:ea typeface="Times New Roman"/>
                <a:cs typeface="Times New Roman"/>
                <a:sym typeface="Times New Roman"/>
              </a:rPr>
              <a:t> (3-Axis Accelerometer + 3-Axis Gyroscope)</a:t>
            </a:r>
          </a:p>
          <a:p>
            <a:pPr algn="just">
              <a:lnSpc>
                <a:spcPts val="3024"/>
              </a:lnSpc>
              <a:spcBef>
                <a:spcPct val="0"/>
              </a:spcBef>
            </a:pPr>
            <a:r>
              <a:rPr lang="en-US" sz="2016">
                <a:solidFill>
                  <a:srgbClr val="000000"/>
                </a:solidFill>
                <a:latin typeface="Times New Roman"/>
                <a:ea typeface="Times New Roman"/>
                <a:cs typeface="Times New Roman"/>
                <a:sym typeface="Times New Roman"/>
              </a:rPr>
              <a:t>Communication Interface:</a:t>
            </a:r>
          </a:p>
          <a:p>
            <a:pPr algn="just">
              <a:lnSpc>
                <a:spcPts val="3024"/>
              </a:lnSpc>
              <a:spcBef>
                <a:spcPct val="0"/>
              </a:spcBef>
            </a:pPr>
            <a:r>
              <a:rPr lang="en-US" sz="2016">
                <a:solidFill>
                  <a:srgbClr val="000000"/>
                </a:solidFill>
                <a:latin typeface="Times New Roman"/>
                <a:ea typeface="Times New Roman"/>
                <a:cs typeface="Times New Roman"/>
                <a:sym typeface="Times New Roman"/>
              </a:rPr>
              <a:t> I²C bus connected to STM32 microcontroller</a:t>
            </a:r>
          </a:p>
          <a:p>
            <a:pPr algn="just">
              <a:lnSpc>
                <a:spcPts val="3024"/>
              </a:lnSpc>
              <a:spcBef>
                <a:spcPct val="0"/>
              </a:spcBef>
            </a:pPr>
            <a:r>
              <a:rPr lang="en-US" sz="2016">
                <a:solidFill>
                  <a:srgbClr val="000000"/>
                </a:solidFill>
                <a:latin typeface="Times New Roman"/>
                <a:ea typeface="Times New Roman"/>
                <a:cs typeface="Times New Roman"/>
                <a:sym typeface="Times New Roman"/>
              </a:rPr>
              <a:t>Function Description:</a:t>
            </a:r>
          </a:p>
          <a:p>
            <a:pPr algn="just">
              <a:lnSpc>
                <a:spcPts val="3024"/>
              </a:lnSpc>
              <a:spcBef>
                <a:spcPct val="0"/>
              </a:spcBef>
            </a:pPr>
            <a:r>
              <a:rPr lang="en-US" sz="2016">
                <a:solidFill>
                  <a:srgbClr val="000000"/>
                </a:solidFill>
                <a:latin typeface="Times New Roman"/>
                <a:ea typeface="Times New Roman"/>
                <a:cs typeface="Times New Roman"/>
                <a:sym typeface="Times New Roman"/>
              </a:rPr>
              <a:t> The IMU continuously measures the car’s linear acceleration and angular velocity.</a:t>
            </a:r>
          </a:p>
          <a:p>
            <a:pPr algn="just">
              <a:lnSpc>
                <a:spcPts val="3024"/>
              </a:lnSpc>
              <a:spcBef>
                <a:spcPct val="0"/>
              </a:spcBef>
            </a:pPr>
            <a:r>
              <a:rPr lang="en-US" sz="2016">
                <a:solidFill>
                  <a:srgbClr val="000000"/>
                </a:solidFill>
                <a:latin typeface="Times New Roman"/>
                <a:ea typeface="Times New Roman"/>
                <a:cs typeface="Times New Roman"/>
                <a:sym typeface="Times New Roman"/>
              </a:rPr>
              <a:t> Raw sensor data are acquired by the STM32 at a fixed sampling rate and passed to the filtering module for further processing.</a:t>
            </a:r>
          </a:p>
          <a:p>
            <a:pPr algn="just">
              <a:lnSpc>
                <a:spcPts val="3024"/>
              </a:lnSpc>
              <a:spcBef>
                <a:spcPct val="0"/>
              </a:spcBef>
            </a:pPr>
            <a:r>
              <a:rPr lang="en-US" sz="2016">
                <a:solidFill>
                  <a:srgbClr val="000000"/>
                </a:solidFill>
                <a:latin typeface="Times New Roman"/>
                <a:ea typeface="Times New Roman"/>
                <a:cs typeface="Times New Roman"/>
                <a:sym typeface="Times New Roman"/>
              </a:rPr>
              <a:t> This data provides a reference for estimating the vehicle’s spatial orientation, compensating for wheel-encoder drift, and stabilizing SLAM localization.</a:t>
            </a:r>
          </a:p>
          <a:p>
            <a:pPr algn="just">
              <a:lnSpc>
                <a:spcPts val="3024"/>
              </a:lnSpc>
              <a:spcBef>
                <a:spcPct val="0"/>
              </a:spcBef>
            </a:pPr>
          </a:p>
        </p:txBody>
      </p:sp>
      <p:sp>
        <p:nvSpPr>
          <p:cNvPr name="TextBox 14" id="14"/>
          <p:cNvSpPr txBox="true"/>
          <p:nvPr/>
        </p:nvSpPr>
        <p:spPr>
          <a:xfrm rot="0">
            <a:off x="9687781" y="4357948"/>
            <a:ext cx="8383597" cy="5714376"/>
          </a:xfrm>
          <a:prstGeom prst="rect">
            <a:avLst/>
          </a:prstGeom>
        </p:spPr>
        <p:txBody>
          <a:bodyPr anchor="t" rtlCol="false" tIns="0" lIns="0" bIns="0" rIns="0">
            <a:spAutoFit/>
          </a:bodyPr>
          <a:lstStyle/>
          <a:p>
            <a:pPr algn="just">
              <a:lnSpc>
                <a:spcPts val="3024"/>
              </a:lnSpc>
            </a:pPr>
            <a:r>
              <a:rPr lang="en-US" sz="2016">
                <a:solidFill>
                  <a:srgbClr val="000000"/>
                </a:solidFill>
                <a:latin typeface="Times New Roman"/>
                <a:ea typeface="Times New Roman"/>
                <a:cs typeface="Times New Roman"/>
                <a:sym typeface="Times New Roman"/>
              </a:rPr>
              <a:t>Acquisition and Filtering:</a:t>
            </a:r>
          </a:p>
          <a:p>
            <a:pPr algn="just">
              <a:lnSpc>
                <a:spcPts val="3024"/>
              </a:lnSpc>
              <a:spcBef>
                <a:spcPct val="0"/>
              </a:spcBef>
            </a:pPr>
            <a:r>
              <a:rPr lang="en-US" sz="2016">
                <a:solidFill>
                  <a:srgbClr val="000000"/>
                </a:solidFill>
                <a:latin typeface="Times New Roman"/>
                <a:ea typeface="Times New Roman"/>
                <a:cs typeface="Times New Roman"/>
                <a:sym typeface="Times New Roman"/>
              </a:rPr>
              <a:t> The STM32 reads raw data via I²C and applies noise suppres</a:t>
            </a:r>
            <a:r>
              <a:rPr lang="en-US" sz="2016">
                <a:solidFill>
                  <a:srgbClr val="000000"/>
                </a:solidFill>
                <a:latin typeface="Times New Roman"/>
                <a:ea typeface="Times New Roman"/>
                <a:cs typeface="Times New Roman"/>
                <a:sym typeface="Times New Roman"/>
              </a:rPr>
              <a:t>sion through</a:t>
            </a:r>
            <a:r>
              <a:rPr lang="en-US" sz="2016">
                <a:solidFill>
                  <a:srgbClr val="000000"/>
                </a:solidFill>
                <a:latin typeface="Times New Roman"/>
                <a:ea typeface="Times New Roman"/>
                <a:cs typeface="Times New Roman"/>
                <a:sym typeface="Times New Roman"/>
              </a:rPr>
              <a:t> low-pass and complementary filtering.Accelerometer readings correct long-term drift, while gyroscope integration provides high-frequency motion response.</a:t>
            </a:r>
          </a:p>
          <a:p>
            <a:pPr algn="just">
              <a:lnSpc>
                <a:spcPts val="3024"/>
              </a:lnSpc>
              <a:spcBef>
                <a:spcPct val="0"/>
              </a:spcBef>
            </a:pPr>
            <a:r>
              <a:rPr lang="en-US" sz="2016">
                <a:solidFill>
                  <a:srgbClr val="000000"/>
                </a:solidFill>
                <a:latin typeface="Times New Roman"/>
                <a:ea typeface="Times New Roman"/>
                <a:cs typeface="Times New Roman"/>
                <a:sym typeface="Times New Roman"/>
              </a:rPr>
              <a:t>Attitude Computation:</a:t>
            </a:r>
          </a:p>
          <a:p>
            <a:pPr algn="just">
              <a:lnSpc>
                <a:spcPts val="3024"/>
              </a:lnSpc>
              <a:spcBef>
                <a:spcPct val="0"/>
              </a:spcBef>
            </a:pPr>
            <a:r>
              <a:rPr lang="en-US" sz="2016">
                <a:solidFill>
                  <a:srgbClr val="000000"/>
                </a:solidFill>
                <a:latin typeface="Times New Roman"/>
                <a:ea typeface="Times New Roman"/>
                <a:cs typeface="Times New Roman"/>
                <a:sym typeface="Times New Roman"/>
              </a:rPr>
              <a:t> The fusion algorithm combines both sources to output Euler angles (Roll, Pitch, Yaw) or quaternion representation.</a:t>
            </a:r>
          </a:p>
          <a:p>
            <a:pPr algn="just">
              <a:lnSpc>
                <a:spcPts val="3024"/>
              </a:lnSpc>
              <a:spcBef>
                <a:spcPct val="0"/>
              </a:spcBef>
            </a:pPr>
            <a:r>
              <a:rPr lang="en-US" sz="2016">
                <a:solidFill>
                  <a:srgbClr val="000000"/>
                </a:solidFill>
                <a:latin typeface="Times New Roman"/>
                <a:ea typeface="Times New Roman"/>
                <a:cs typeface="Times New Roman"/>
                <a:sym typeface="Times New Roman"/>
              </a:rPr>
              <a:t> This ensures high-stability orientation even during vibration or fast rotation.</a:t>
            </a:r>
          </a:p>
          <a:p>
            <a:pPr algn="just">
              <a:lnSpc>
                <a:spcPts val="3024"/>
              </a:lnSpc>
              <a:spcBef>
                <a:spcPct val="0"/>
              </a:spcBef>
            </a:pPr>
          </a:p>
          <a:p>
            <a:pPr algn="just">
              <a:lnSpc>
                <a:spcPts val="3024"/>
              </a:lnSpc>
              <a:spcBef>
                <a:spcPct val="0"/>
              </a:spcBef>
            </a:pPr>
          </a:p>
          <a:p>
            <a:pPr algn="just">
              <a:lnSpc>
                <a:spcPts val="3024"/>
              </a:lnSpc>
              <a:spcBef>
                <a:spcPct val="0"/>
              </a:spcBef>
            </a:pPr>
            <a:r>
              <a:rPr lang="en-US" sz="2016">
                <a:solidFill>
                  <a:srgbClr val="000000"/>
                </a:solidFill>
                <a:latin typeface="Times New Roman"/>
                <a:ea typeface="Times New Roman"/>
                <a:cs typeface="Times New Roman"/>
                <a:sym typeface="Times New Roman"/>
              </a:rPr>
              <a:t>Result: Real-time orientation with low latency (&lt;10 ms), reducing pose drift and improving mapping consistency.</a:t>
            </a:r>
          </a:p>
          <a:p>
            <a:pPr algn="just">
              <a:lnSpc>
                <a:spcPts val="3024"/>
              </a:lnSpc>
              <a:spcBef>
                <a:spcPct val="0"/>
              </a:spcBef>
            </a:pPr>
          </a:p>
          <a:p>
            <a:pPr algn="just">
              <a:lnSpc>
                <a:spcPts val="3024"/>
              </a:lnSpc>
              <a:spcBef>
                <a:spcPct val="0"/>
              </a:spcBef>
            </a:pPr>
          </a:p>
          <a:p>
            <a:pPr algn="just">
              <a:lnSpc>
                <a:spcPts val="3024"/>
              </a:lnSpc>
              <a:spcBef>
                <a:spcPct val="0"/>
              </a:spcBef>
            </a:pPr>
          </a:p>
        </p:txBody>
      </p:sp>
      <p:sp>
        <p:nvSpPr>
          <p:cNvPr name="TextBox 15" id="15"/>
          <p:cNvSpPr txBox="true"/>
          <p:nvPr/>
        </p:nvSpPr>
        <p:spPr>
          <a:xfrm rot="0">
            <a:off x="9687781" y="3936586"/>
            <a:ext cx="8240810" cy="1490980"/>
          </a:xfrm>
          <a:prstGeom prst="rect">
            <a:avLst/>
          </a:prstGeom>
        </p:spPr>
        <p:txBody>
          <a:bodyPr anchor="t" rtlCol="false" tIns="0" lIns="0" bIns="0" rIns="0">
            <a:spAutoFit/>
          </a:bodyPr>
          <a:lstStyle/>
          <a:p>
            <a:pPr algn="l">
              <a:lnSpc>
                <a:spcPts val="3920"/>
              </a:lnSpc>
            </a:pPr>
            <a:r>
              <a:rPr lang="en-US" sz="2800" spc="277" b="true">
                <a:solidFill>
                  <a:srgbClr val="963D3D"/>
                </a:solidFill>
                <a:latin typeface="Times New Roman Bold"/>
                <a:ea typeface="Times New Roman Bold"/>
                <a:cs typeface="Times New Roman Bold"/>
                <a:sym typeface="Times New Roman Bold"/>
              </a:rPr>
              <a:t>System Integration &amp; Code Implementation</a:t>
            </a:r>
          </a:p>
          <a:p>
            <a:pPr algn="l">
              <a:lnSpc>
                <a:spcPts val="3920"/>
              </a:lnSpc>
            </a:pPr>
          </a:p>
          <a:p>
            <a:pPr algn="l">
              <a:lnSpc>
                <a:spcPts val="3920"/>
              </a:lnSpc>
            </a:pPr>
          </a:p>
        </p:txBody>
      </p:sp>
      <p:sp>
        <p:nvSpPr>
          <p:cNvPr name="TextBox 16" id="16"/>
          <p:cNvSpPr txBox="true"/>
          <p:nvPr/>
        </p:nvSpPr>
        <p:spPr>
          <a:xfrm rot="0">
            <a:off x="343260" y="6660620"/>
            <a:ext cx="8698307" cy="3817766"/>
          </a:xfrm>
          <a:prstGeom prst="rect">
            <a:avLst/>
          </a:prstGeom>
        </p:spPr>
        <p:txBody>
          <a:bodyPr anchor="t" rtlCol="false" tIns="0" lIns="0" bIns="0" rIns="0">
            <a:spAutoFit/>
          </a:bodyPr>
          <a:lstStyle/>
          <a:p>
            <a:pPr algn="just">
              <a:lnSpc>
                <a:spcPts val="3039"/>
              </a:lnSpc>
            </a:pPr>
            <a:r>
              <a:rPr lang="en-US" sz="2026">
                <a:solidFill>
                  <a:srgbClr val="000000"/>
                </a:solidFill>
                <a:latin typeface="Times New Roman"/>
                <a:ea typeface="Times New Roman"/>
                <a:cs typeface="Times New Roman"/>
                <a:sym typeface="Times New Roman"/>
              </a:rPr>
              <a:t>Acquisition and Filtering:</a:t>
            </a:r>
          </a:p>
          <a:p>
            <a:pPr algn="just">
              <a:lnSpc>
                <a:spcPts val="3039"/>
              </a:lnSpc>
            </a:pPr>
            <a:r>
              <a:rPr lang="en-US" sz="2026">
                <a:solidFill>
                  <a:srgbClr val="000000"/>
                </a:solidFill>
                <a:latin typeface="Times New Roman"/>
                <a:ea typeface="Times New Roman"/>
                <a:cs typeface="Times New Roman"/>
                <a:sym typeface="Times New Roman"/>
              </a:rPr>
              <a:t> The STM32 reads raw data via I²C and applies noise suppression through low-pass and complementary filtering.</a:t>
            </a:r>
          </a:p>
          <a:p>
            <a:pPr algn="just">
              <a:lnSpc>
                <a:spcPts val="3039"/>
              </a:lnSpc>
            </a:pPr>
            <a:r>
              <a:rPr lang="en-US" sz="2026">
                <a:solidFill>
                  <a:srgbClr val="000000"/>
                </a:solidFill>
                <a:latin typeface="Times New Roman"/>
                <a:ea typeface="Times New Roman"/>
                <a:cs typeface="Times New Roman"/>
                <a:sym typeface="Times New Roman"/>
              </a:rPr>
              <a:t> Accelerometer readings correct long-term drift, while gyroscope integration provides high-frequency motion response.</a:t>
            </a:r>
          </a:p>
          <a:p>
            <a:pPr algn="just">
              <a:lnSpc>
                <a:spcPts val="3039"/>
              </a:lnSpc>
            </a:pPr>
            <a:r>
              <a:rPr lang="en-US" sz="2026">
                <a:solidFill>
                  <a:srgbClr val="000000"/>
                </a:solidFill>
                <a:latin typeface="Times New Roman"/>
                <a:ea typeface="Times New Roman"/>
                <a:cs typeface="Times New Roman"/>
                <a:sym typeface="Times New Roman"/>
              </a:rPr>
              <a:t>Attitude Computation:</a:t>
            </a:r>
          </a:p>
          <a:p>
            <a:pPr algn="just">
              <a:lnSpc>
                <a:spcPts val="3039"/>
              </a:lnSpc>
            </a:pPr>
            <a:r>
              <a:rPr lang="en-US" sz="2026">
                <a:solidFill>
                  <a:srgbClr val="000000"/>
                </a:solidFill>
                <a:latin typeface="Times New Roman"/>
                <a:ea typeface="Times New Roman"/>
                <a:cs typeface="Times New Roman"/>
                <a:sym typeface="Times New Roman"/>
              </a:rPr>
              <a:t> The fusion algorithm combines both sources to output Euler angles (Roll, Pitch, Yaw) or quaternion representation.</a:t>
            </a:r>
          </a:p>
          <a:p>
            <a:pPr algn="just">
              <a:lnSpc>
                <a:spcPts val="3039"/>
              </a:lnSpc>
            </a:pPr>
          </a:p>
          <a:p>
            <a:pPr algn="just">
              <a:lnSpc>
                <a:spcPts val="3039"/>
              </a:lnSpc>
              <a:spcBef>
                <a:spcPct val="0"/>
              </a:spcBef>
            </a:pPr>
          </a:p>
        </p:txBody>
      </p:sp>
      <p:sp>
        <p:nvSpPr>
          <p:cNvPr name="TextBox 17" id="17"/>
          <p:cNvSpPr txBox="true"/>
          <p:nvPr/>
        </p:nvSpPr>
        <p:spPr>
          <a:xfrm rot="0">
            <a:off x="9687781" y="2041976"/>
            <a:ext cx="8698307" cy="3052109"/>
          </a:xfrm>
          <a:prstGeom prst="rect">
            <a:avLst/>
          </a:prstGeom>
        </p:spPr>
        <p:txBody>
          <a:bodyPr anchor="t" rtlCol="false" tIns="0" lIns="0" bIns="0" rIns="0">
            <a:spAutoFit/>
          </a:bodyPr>
          <a:lstStyle/>
          <a:p>
            <a:pPr algn="just">
              <a:lnSpc>
                <a:spcPts val="3039"/>
              </a:lnSpc>
            </a:pPr>
            <a:r>
              <a:rPr lang="en-US" sz="2026">
                <a:solidFill>
                  <a:srgbClr val="000000"/>
                </a:solidFill>
                <a:latin typeface="Times New Roman"/>
                <a:ea typeface="Times New Roman"/>
                <a:cs typeface="Times New Roman"/>
                <a:sym typeface="Times New Roman"/>
              </a:rPr>
              <a:t>Algorithm Options:</a:t>
            </a:r>
          </a:p>
          <a:p>
            <a:pPr algn="just" marL="437428" indent="-218714" lvl="1">
              <a:lnSpc>
                <a:spcPts val="3039"/>
              </a:lnSpc>
              <a:buFont typeface="Arial"/>
              <a:buChar char="•"/>
            </a:pPr>
            <a:r>
              <a:rPr lang="en-US" sz="2026">
                <a:solidFill>
                  <a:srgbClr val="000000"/>
                </a:solidFill>
                <a:latin typeface="Times New Roman"/>
                <a:ea typeface="Times New Roman"/>
                <a:cs typeface="Times New Roman"/>
                <a:sym typeface="Times New Roman"/>
              </a:rPr>
              <a:t>Compl</a:t>
            </a:r>
            <a:r>
              <a:rPr lang="en-US" sz="2026">
                <a:solidFill>
                  <a:srgbClr val="000000"/>
                </a:solidFill>
                <a:latin typeface="Times New Roman"/>
                <a:ea typeface="Times New Roman"/>
                <a:cs typeface="Times New Roman"/>
                <a:sym typeface="Times New Roman"/>
              </a:rPr>
              <a:t>ementary Filter: Lightweight software implementation, ideal for real-time embedded systems.</a:t>
            </a:r>
          </a:p>
          <a:p>
            <a:pPr algn="just" marL="437428" indent="-218714" lvl="1">
              <a:lnSpc>
                <a:spcPts val="3039"/>
              </a:lnSpc>
              <a:buFont typeface="Arial"/>
              <a:buChar char="•"/>
            </a:pPr>
            <a:r>
              <a:rPr lang="en-US" sz="2026">
                <a:solidFill>
                  <a:srgbClr val="000000"/>
                </a:solidFill>
                <a:latin typeface="Times New Roman"/>
                <a:ea typeface="Times New Roman"/>
                <a:cs typeface="Times New Roman"/>
                <a:sym typeface="Times New Roman"/>
              </a:rPr>
              <a:t>DMP (Digital Motion Processor): Hardware-accelerated fusion inside MPU6500, offloading STM32 CPU load.</a:t>
            </a:r>
          </a:p>
          <a:p>
            <a:pPr algn="just">
              <a:lnSpc>
                <a:spcPts val="3039"/>
              </a:lnSpc>
            </a:pPr>
          </a:p>
          <a:p>
            <a:pPr algn="just">
              <a:lnSpc>
                <a:spcPts val="3039"/>
              </a:lnSpc>
            </a:pPr>
          </a:p>
          <a:p>
            <a:pPr algn="just">
              <a:lnSpc>
                <a:spcPts val="3039"/>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177" y="9709943"/>
            <a:ext cx="18521877" cy="1151271"/>
          </a:xfrm>
          <a:custGeom>
            <a:avLst/>
            <a:gdLst/>
            <a:ahLst/>
            <a:cxnLst/>
            <a:rect r="r" b="b" t="t" l="l"/>
            <a:pathLst>
              <a:path h="1151271" w="18521877">
                <a:moveTo>
                  <a:pt x="0" y="0"/>
                </a:moveTo>
                <a:lnTo>
                  <a:pt x="18521877" y="0"/>
                </a:lnTo>
                <a:lnTo>
                  <a:pt x="18521877" y="1151271"/>
                </a:lnTo>
                <a:lnTo>
                  <a:pt x="0" y="11512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177" y="-1129364"/>
            <a:ext cx="18521877" cy="3030474"/>
          </a:xfrm>
          <a:custGeom>
            <a:avLst/>
            <a:gdLst/>
            <a:ahLst/>
            <a:cxnLst/>
            <a:rect r="r" b="b" t="t" l="l"/>
            <a:pathLst>
              <a:path h="3030474" w="18521877">
                <a:moveTo>
                  <a:pt x="0" y="0"/>
                </a:moveTo>
                <a:lnTo>
                  <a:pt x="18521877" y="0"/>
                </a:lnTo>
                <a:lnTo>
                  <a:pt x="18521877" y="3030474"/>
                </a:lnTo>
                <a:lnTo>
                  <a:pt x="0" y="303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867919"/>
            <a:ext cx="18688155" cy="38100"/>
            <a:chOff x="0" y="0"/>
            <a:chExt cx="24917540" cy="50800"/>
          </a:xfrm>
        </p:grpSpPr>
        <p:sp>
          <p:nvSpPr>
            <p:cNvPr name="Freeform 5" id="5"/>
            <p:cNvSpPr/>
            <p:nvPr/>
          </p:nvSpPr>
          <p:spPr>
            <a:xfrm flipH="false" flipV="false" rot="0">
              <a:off x="25400" y="0"/>
              <a:ext cx="24866727" cy="50800"/>
            </a:xfrm>
            <a:custGeom>
              <a:avLst/>
              <a:gdLst/>
              <a:ahLst/>
              <a:cxnLst/>
              <a:rect r="r" b="b" t="t" l="l"/>
              <a:pathLst>
                <a:path h="50800" w="24866727">
                  <a:moveTo>
                    <a:pt x="0" y="0"/>
                  </a:moveTo>
                  <a:lnTo>
                    <a:pt x="24866727" y="0"/>
                  </a:lnTo>
                  <a:lnTo>
                    <a:pt x="24866727" y="50800"/>
                  </a:lnTo>
                  <a:lnTo>
                    <a:pt x="0" y="50800"/>
                  </a:lnTo>
                  <a:close/>
                </a:path>
              </a:pathLst>
            </a:custGeom>
            <a:solidFill>
              <a:srgbClr val="963D3D"/>
            </a:solidFill>
          </p:spPr>
        </p:sp>
      </p:grpSp>
      <p:grpSp>
        <p:nvGrpSpPr>
          <p:cNvPr name="Group 6" id="6"/>
          <p:cNvGrpSpPr/>
          <p:nvPr/>
        </p:nvGrpSpPr>
        <p:grpSpPr>
          <a:xfrm rot="0">
            <a:off x="708189" y="528320"/>
            <a:ext cx="1000760" cy="1000760"/>
            <a:chOff x="0" y="0"/>
            <a:chExt cx="1334347" cy="1334347"/>
          </a:xfrm>
        </p:grpSpPr>
        <p:sp>
          <p:nvSpPr>
            <p:cNvPr name="Freeform 7" id="7"/>
            <p:cNvSpPr/>
            <p:nvPr/>
          </p:nvSpPr>
          <p:spPr>
            <a:xfrm flipH="false" flipV="false" rot="0">
              <a:off x="0" y="0"/>
              <a:ext cx="1334389" cy="1334389"/>
            </a:xfrm>
            <a:custGeom>
              <a:avLst/>
              <a:gdLst/>
              <a:ahLst/>
              <a:cxnLst/>
              <a:rect r="r" b="b" t="t" l="l"/>
              <a:pathLst>
                <a:path h="1334389" w="1334389">
                  <a:moveTo>
                    <a:pt x="0" y="0"/>
                  </a:moveTo>
                  <a:lnTo>
                    <a:pt x="1334389" y="0"/>
                  </a:lnTo>
                  <a:lnTo>
                    <a:pt x="1334389" y="1334389"/>
                  </a:lnTo>
                  <a:lnTo>
                    <a:pt x="0" y="1334389"/>
                  </a:lnTo>
                  <a:lnTo>
                    <a:pt x="0" y="0"/>
                  </a:lnTo>
                  <a:close/>
                </a:path>
              </a:pathLst>
            </a:custGeom>
            <a:blipFill>
              <a:blip r:embed="rId6"/>
              <a:stretch>
                <a:fillRect l="0" t="0" r="3" b="3"/>
              </a:stretch>
            </a:blipFill>
          </p:spPr>
        </p:sp>
      </p:grpSp>
      <p:sp>
        <p:nvSpPr>
          <p:cNvPr name="Freeform 8" id="8"/>
          <p:cNvSpPr/>
          <p:nvPr/>
        </p:nvSpPr>
        <p:spPr>
          <a:xfrm flipH="false" flipV="false" rot="0">
            <a:off x="12279202" y="6902393"/>
            <a:ext cx="1540224" cy="816826"/>
          </a:xfrm>
          <a:custGeom>
            <a:avLst/>
            <a:gdLst/>
            <a:ahLst/>
            <a:cxnLst/>
            <a:rect r="r" b="b" t="t" l="l"/>
            <a:pathLst>
              <a:path h="816826" w="1540224">
                <a:moveTo>
                  <a:pt x="0" y="0"/>
                </a:moveTo>
                <a:lnTo>
                  <a:pt x="1540223" y="0"/>
                </a:lnTo>
                <a:lnTo>
                  <a:pt x="1540223" y="816825"/>
                </a:lnTo>
                <a:lnTo>
                  <a:pt x="0" y="8168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6214269" y="4422330"/>
            <a:ext cx="4839891" cy="1203960"/>
          </a:xfrm>
          <a:prstGeom prst="rect">
            <a:avLst/>
          </a:prstGeom>
        </p:spPr>
        <p:txBody>
          <a:bodyPr anchor="t" rtlCol="false" tIns="0" lIns="0" bIns="0" rIns="0">
            <a:spAutoFit/>
          </a:bodyPr>
          <a:lstStyle/>
          <a:p>
            <a:pPr algn="just">
              <a:lnSpc>
                <a:spcPts val="3299"/>
              </a:lnSpc>
            </a:pPr>
            <a:r>
              <a:rPr lang="en-US" sz="2199" b="true">
                <a:solidFill>
                  <a:srgbClr val="000000"/>
                </a:solidFill>
                <a:latin typeface="Times New Roman Bold"/>
                <a:ea typeface="Times New Roman Bold"/>
                <a:cs typeface="Times New Roman Bold"/>
                <a:sym typeface="Times New Roman Bold"/>
              </a:rPr>
              <a:t>Sensor driver </a:t>
            </a:r>
          </a:p>
          <a:p>
            <a:pPr algn="just">
              <a:lnSpc>
                <a:spcPts val="3150"/>
              </a:lnSpc>
            </a:pPr>
            <a:r>
              <a:rPr lang="en-US" sz="2100" b="true">
                <a:solidFill>
                  <a:srgbClr val="000000"/>
                </a:solidFill>
                <a:latin typeface="Times New Roman Bold"/>
                <a:ea typeface="Times New Roman Bold"/>
                <a:cs typeface="Times New Roman Bold"/>
                <a:sym typeface="Times New Roman Bold"/>
              </a:rPr>
              <a:t>taking I2C interface sensor as an example)</a:t>
            </a:r>
          </a:p>
          <a:p>
            <a:pPr algn="just">
              <a:lnSpc>
                <a:spcPts val="3150"/>
              </a:lnSpc>
              <a:spcBef>
                <a:spcPct val="0"/>
              </a:spcBef>
            </a:pPr>
          </a:p>
        </p:txBody>
      </p:sp>
      <p:sp>
        <p:nvSpPr>
          <p:cNvPr name="Freeform 10" id="10"/>
          <p:cNvSpPr/>
          <p:nvPr/>
        </p:nvSpPr>
        <p:spPr>
          <a:xfrm flipH="false" flipV="false" rot="0">
            <a:off x="12279202" y="7925168"/>
            <a:ext cx="1540224" cy="816826"/>
          </a:xfrm>
          <a:custGeom>
            <a:avLst/>
            <a:gdLst/>
            <a:ahLst/>
            <a:cxnLst/>
            <a:rect r="r" b="b" t="t" l="l"/>
            <a:pathLst>
              <a:path h="816826" w="1540224">
                <a:moveTo>
                  <a:pt x="0" y="0"/>
                </a:moveTo>
                <a:lnTo>
                  <a:pt x="1540223" y="0"/>
                </a:lnTo>
                <a:lnTo>
                  <a:pt x="1540223" y="816826"/>
                </a:lnTo>
                <a:lnTo>
                  <a:pt x="0" y="8168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2279202" y="8947943"/>
            <a:ext cx="1540224" cy="816826"/>
          </a:xfrm>
          <a:custGeom>
            <a:avLst/>
            <a:gdLst/>
            <a:ahLst/>
            <a:cxnLst/>
            <a:rect r="r" b="b" t="t" l="l"/>
            <a:pathLst>
              <a:path h="816826" w="1540224">
                <a:moveTo>
                  <a:pt x="0" y="0"/>
                </a:moveTo>
                <a:lnTo>
                  <a:pt x="1540223" y="0"/>
                </a:lnTo>
                <a:lnTo>
                  <a:pt x="1540223" y="816826"/>
                </a:lnTo>
                <a:lnTo>
                  <a:pt x="0" y="8168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05636" y="2501185"/>
            <a:ext cx="4818515"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Low-level hardware driver development</a:t>
            </a:r>
          </a:p>
        </p:txBody>
      </p:sp>
      <p:sp>
        <p:nvSpPr>
          <p:cNvPr name="TextBox 13" id="13"/>
          <p:cNvSpPr txBox="true"/>
          <p:nvPr/>
        </p:nvSpPr>
        <p:spPr>
          <a:xfrm rot="0">
            <a:off x="12279202" y="2387010"/>
            <a:ext cx="5897545" cy="995680"/>
          </a:xfrm>
          <a:prstGeom prst="rect">
            <a:avLst/>
          </a:prstGeom>
        </p:spPr>
        <p:txBody>
          <a:bodyPr anchor="t" rtlCol="false" tIns="0" lIns="0" bIns="0" rIns="0">
            <a:spAutoFit/>
          </a:bodyPr>
          <a:lstStyle/>
          <a:p>
            <a:pPr algn="l">
              <a:lnSpc>
                <a:spcPts val="3919"/>
              </a:lnSpc>
            </a:pPr>
            <a:r>
              <a:rPr lang="en-US" sz="2799" spc="278" b="true">
                <a:solidFill>
                  <a:srgbClr val="963D3D"/>
                </a:solidFill>
                <a:latin typeface="Times New Roman Bold"/>
                <a:ea typeface="Times New Roman Bold"/>
                <a:cs typeface="Times New Roman Bold"/>
                <a:sym typeface="Times New Roman Bold"/>
              </a:rPr>
              <a:t>System integration and initialization</a:t>
            </a:r>
          </a:p>
        </p:txBody>
      </p:sp>
      <p:sp>
        <p:nvSpPr>
          <p:cNvPr name="TextBox 14" id="14"/>
          <p:cNvSpPr txBox="true"/>
          <p:nvPr/>
        </p:nvSpPr>
        <p:spPr>
          <a:xfrm rot="0">
            <a:off x="2149183" y="259162"/>
            <a:ext cx="9531211" cy="1479966"/>
          </a:xfrm>
          <a:prstGeom prst="rect">
            <a:avLst/>
          </a:prstGeom>
        </p:spPr>
        <p:txBody>
          <a:bodyPr anchor="t" rtlCol="false" tIns="0" lIns="0" bIns="0" rIns="0">
            <a:spAutoFit/>
          </a:bodyPr>
          <a:lstStyle/>
          <a:p>
            <a:pPr algn="l">
              <a:lnSpc>
                <a:spcPts val="5777"/>
              </a:lnSpc>
            </a:pPr>
            <a:r>
              <a:rPr lang="en-US" sz="4813" b="true">
                <a:solidFill>
                  <a:srgbClr val="FFFFFF"/>
                </a:solidFill>
                <a:latin typeface="Times New Roman Bold"/>
                <a:ea typeface="Times New Roman Bold"/>
                <a:cs typeface="Times New Roman Bold"/>
                <a:sym typeface="Times New Roman Bold"/>
              </a:rPr>
              <a:t>Low-level hardware driver and system integration</a:t>
            </a:r>
          </a:p>
        </p:txBody>
      </p:sp>
      <p:sp>
        <p:nvSpPr>
          <p:cNvPr name="TextBox 15" id="15"/>
          <p:cNvSpPr txBox="true"/>
          <p:nvPr/>
        </p:nvSpPr>
        <p:spPr>
          <a:xfrm rot="0">
            <a:off x="10433649" y="-70895"/>
            <a:ext cx="7728103" cy="2285550"/>
          </a:xfrm>
          <a:prstGeom prst="rect">
            <a:avLst/>
          </a:prstGeom>
        </p:spPr>
        <p:txBody>
          <a:bodyPr anchor="t" rtlCol="false" tIns="0" lIns="0" bIns="0" rIns="0">
            <a:spAutoFit/>
          </a:bodyPr>
          <a:lstStyle/>
          <a:p>
            <a:pPr algn="l">
              <a:lnSpc>
                <a:spcPts val="3017"/>
              </a:lnSpc>
            </a:pPr>
            <a:r>
              <a:rPr lang="en-US" sz="2011">
                <a:solidFill>
                  <a:srgbClr val="FFFFFF"/>
                </a:solidFill>
                <a:latin typeface="Times New Roman"/>
                <a:ea typeface="Times New Roman"/>
                <a:cs typeface="Times New Roman"/>
                <a:sym typeface="Times New Roman"/>
              </a:rPr>
              <a:t>Low-level hardware driver development (including core peripherals, sensors, communication interfaces, etc.), hardware abstraction layer (HAL) design, and system-level initialization and module integration ensure that hardware resources are correctly called and modules work together to provide a stable hardware interface for upper-level applications.</a:t>
            </a:r>
          </a:p>
          <a:p>
            <a:pPr algn="l">
              <a:lnSpc>
                <a:spcPts val="3017"/>
              </a:lnSpc>
              <a:spcBef>
                <a:spcPct val="0"/>
              </a:spcBef>
            </a:pPr>
          </a:p>
        </p:txBody>
      </p:sp>
      <p:sp>
        <p:nvSpPr>
          <p:cNvPr name="TextBox 16" id="16"/>
          <p:cNvSpPr txBox="true"/>
          <p:nvPr/>
        </p:nvSpPr>
        <p:spPr>
          <a:xfrm rot="0">
            <a:off x="12279202" y="5172148"/>
            <a:ext cx="5741307" cy="1513628"/>
          </a:xfrm>
          <a:prstGeom prst="rect">
            <a:avLst/>
          </a:prstGeom>
        </p:spPr>
        <p:txBody>
          <a:bodyPr anchor="t" rtlCol="false" tIns="0" lIns="0" bIns="0" rIns="0">
            <a:spAutoFit/>
          </a:bodyPr>
          <a:lstStyle/>
          <a:p>
            <a:pPr algn="just">
              <a:lnSpc>
                <a:spcPts val="3033"/>
              </a:lnSpc>
            </a:pPr>
            <a:r>
              <a:rPr lang="en-US" sz="2022" b="true">
                <a:solidFill>
                  <a:srgbClr val="000000"/>
                </a:solidFill>
                <a:latin typeface="Times New Roman Bold"/>
                <a:ea typeface="Times New Roman Bold"/>
                <a:cs typeface="Times New Roman Bold"/>
                <a:sym typeface="Times New Roman Bold"/>
              </a:rPr>
              <a:t>Hardware resource management</a:t>
            </a:r>
          </a:p>
          <a:p>
            <a:pPr algn="just">
              <a:lnSpc>
                <a:spcPts val="3033"/>
              </a:lnSpc>
              <a:spcBef>
                <a:spcPct val="0"/>
              </a:spcBef>
            </a:pPr>
            <a:r>
              <a:rPr lang="en-US" sz="2022">
                <a:solidFill>
                  <a:srgbClr val="000000"/>
                </a:solidFill>
                <a:latin typeface="Times New Roman"/>
                <a:ea typeface="Times New Roman"/>
                <a:cs typeface="Times New Roman"/>
                <a:sym typeface="Times New Roman"/>
              </a:rPr>
              <a:t>Function: Solve problems such as GPIO multiplexing and interrupt priority conflicts to ensure the coordinated operation of multiple peripherals.</a:t>
            </a:r>
          </a:p>
        </p:txBody>
      </p:sp>
      <p:sp>
        <p:nvSpPr>
          <p:cNvPr name="TextBox 17" id="17"/>
          <p:cNvSpPr txBox="true"/>
          <p:nvPr/>
        </p:nvSpPr>
        <p:spPr>
          <a:xfrm rot="0">
            <a:off x="134248" y="3638878"/>
            <a:ext cx="1574701" cy="401955"/>
          </a:xfrm>
          <a:prstGeom prst="rect">
            <a:avLst/>
          </a:prstGeom>
        </p:spPr>
        <p:txBody>
          <a:bodyPr anchor="t" rtlCol="false" tIns="0" lIns="0" bIns="0" rIns="0">
            <a:spAutoFit/>
          </a:bodyPr>
          <a:lstStyle/>
          <a:p>
            <a:pPr algn="ctr">
              <a:lnSpc>
                <a:spcPts val="3299"/>
              </a:lnSpc>
              <a:spcBef>
                <a:spcPct val="0"/>
              </a:spcBef>
            </a:pPr>
            <a:r>
              <a:rPr lang="en-US" b="true" sz="2199">
                <a:solidFill>
                  <a:srgbClr val="000000"/>
                </a:solidFill>
                <a:latin typeface="Times New Roman Bold"/>
                <a:ea typeface="Times New Roman Bold"/>
                <a:cs typeface="Times New Roman Bold"/>
                <a:sym typeface="Times New Roman Bold"/>
              </a:rPr>
              <a:t>GPIO Driver</a:t>
            </a:r>
          </a:p>
        </p:txBody>
      </p:sp>
      <p:sp>
        <p:nvSpPr>
          <p:cNvPr name="TextBox 18" id="18"/>
          <p:cNvSpPr txBox="true"/>
          <p:nvPr/>
        </p:nvSpPr>
        <p:spPr>
          <a:xfrm rot="0">
            <a:off x="134248" y="3964633"/>
            <a:ext cx="5709732" cy="1634885"/>
          </a:xfrm>
          <a:prstGeom prst="rect">
            <a:avLst/>
          </a:prstGeom>
        </p:spPr>
        <p:txBody>
          <a:bodyPr anchor="t" rtlCol="false" tIns="0" lIns="0" bIns="0" rIns="0">
            <a:spAutoFit/>
          </a:bodyPr>
          <a:lstStyle/>
          <a:p>
            <a:pPr algn="l">
              <a:lnSpc>
                <a:spcPts val="3294"/>
              </a:lnSpc>
            </a:pPr>
            <a:r>
              <a:rPr lang="en-US" sz="2196">
                <a:solidFill>
                  <a:srgbClr val="000000"/>
                </a:solidFill>
                <a:latin typeface="Times New Roman"/>
                <a:ea typeface="Times New Roman"/>
                <a:cs typeface="Times New Roman"/>
                <a:sym typeface="Times New Roman"/>
              </a:rPr>
              <a:t>Function:</a:t>
            </a:r>
          </a:p>
          <a:p>
            <a:pPr algn="l">
              <a:lnSpc>
                <a:spcPts val="3294"/>
              </a:lnSpc>
              <a:spcBef>
                <a:spcPct val="0"/>
              </a:spcBef>
            </a:pPr>
            <a:r>
              <a:rPr lang="en-US" sz="2196">
                <a:solidFill>
                  <a:srgbClr val="000000"/>
                </a:solidFill>
                <a:latin typeface="Times New Roman"/>
                <a:ea typeface="Times New Roman"/>
                <a:cs typeface="Times New Roman"/>
                <a:sym typeface="Times New Roman"/>
              </a:rPr>
              <a:t>Implement the initialization of general input and output pins ,level reading and writing, interrupt configuration, etc.</a:t>
            </a:r>
          </a:p>
        </p:txBody>
      </p:sp>
      <p:sp>
        <p:nvSpPr>
          <p:cNvPr name="TextBox 19" id="19"/>
          <p:cNvSpPr txBox="true"/>
          <p:nvPr/>
        </p:nvSpPr>
        <p:spPr>
          <a:xfrm rot="0">
            <a:off x="134248" y="5637354"/>
            <a:ext cx="6087601" cy="1524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GPIO is configured by directly manipulating registers, balancing efficiency and flexibility; a standardized interface is encapsulated, so the upper layer does not need to pay attention to the details of the hardware registers.</a:t>
            </a:r>
          </a:p>
        </p:txBody>
      </p:sp>
      <p:sp>
        <p:nvSpPr>
          <p:cNvPr name="TextBox 20" id="20"/>
          <p:cNvSpPr txBox="true"/>
          <p:nvPr/>
        </p:nvSpPr>
        <p:spPr>
          <a:xfrm rot="0">
            <a:off x="134248" y="7317263"/>
            <a:ext cx="3507581" cy="401955"/>
          </a:xfrm>
          <a:prstGeom prst="rect">
            <a:avLst/>
          </a:prstGeom>
        </p:spPr>
        <p:txBody>
          <a:bodyPr anchor="t" rtlCol="false" tIns="0" lIns="0" bIns="0" rIns="0">
            <a:spAutoFit/>
          </a:bodyPr>
          <a:lstStyle/>
          <a:p>
            <a:pPr algn="l">
              <a:lnSpc>
                <a:spcPts val="3299"/>
              </a:lnSpc>
              <a:spcBef>
                <a:spcPct val="0"/>
              </a:spcBef>
            </a:pPr>
            <a:r>
              <a:rPr lang="en-US" b="true" sz="2199">
                <a:solidFill>
                  <a:srgbClr val="000000"/>
                </a:solidFill>
                <a:latin typeface="Times New Roman Bold"/>
                <a:ea typeface="Times New Roman Bold"/>
                <a:cs typeface="Times New Roman Bold"/>
                <a:sym typeface="Times New Roman Bold"/>
              </a:rPr>
              <a:t>UART communication driver</a:t>
            </a:r>
          </a:p>
        </p:txBody>
      </p:sp>
      <p:sp>
        <p:nvSpPr>
          <p:cNvPr name="TextBox 21" id="21"/>
          <p:cNvSpPr txBox="true"/>
          <p:nvPr/>
        </p:nvSpPr>
        <p:spPr>
          <a:xfrm rot="0">
            <a:off x="134248" y="7804943"/>
            <a:ext cx="5024151" cy="1905000"/>
          </a:xfrm>
          <a:prstGeom prst="rect">
            <a:avLst/>
          </a:prstGeom>
        </p:spPr>
        <p:txBody>
          <a:bodyPr anchor="t" rtlCol="false" tIns="0" lIns="0" bIns="0" rIns="0">
            <a:spAutoFit/>
          </a:bodyPr>
          <a:lstStyle/>
          <a:p>
            <a:pPr algn="l">
              <a:lnSpc>
                <a:spcPts val="3000"/>
              </a:lnSpc>
            </a:pPr>
            <a:r>
              <a:rPr lang="en-US" sz="2000">
                <a:solidFill>
                  <a:srgbClr val="000000"/>
                </a:solidFill>
                <a:latin typeface="Times New Roman"/>
                <a:ea typeface="Times New Roman"/>
                <a:cs typeface="Times New Roman"/>
                <a:sym typeface="Times New Roman"/>
              </a:rPr>
              <a:t>Function: </a:t>
            </a:r>
          </a:p>
          <a:p>
            <a:pPr algn="l">
              <a:lnSpc>
                <a:spcPts val="3000"/>
              </a:lnSpc>
            </a:pPr>
            <a:r>
              <a:rPr lang="en-US" sz="2000">
                <a:solidFill>
                  <a:srgbClr val="000000"/>
                </a:solidFill>
                <a:latin typeface="Times New Roman"/>
                <a:ea typeface="Times New Roman"/>
                <a:cs typeface="Times New Roman"/>
                <a:sym typeface="Times New Roman"/>
              </a:rPr>
              <a:t>Implement serial port initialization , send and receive data in interrupt/polling mode, and support upper-layer data communication.</a:t>
            </a:r>
          </a:p>
          <a:p>
            <a:pPr algn="ctr">
              <a:lnSpc>
                <a:spcPts val="3000"/>
              </a:lnSpc>
              <a:spcBef>
                <a:spcPct val="0"/>
              </a:spcBef>
            </a:pPr>
          </a:p>
        </p:txBody>
      </p:sp>
      <p:sp>
        <p:nvSpPr>
          <p:cNvPr name="TextBox 22" id="22"/>
          <p:cNvSpPr txBox="true"/>
          <p:nvPr/>
        </p:nvSpPr>
        <p:spPr>
          <a:xfrm rot="0">
            <a:off x="6214269" y="2506265"/>
            <a:ext cx="5679650" cy="1905000"/>
          </a:xfrm>
          <a:prstGeom prst="rect">
            <a:avLst/>
          </a:prstGeom>
        </p:spPr>
        <p:txBody>
          <a:bodyPr anchor="t" rtlCol="false" tIns="0" lIns="0" bIns="0" rIns="0">
            <a:spAutoFit/>
          </a:bodyPr>
          <a:lstStyle/>
          <a:p>
            <a:pPr algn="l">
              <a:lnSpc>
                <a:spcPts val="3000"/>
              </a:lnSpc>
              <a:spcBef>
                <a:spcPct val="0"/>
              </a:spcBef>
            </a:pPr>
            <a:r>
              <a:rPr lang="en-US" sz="2000">
                <a:solidFill>
                  <a:srgbClr val="000000"/>
                </a:solidFill>
                <a:latin typeface="Times New Roman"/>
                <a:ea typeface="Times New Roman"/>
                <a:cs typeface="Times New Roman"/>
                <a:sym typeface="Times New Roman"/>
              </a:rPr>
              <a:t>It supports interrupt reception (to avoid blocking) and polling transmission (simple scenarios), and realizes continuous data transmission and reception through buffer management to adapt to different communication needs.</a:t>
            </a:r>
          </a:p>
        </p:txBody>
      </p:sp>
      <p:sp>
        <p:nvSpPr>
          <p:cNvPr name="TextBox 23" id="23"/>
          <p:cNvSpPr txBox="true"/>
          <p:nvPr/>
        </p:nvSpPr>
        <p:spPr>
          <a:xfrm rot="0">
            <a:off x="6214269" y="5467526"/>
            <a:ext cx="5568122" cy="6570309"/>
          </a:xfrm>
          <a:prstGeom prst="rect">
            <a:avLst/>
          </a:prstGeom>
        </p:spPr>
        <p:txBody>
          <a:bodyPr anchor="t" rtlCol="false" tIns="0" lIns="0" bIns="0" rIns="0">
            <a:spAutoFit/>
          </a:bodyPr>
          <a:lstStyle/>
          <a:p>
            <a:pPr algn="l">
              <a:lnSpc>
                <a:spcPts val="3451"/>
              </a:lnSpc>
            </a:pPr>
            <a:r>
              <a:rPr lang="en-US" sz="2300">
                <a:solidFill>
                  <a:srgbClr val="000000"/>
                </a:solidFill>
                <a:latin typeface="Times New Roman"/>
                <a:ea typeface="Times New Roman"/>
                <a:cs typeface="Times New Roman"/>
                <a:sym typeface="Times New Roman"/>
              </a:rPr>
              <a:t>Function: Communicate with sensors via the I2C bus to read data (such as temperature, humidity, acceleration, etc.).</a:t>
            </a:r>
          </a:p>
          <a:p>
            <a:pPr algn="l">
              <a:lnSpc>
                <a:spcPts val="3451"/>
              </a:lnSpc>
            </a:pPr>
            <a:r>
              <a:rPr lang="en-US" sz="2300">
                <a:solidFill>
                  <a:srgbClr val="000000"/>
                </a:solidFill>
                <a:latin typeface="Times New Roman"/>
                <a:ea typeface="Times New Roman"/>
                <a:cs typeface="Times New Roman"/>
                <a:sym typeface="Times New Roman"/>
              </a:rPr>
              <a:t>Strictly follow the sensor timing requirements, encapsulate the initialization and data reading interface, and the upper layer can directly call it to obtain sensor data without having to pay attention to the I2C underlying communication details.</a:t>
            </a:r>
          </a:p>
          <a:p>
            <a:pPr algn="l">
              <a:lnSpc>
                <a:spcPts val="3451"/>
              </a:lnSpc>
            </a:pPr>
          </a:p>
          <a:p>
            <a:pPr algn="l">
              <a:lnSpc>
                <a:spcPts val="3451"/>
              </a:lnSpc>
            </a:pPr>
          </a:p>
          <a:p>
            <a:pPr algn="l">
              <a:lnSpc>
                <a:spcPts val="3451"/>
              </a:lnSpc>
            </a:pPr>
          </a:p>
          <a:p>
            <a:pPr algn="l">
              <a:lnSpc>
                <a:spcPts val="3451"/>
              </a:lnSpc>
            </a:pPr>
          </a:p>
          <a:p>
            <a:pPr algn="l">
              <a:lnSpc>
                <a:spcPts val="3451"/>
              </a:lnSpc>
            </a:pPr>
          </a:p>
          <a:p>
            <a:pPr algn="l">
              <a:lnSpc>
                <a:spcPts val="3451"/>
              </a:lnSpc>
              <a:spcBef>
                <a:spcPct val="0"/>
              </a:spcBef>
            </a:pPr>
          </a:p>
        </p:txBody>
      </p:sp>
      <p:sp>
        <p:nvSpPr>
          <p:cNvPr name="TextBox 24" id="24"/>
          <p:cNvSpPr txBox="true"/>
          <p:nvPr/>
        </p:nvSpPr>
        <p:spPr>
          <a:xfrm rot="0">
            <a:off x="12279202" y="3554140"/>
            <a:ext cx="6023793" cy="1905000"/>
          </a:xfrm>
          <a:prstGeom prst="rect">
            <a:avLst/>
          </a:prstGeom>
        </p:spPr>
        <p:txBody>
          <a:bodyPr anchor="t" rtlCol="false" tIns="0" lIns="0" bIns="0" rIns="0">
            <a:spAutoFit/>
          </a:bodyPr>
          <a:lstStyle/>
          <a:p>
            <a:pPr algn="l">
              <a:lnSpc>
                <a:spcPts val="3000"/>
              </a:lnSpc>
            </a:pPr>
            <a:r>
              <a:rPr lang="en-US" sz="2000" b="true">
                <a:solidFill>
                  <a:srgbClr val="000000"/>
                </a:solidFill>
                <a:latin typeface="Times New Roman Bold"/>
                <a:ea typeface="Times New Roman Bold"/>
                <a:cs typeface="Times New Roman Bold"/>
                <a:sym typeface="Times New Roman Bold"/>
              </a:rPr>
              <a:t>System initialization process</a:t>
            </a:r>
          </a:p>
          <a:p>
            <a:pPr algn="l">
              <a:lnSpc>
                <a:spcPts val="3000"/>
              </a:lnSpc>
            </a:pPr>
            <a:r>
              <a:rPr lang="en-US" sz="2000">
                <a:solidFill>
                  <a:srgbClr val="000000"/>
                </a:solidFill>
                <a:latin typeface="Times New Roman"/>
                <a:ea typeface="Times New Roman"/>
                <a:cs typeface="Times New Roman"/>
                <a:sym typeface="Times New Roman"/>
              </a:rPr>
              <a:t>Function: Initialize hardware resources (clock, peripherals, interrupts) in order of dependency and establish the system operating environment.</a:t>
            </a:r>
          </a:p>
          <a:p>
            <a:pPr algn="ctr">
              <a:lnSpc>
                <a:spcPts val="3000"/>
              </a:lnSpc>
              <a:spcBef>
                <a:spcPct val="0"/>
              </a:spcBef>
            </a:pPr>
          </a:p>
        </p:txBody>
      </p:sp>
      <p:sp>
        <p:nvSpPr>
          <p:cNvPr name="TextBox 25" id="25"/>
          <p:cNvSpPr txBox="true"/>
          <p:nvPr/>
        </p:nvSpPr>
        <p:spPr>
          <a:xfrm rot="0">
            <a:off x="12279202" y="6857225"/>
            <a:ext cx="1540224" cy="762000"/>
          </a:xfrm>
          <a:prstGeom prst="rect">
            <a:avLst/>
          </a:prstGeom>
        </p:spPr>
        <p:txBody>
          <a:bodyPr anchor="t" rtlCol="false" tIns="0" lIns="0" bIns="0" rIns="0">
            <a:spAutoFit/>
          </a:bodyPr>
          <a:lstStyle/>
          <a:p>
            <a:pPr algn="ctr">
              <a:lnSpc>
                <a:spcPts val="3000"/>
              </a:lnSpc>
              <a:spcBef>
                <a:spcPct val="0"/>
              </a:spcBef>
            </a:pPr>
            <a:r>
              <a:rPr lang="en-US" sz="2000">
                <a:solidFill>
                  <a:srgbClr val="000000"/>
                </a:solidFill>
                <a:latin typeface="Times New Roman"/>
                <a:ea typeface="Times New Roman"/>
                <a:cs typeface="Times New Roman"/>
                <a:sym typeface="Times New Roman"/>
              </a:rPr>
              <a:t>Hardware layer</a:t>
            </a:r>
          </a:p>
        </p:txBody>
      </p:sp>
      <p:sp>
        <p:nvSpPr>
          <p:cNvPr name="TextBox 26" id="26"/>
          <p:cNvSpPr txBox="true"/>
          <p:nvPr/>
        </p:nvSpPr>
        <p:spPr>
          <a:xfrm rot="0">
            <a:off x="12279202" y="7926444"/>
            <a:ext cx="1540224" cy="1143000"/>
          </a:xfrm>
          <a:prstGeom prst="rect">
            <a:avLst/>
          </a:prstGeom>
        </p:spPr>
        <p:txBody>
          <a:bodyPr anchor="t" rtlCol="false" tIns="0" lIns="0" bIns="0" rIns="0">
            <a:spAutoFit/>
          </a:bodyPr>
          <a:lstStyle/>
          <a:p>
            <a:pPr algn="ctr">
              <a:lnSpc>
                <a:spcPts val="3000"/>
              </a:lnSpc>
            </a:pPr>
            <a:r>
              <a:rPr lang="en-US" sz="2000">
                <a:solidFill>
                  <a:srgbClr val="000000"/>
                </a:solidFill>
                <a:latin typeface="Times New Roman"/>
                <a:ea typeface="Times New Roman"/>
                <a:cs typeface="Times New Roman"/>
                <a:sym typeface="Times New Roman"/>
              </a:rPr>
              <a:t>Low-level drivers </a:t>
            </a:r>
          </a:p>
          <a:p>
            <a:pPr algn="ctr">
              <a:lnSpc>
                <a:spcPts val="3000"/>
              </a:lnSpc>
              <a:spcBef>
                <a:spcPct val="0"/>
              </a:spcBef>
            </a:pPr>
          </a:p>
        </p:txBody>
      </p:sp>
      <p:sp>
        <p:nvSpPr>
          <p:cNvPr name="TextBox 27" id="27"/>
          <p:cNvSpPr txBox="true"/>
          <p:nvPr/>
        </p:nvSpPr>
        <p:spPr>
          <a:xfrm rot="0">
            <a:off x="12279202" y="8988831"/>
            <a:ext cx="1540224" cy="762000"/>
          </a:xfrm>
          <a:prstGeom prst="rect">
            <a:avLst/>
          </a:prstGeom>
        </p:spPr>
        <p:txBody>
          <a:bodyPr anchor="t" rtlCol="false" tIns="0" lIns="0" bIns="0" rIns="0">
            <a:spAutoFit/>
          </a:bodyPr>
          <a:lstStyle/>
          <a:p>
            <a:pPr algn="ctr">
              <a:lnSpc>
                <a:spcPts val="3000"/>
              </a:lnSpc>
              <a:spcBef>
                <a:spcPct val="0"/>
              </a:spcBef>
            </a:pPr>
            <a:r>
              <a:rPr lang="en-US" sz="2000">
                <a:solidFill>
                  <a:srgbClr val="000000"/>
                </a:solidFill>
                <a:latin typeface="Times New Roman"/>
                <a:ea typeface="Times New Roman"/>
                <a:cs typeface="Times New Roman"/>
                <a:sym typeface="Times New Roman"/>
              </a:rPr>
              <a:t>System Integration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963D3D"/>
        </a:solidFill>
      </p:bgPr>
    </p:bg>
    <p:spTree>
      <p:nvGrpSpPr>
        <p:cNvPr id="1" name=""/>
        <p:cNvGrpSpPr/>
        <p:nvPr/>
      </p:nvGrpSpPr>
      <p:grpSpPr>
        <a:xfrm>
          <a:off x="0" y="0"/>
          <a:ext cx="0" cy="0"/>
          <a:chOff x="0" y="0"/>
          <a:chExt cx="0" cy="0"/>
        </a:xfrm>
      </p:grpSpPr>
      <p:sp>
        <p:nvSpPr>
          <p:cNvPr name="Freeform 2" id="2"/>
          <p:cNvSpPr/>
          <p:nvPr/>
        </p:nvSpPr>
        <p:spPr>
          <a:xfrm flipH="false" flipV="false" rot="0">
            <a:off x="476298" y="-746810"/>
            <a:ext cx="17267805" cy="8412822"/>
          </a:xfrm>
          <a:custGeom>
            <a:avLst/>
            <a:gdLst/>
            <a:ahLst/>
            <a:cxnLst/>
            <a:rect r="r" b="b" t="t" l="l"/>
            <a:pathLst>
              <a:path h="8412822" w="17267805">
                <a:moveTo>
                  <a:pt x="0" y="0"/>
                </a:moveTo>
                <a:lnTo>
                  <a:pt x="17267805" y="0"/>
                </a:lnTo>
                <a:lnTo>
                  <a:pt x="17267805" y="8412822"/>
                </a:lnTo>
                <a:lnTo>
                  <a:pt x="0" y="8412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227" y="990600"/>
            <a:ext cx="18688155" cy="38100"/>
            <a:chOff x="0" y="0"/>
            <a:chExt cx="24917540" cy="50800"/>
          </a:xfrm>
        </p:grpSpPr>
        <p:sp>
          <p:nvSpPr>
            <p:cNvPr name="Freeform 4" id="4"/>
            <p:cNvSpPr/>
            <p:nvPr/>
          </p:nvSpPr>
          <p:spPr>
            <a:xfrm flipH="false" flipV="false" rot="0">
              <a:off x="25400" y="0"/>
              <a:ext cx="24866727" cy="50800"/>
            </a:xfrm>
            <a:custGeom>
              <a:avLst/>
              <a:gdLst/>
              <a:ahLst/>
              <a:cxnLst/>
              <a:rect r="r" b="b" t="t" l="l"/>
              <a:pathLst>
                <a:path h="50800" w="24866727">
                  <a:moveTo>
                    <a:pt x="558800" y="0"/>
                  </a:moveTo>
                  <a:lnTo>
                    <a:pt x="965200" y="0"/>
                  </a:lnTo>
                  <a:lnTo>
                    <a:pt x="965200" y="50800"/>
                  </a:lnTo>
                  <a:lnTo>
                    <a:pt x="558800" y="50800"/>
                  </a:lnTo>
                  <a:close/>
                  <a:moveTo>
                    <a:pt x="1117600" y="0"/>
                  </a:moveTo>
                  <a:lnTo>
                    <a:pt x="1524000" y="0"/>
                  </a:lnTo>
                  <a:lnTo>
                    <a:pt x="1524000" y="50800"/>
                  </a:lnTo>
                  <a:lnTo>
                    <a:pt x="1117600" y="50800"/>
                  </a:lnTo>
                  <a:close/>
                  <a:moveTo>
                    <a:pt x="1676400" y="50800"/>
                  </a:moveTo>
                  <a:lnTo>
                    <a:pt x="2082800" y="50800"/>
                  </a:lnTo>
                  <a:lnTo>
                    <a:pt x="1676400" y="50800"/>
                  </a:lnTo>
                  <a:close/>
                  <a:moveTo>
                    <a:pt x="2235200" y="50800"/>
                  </a:moveTo>
                  <a:lnTo>
                    <a:pt x="2641600" y="50800"/>
                  </a:lnTo>
                  <a:lnTo>
                    <a:pt x="2235200" y="50800"/>
                  </a:lnTo>
                  <a:close/>
                  <a:moveTo>
                    <a:pt x="2794000" y="50800"/>
                  </a:moveTo>
                  <a:lnTo>
                    <a:pt x="3200400" y="50800"/>
                  </a:lnTo>
                  <a:lnTo>
                    <a:pt x="2794000" y="50800"/>
                  </a:lnTo>
                  <a:close/>
                  <a:moveTo>
                    <a:pt x="3352800" y="50800"/>
                  </a:moveTo>
                  <a:lnTo>
                    <a:pt x="3759200" y="50800"/>
                  </a:lnTo>
                  <a:lnTo>
                    <a:pt x="3352800" y="50800"/>
                  </a:lnTo>
                  <a:close/>
                  <a:moveTo>
                    <a:pt x="3911600" y="50800"/>
                  </a:moveTo>
                  <a:lnTo>
                    <a:pt x="4318000" y="50800"/>
                  </a:lnTo>
                  <a:lnTo>
                    <a:pt x="3911600" y="50800"/>
                  </a:lnTo>
                  <a:close/>
                  <a:moveTo>
                    <a:pt x="4470400" y="50800"/>
                  </a:moveTo>
                  <a:lnTo>
                    <a:pt x="4876800" y="50800"/>
                  </a:lnTo>
                  <a:lnTo>
                    <a:pt x="4470400" y="50800"/>
                  </a:lnTo>
                  <a:close/>
                  <a:moveTo>
                    <a:pt x="5029200" y="50800"/>
                  </a:moveTo>
                  <a:lnTo>
                    <a:pt x="5435600" y="50800"/>
                  </a:lnTo>
                  <a:lnTo>
                    <a:pt x="5029200" y="50800"/>
                  </a:lnTo>
                  <a:close/>
                  <a:moveTo>
                    <a:pt x="5588000" y="50800"/>
                  </a:moveTo>
                  <a:lnTo>
                    <a:pt x="5994400" y="50800"/>
                  </a:lnTo>
                  <a:lnTo>
                    <a:pt x="5588000" y="50800"/>
                  </a:lnTo>
                  <a:close/>
                  <a:moveTo>
                    <a:pt x="6146800" y="50800"/>
                  </a:moveTo>
                  <a:lnTo>
                    <a:pt x="6553200" y="50800"/>
                  </a:lnTo>
                  <a:lnTo>
                    <a:pt x="6146800" y="50800"/>
                  </a:lnTo>
                  <a:close/>
                  <a:moveTo>
                    <a:pt x="6705600" y="50800"/>
                  </a:moveTo>
                  <a:lnTo>
                    <a:pt x="7112000" y="50800"/>
                  </a:lnTo>
                  <a:lnTo>
                    <a:pt x="6705600" y="50800"/>
                  </a:lnTo>
                  <a:close/>
                  <a:moveTo>
                    <a:pt x="7264400" y="50800"/>
                  </a:moveTo>
                  <a:lnTo>
                    <a:pt x="7670800" y="50800"/>
                  </a:lnTo>
                  <a:lnTo>
                    <a:pt x="7264400" y="50800"/>
                  </a:lnTo>
                  <a:close/>
                  <a:moveTo>
                    <a:pt x="7823200" y="50800"/>
                  </a:moveTo>
                  <a:lnTo>
                    <a:pt x="8229600" y="50800"/>
                  </a:lnTo>
                  <a:lnTo>
                    <a:pt x="7823200" y="50800"/>
                  </a:lnTo>
                  <a:close/>
                  <a:moveTo>
                    <a:pt x="8382000" y="50800"/>
                  </a:moveTo>
                  <a:lnTo>
                    <a:pt x="8788400" y="50800"/>
                  </a:lnTo>
                  <a:lnTo>
                    <a:pt x="8382000" y="50800"/>
                  </a:lnTo>
                  <a:close/>
                  <a:moveTo>
                    <a:pt x="8940800" y="50800"/>
                  </a:moveTo>
                  <a:lnTo>
                    <a:pt x="9347200" y="50800"/>
                  </a:lnTo>
                  <a:lnTo>
                    <a:pt x="8940800" y="50800"/>
                  </a:lnTo>
                  <a:close/>
                  <a:moveTo>
                    <a:pt x="9499600" y="50800"/>
                  </a:moveTo>
                  <a:lnTo>
                    <a:pt x="9906000" y="50800"/>
                  </a:lnTo>
                  <a:lnTo>
                    <a:pt x="9499600" y="50800"/>
                  </a:lnTo>
                  <a:close/>
                  <a:moveTo>
                    <a:pt x="10058400" y="50800"/>
                  </a:moveTo>
                  <a:lnTo>
                    <a:pt x="10464800" y="50800"/>
                  </a:lnTo>
                  <a:lnTo>
                    <a:pt x="10058400" y="50800"/>
                  </a:lnTo>
                  <a:close/>
                  <a:moveTo>
                    <a:pt x="10617200" y="50800"/>
                  </a:moveTo>
                  <a:lnTo>
                    <a:pt x="11023600" y="50800"/>
                  </a:lnTo>
                  <a:lnTo>
                    <a:pt x="10617200" y="50800"/>
                  </a:lnTo>
                  <a:close/>
                  <a:moveTo>
                    <a:pt x="11176000" y="50800"/>
                  </a:moveTo>
                  <a:lnTo>
                    <a:pt x="11582400" y="50800"/>
                  </a:lnTo>
                  <a:lnTo>
                    <a:pt x="11176000" y="50800"/>
                  </a:lnTo>
                  <a:close/>
                  <a:moveTo>
                    <a:pt x="11734800" y="50800"/>
                  </a:moveTo>
                  <a:lnTo>
                    <a:pt x="12141200" y="50800"/>
                  </a:lnTo>
                  <a:lnTo>
                    <a:pt x="11734800" y="50800"/>
                  </a:lnTo>
                  <a:close/>
                  <a:moveTo>
                    <a:pt x="12293600" y="50800"/>
                  </a:moveTo>
                  <a:lnTo>
                    <a:pt x="12700000" y="50800"/>
                  </a:lnTo>
                  <a:lnTo>
                    <a:pt x="12293600" y="50800"/>
                  </a:lnTo>
                  <a:close/>
                  <a:moveTo>
                    <a:pt x="12852400" y="50800"/>
                  </a:moveTo>
                  <a:lnTo>
                    <a:pt x="13258800" y="50800"/>
                  </a:lnTo>
                  <a:lnTo>
                    <a:pt x="12852400" y="50800"/>
                  </a:lnTo>
                  <a:close/>
                  <a:moveTo>
                    <a:pt x="13411200" y="50800"/>
                  </a:moveTo>
                  <a:lnTo>
                    <a:pt x="13817600" y="50800"/>
                  </a:lnTo>
                  <a:lnTo>
                    <a:pt x="13411200" y="50800"/>
                  </a:lnTo>
                  <a:close/>
                  <a:moveTo>
                    <a:pt x="13970000" y="50800"/>
                  </a:moveTo>
                  <a:lnTo>
                    <a:pt x="14376400" y="50800"/>
                  </a:lnTo>
                  <a:lnTo>
                    <a:pt x="13970000" y="50800"/>
                  </a:lnTo>
                  <a:close/>
                  <a:moveTo>
                    <a:pt x="14528800" y="50800"/>
                  </a:moveTo>
                  <a:lnTo>
                    <a:pt x="14935200" y="50800"/>
                  </a:lnTo>
                  <a:lnTo>
                    <a:pt x="14528800" y="50800"/>
                  </a:lnTo>
                  <a:close/>
                  <a:moveTo>
                    <a:pt x="15087600" y="50800"/>
                  </a:moveTo>
                  <a:lnTo>
                    <a:pt x="15494000" y="50800"/>
                  </a:lnTo>
                  <a:lnTo>
                    <a:pt x="15087600" y="50800"/>
                  </a:lnTo>
                  <a:close/>
                  <a:moveTo>
                    <a:pt x="15646400" y="50800"/>
                  </a:moveTo>
                  <a:lnTo>
                    <a:pt x="16052800" y="50800"/>
                  </a:lnTo>
                  <a:lnTo>
                    <a:pt x="15646400" y="50800"/>
                  </a:lnTo>
                  <a:close/>
                  <a:moveTo>
                    <a:pt x="16205200" y="50800"/>
                  </a:moveTo>
                  <a:lnTo>
                    <a:pt x="16611600" y="50800"/>
                  </a:lnTo>
                  <a:lnTo>
                    <a:pt x="16205200" y="50800"/>
                  </a:lnTo>
                  <a:close/>
                  <a:moveTo>
                    <a:pt x="16764000" y="50800"/>
                  </a:moveTo>
                  <a:lnTo>
                    <a:pt x="17170400" y="50800"/>
                  </a:lnTo>
                  <a:lnTo>
                    <a:pt x="16764000" y="50800"/>
                  </a:lnTo>
                  <a:close/>
                  <a:moveTo>
                    <a:pt x="17322800" y="50800"/>
                  </a:moveTo>
                  <a:lnTo>
                    <a:pt x="17729200" y="50800"/>
                  </a:lnTo>
                  <a:lnTo>
                    <a:pt x="17322800" y="50800"/>
                  </a:lnTo>
                  <a:close/>
                  <a:moveTo>
                    <a:pt x="17881600" y="50800"/>
                  </a:moveTo>
                  <a:lnTo>
                    <a:pt x="18288000" y="50800"/>
                  </a:lnTo>
                  <a:lnTo>
                    <a:pt x="17881600" y="50800"/>
                  </a:lnTo>
                  <a:close/>
                  <a:moveTo>
                    <a:pt x="18440400" y="50800"/>
                  </a:moveTo>
                  <a:lnTo>
                    <a:pt x="18846800" y="50800"/>
                  </a:lnTo>
                  <a:lnTo>
                    <a:pt x="18440400" y="50800"/>
                  </a:lnTo>
                  <a:close/>
                  <a:moveTo>
                    <a:pt x="18999200" y="50800"/>
                  </a:moveTo>
                  <a:lnTo>
                    <a:pt x="19405600" y="50800"/>
                  </a:lnTo>
                  <a:lnTo>
                    <a:pt x="18999200" y="50800"/>
                  </a:lnTo>
                  <a:close/>
                  <a:moveTo>
                    <a:pt x="19558000" y="50800"/>
                  </a:moveTo>
                  <a:lnTo>
                    <a:pt x="19964400" y="50800"/>
                  </a:lnTo>
                  <a:lnTo>
                    <a:pt x="19558000" y="50800"/>
                  </a:lnTo>
                  <a:close/>
                  <a:moveTo>
                    <a:pt x="20116800" y="50800"/>
                  </a:moveTo>
                  <a:lnTo>
                    <a:pt x="20523200" y="50800"/>
                  </a:lnTo>
                  <a:lnTo>
                    <a:pt x="20116800" y="50800"/>
                  </a:lnTo>
                  <a:close/>
                  <a:moveTo>
                    <a:pt x="20675600" y="50800"/>
                  </a:moveTo>
                  <a:lnTo>
                    <a:pt x="21082000" y="50800"/>
                  </a:lnTo>
                  <a:lnTo>
                    <a:pt x="20675600" y="50800"/>
                  </a:lnTo>
                  <a:close/>
                  <a:moveTo>
                    <a:pt x="21234400" y="50800"/>
                  </a:moveTo>
                  <a:lnTo>
                    <a:pt x="21640800" y="50800"/>
                  </a:lnTo>
                  <a:lnTo>
                    <a:pt x="21234400" y="50800"/>
                  </a:lnTo>
                  <a:close/>
                  <a:moveTo>
                    <a:pt x="21793200" y="50800"/>
                  </a:moveTo>
                  <a:lnTo>
                    <a:pt x="22199600" y="50800"/>
                  </a:lnTo>
                  <a:lnTo>
                    <a:pt x="21793200" y="50800"/>
                  </a:lnTo>
                  <a:close/>
                  <a:moveTo>
                    <a:pt x="22352000" y="50800"/>
                  </a:moveTo>
                  <a:lnTo>
                    <a:pt x="22758400" y="50800"/>
                  </a:lnTo>
                  <a:lnTo>
                    <a:pt x="22352000" y="50800"/>
                  </a:lnTo>
                  <a:close/>
                  <a:moveTo>
                    <a:pt x="22910800" y="50800"/>
                  </a:moveTo>
                  <a:lnTo>
                    <a:pt x="23317200" y="50800"/>
                  </a:lnTo>
                  <a:lnTo>
                    <a:pt x="22910800" y="50800"/>
                  </a:lnTo>
                  <a:close/>
                  <a:moveTo>
                    <a:pt x="23469600" y="50800"/>
                  </a:moveTo>
                  <a:lnTo>
                    <a:pt x="23876000" y="50800"/>
                  </a:lnTo>
                  <a:lnTo>
                    <a:pt x="23469600" y="50800"/>
                  </a:lnTo>
                  <a:close/>
                  <a:moveTo>
                    <a:pt x="24028400" y="50800"/>
                  </a:moveTo>
                  <a:lnTo>
                    <a:pt x="24434800" y="50800"/>
                  </a:lnTo>
                  <a:lnTo>
                    <a:pt x="24028400" y="50800"/>
                  </a:lnTo>
                  <a:close/>
                  <a:moveTo>
                    <a:pt x="24587200" y="50800"/>
                  </a:moveTo>
                  <a:lnTo>
                    <a:pt x="24866727" y="50800"/>
                  </a:lnTo>
                  <a:lnTo>
                    <a:pt x="24587200" y="50800"/>
                  </a:lnTo>
                  <a:close/>
                  <a:moveTo>
                    <a:pt x="0" y="0"/>
                  </a:moveTo>
                  <a:lnTo>
                    <a:pt x="406400" y="0"/>
                  </a:lnTo>
                  <a:lnTo>
                    <a:pt x="406400" y="50800"/>
                  </a:lnTo>
                  <a:lnTo>
                    <a:pt x="0" y="50800"/>
                  </a:lnTo>
                  <a:close/>
                </a:path>
              </a:pathLst>
            </a:custGeom>
            <a:solidFill>
              <a:srgbClr val="963D3D"/>
            </a:solidFill>
          </p:spPr>
        </p:sp>
      </p:grpSp>
      <p:grpSp>
        <p:nvGrpSpPr>
          <p:cNvPr name="Group 5" id="5"/>
          <p:cNvGrpSpPr/>
          <p:nvPr/>
        </p:nvGrpSpPr>
        <p:grpSpPr>
          <a:xfrm rot="0">
            <a:off x="543898" y="8085067"/>
            <a:ext cx="17200205" cy="38100"/>
            <a:chOff x="0" y="0"/>
            <a:chExt cx="22933607" cy="50800"/>
          </a:xfrm>
        </p:grpSpPr>
        <p:sp>
          <p:nvSpPr>
            <p:cNvPr name="Freeform 6" id="6"/>
            <p:cNvSpPr/>
            <p:nvPr/>
          </p:nvSpPr>
          <p:spPr>
            <a:xfrm flipH="false" flipV="false" rot="0">
              <a:off x="25400" y="0"/>
              <a:ext cx="22882861" cy="50800"/>
            </a:xfrm>
            <a:custGeom>
              <a:avLst/>
              <a:gdLst/>
              <a:ahLst/>
              <a:cxnLst/>
              <a:rect r="r" b="b" t="t" l="l"/>
              <a:pathLst>
                <a:path h="50800" w="22882861">
                  <a:moveTo>
                    <a:pt x="0" y="0"/>
                  </a:moveTo>
                  <a:lnTo>
                    <a:pt x="22882861" y="0"/>
                  </a:lnTo>
                  <a:lnTo>
                    <a:pt x="22882861" y="50800"/>
                  </a:lnTo>
                  <a:lnTo>
                    <a:pt x="0" y="50800"/>
                  </a:lnTo>
                  <a:close/>
                </a:path>
              </a:pathLst>
            </a:custGeom>
            <a:solidFill>
              <a:srgbClr val="FFFFFF"/>
            </a:solidFill>
          </p:spPr>
        </p:sp>
      </p:grpSp>
      <p:sp>
        <p:nvSpPr>
          <p:cNvPr name="Freeform 7" id="7"/>
          <p:cNvSpPr/>
          <p:nvPr/>
        </p:nvSpPr>
        <p:spPr>
          <a:xfrm flipH="false" flipV="false" rot="0">
            <a:off x="5305360" y="-611200"/>
            <a:ext cx="7677280" cy="4625296"/>
          </a:xfrm>
          <a:custGeom>
            <a:avLst/>
            <a:gdLst/>
            <a:ahLst/>
            <a:cxnLst/>
            <a:rect r="r" b="b" t="t" l="l"/>
            <a:pathLst>
              <a:path h="4625296" w="7677280">
                <a:moveTo>
                  <a:pt x="0" y="0"/>
                </a:moveTo>
                <a:lnTo>
                  <a:pt x="7677280" y="0"/>
                </a:lnTo>
                <a:lnTo>
                  <a:pt x="7677280" y="4625296"/>
                </a:lnTo>
                <a:lnTo>
                  <a:pt x="0" y="4625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4166496"/>
            <a:ext cx="15746558" cy="2610071"/>
          </a:xfrm>
          <a:prstGeom prst="rect">
            <a:avLst/>
          </a:prstGeom>
        </p:spPr>
        <p:txBody>
          <a:bodyPr anchor="t" rtlCol="false" tIns="0" lIns="0" bIns="0" rIns="0">
            <a:spAutoFit/>
          </a:bodyPr>
          <a:lstStyle/>
          <a:p>
            <a:pPr algn="ctr">
              <a:lnSpc>
                <a:spcPts val="10198"/>
              </a:lnSpc>
            </a:pPr>
            <a:r>
              <a:rPr lang="en-US" sz="8500" spc="-1">
                <a:solidFill>
                  <a:srgbClr val="963D3D"/>
                </a:solidFill>
                <a:latin typeface="Times New Roman"/>
                <a:ea typeface="Times New Roman"/>
                <a:cs typeface="Times New Roman"/>
                <a:sym typeface="Times New Roman"/>
              </a:rPr>
              <a:t>THANK YOU VERY MUCH FOR WATCHING</a:t>
            </a:r>
          </a:p>
        </p:txBody>
      </p:sp>
      <p:grpSp>
        <p:nvGrpSpPr>
          <p:cNvPr name="Group 9" id="9"/>
          <p:cNvGrpSpPr/>
          <p:nvPr/>
        </p:nvGrpSpPr>
        <p:grpSpPr>
          <a:xfrm rot="0">
            <a:off x="7822892" y="613094"/>
            <a:ext cx="2642215" cy="793112"/>
            <a:chOff x="0" y="0"/>
            <a:chExt cx="3522953" cy="1057483"/>
          </a:xfrm>
        </p:grpSpPr>
        <p:sp>
          <p:nvSpPr>
            <p:cNvPr name="Freeform 10" id="10"/>
            <p:cNvSpPr/>
            <p:nvPr/>
          </p:nvSpPr>
          <p:spPr>
            <a:xfrm flipH="false" flipV="false" rot="0">
              <a:off x="0" y="0"/>
              <a:ext cx="3522980" cy="1057529"/>
            </a:xfrm>
            <a:custGeom>
              <a:avLst/>
              <a:gdLst/>
              <a:ahLst/>
              <a:cxnLst/>
              <a:rect r="r" b="b" t="t" l="l"/>
              <a:pathLst>
                <a:path h="1057529" w="3522980">
                  <a:moveTo>
                    <a:pt x="0" y="0"/>
                  </a:moveTo>
                  <a:lnTo>
                    <a:pt x="3522980" y="0"/>
                  </a:lnTo>
                  <a:lnTo>
                    <a:pt x="3522980" y="1057529"/>
                  </a:lnTo>
                  <a:lnTo>
                    <a:pt x="0" y="1057529"/>
                  </a:lnTo>
                  <a:lnTo>
                    <a:pt x="0" y="0"/>
                  </a:lnTo>
                  <a:close/>
                </a:path>
              </a:pathLst>
            </a:custGeom>
            <a:blipFill>
              <a:blip r:embed="rId6"/>
              <a:stretch>
                <a:fillRect l="0" t="-42" r="0" b="-37"/>
              </a:stretch>
            </a:blipFill>
          </p:spPr>
        </p:sp>
      </p:grpSp>
      <p:sp>
        <p:nvSpPr>
          <p:cNvPr name="TextBox 11" id="11"/>
          <p:cNvSpPr txBox="true"/>
          <p:nvPr/>
        </p:nvSpPr>
        <p:spPr>
          <a:xfrm rot="0">
            <a:off x="5138051" y="1756855"/>
            <a:ext cx="8117599" cy="1142816"/>
          </a:xfrm>
          <a:prstGeom prst="rect">
            <a:avLst/>
          </a:prstGeom>
        </p:spPr>
        <p:txBody>
          <a:bodyPr anchor="t" rtlCol="false" tIns="0" lIns="0" bIns="0" rIns="0">
            <a:spAutoFit/>
          </a:bodyPr>
          <a:lstStyle/>
          <a:p>
            <a:pPr algn="ctr">
              <a:lnSpc>
                <a:spcPts val="8780"/>
              </a:lnSpc>
            </a:pPr>
            <a:r>
              <a:rPr lang="en-US" sz="7315" b="true">
                <a:solidFill>
                  <a:srgbClr val="FFFFFF"/>
                </a:solidFill>
                <a:latin typeface="Arimo Bold"/>
                <a:ea typeface="Arimo Bold"/>
                <a:cs typeface="Arimo Bold"/>
                <a:sym typeface="Arimo Bold"/>
              </a:rPr>
              <a:t>Group18</a:t>
            </a:r>
          </a:p>
        </p:txBody>
      </p:sp>
      <p:sp>
        <p:nvSpPr>
          <p:cNvPr name="Freeform 12" id="12"/>
          <p:cNvSpPr/>
          <p:nvPr/>
        </p:nvSpPr>
        <p:spPr>
          <a:xfrm flipH="false" flipV="false" rot="0">
            <a:off x="14537691" y="8919731"/>
            <a:ext cx="677138" cy="677138"/>
          </a:xfrm>
          <a:custGeom>
            <a:avLst/>
            <a:gdLst/>
            <a:ahLst/>
            <a:cxnLst/>
            <a:rect r="r" b="b" t="t" l="l"/>
            <a:pathLst>
              <a:path h="677138" w="677138">
                <a:moveTo>
                  <a:pt x="0" y="0"/>
                </a:moveTo>
                <a:lnTo>
                  <a:pt x="677138" y="0"/>
                </a:lnTo>
                <a:lnTo>
                  <a:pt x="677138" y="677138"/>
                </a:lnTo>
                <a:lnTo>
                  <a:pt x="0" y="6771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4620630" y="9002670"/>
            <a:ext cx="511260" cy="511260"/>
          </a:xfrm>
          <a:custGeom>
            <a:avLst/>
            <a:gdLst/>
            <a:ahLst/>
            <a:cxnLst/>
            <a:rect r="r" b="b" t="t" l="l"/>
            <a:pathLst>
              <a:path h="511260" w="511260">
                <a:moveTo>
                  <a:pt x="0" y="0"/>
                </a:moveTo>
                <a:lnTo>
                  <a:pt x="511260" y="0"/>
                </a:lnTo>
                <a:lnTo>
                  <a:pt x="511260" y="511260"/>
                </a:lnTo>
                <a:lnTo>
                  <a:pt x="0" y="5112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5397400" y="9067818"/>
            <a:ext cx="3423428" cy="409575"/>
          </a:xfrm>
          <a:prstGeom prst="rect">
            <a:avLst/>
          </a:prstGeom>
        </p:spPr>
        <p:txBody>
          <a:bodyPr anchor="t" rtlCol="false" tIns="0" lIns="0" bIns="0" rIns="0">
            <a:spAutoFit/>
          </a:bodyPr>
          <a:lstStyle/>
          <a:p>
            <a:pPr algn="l">
              <a:lnSpc>
                <a:spcPts val="3360"/>
              </a:lnSpc>
            </a:pPr>
            <a:r>
              <a:rPr lang="en-US" sz="2799" spc="0">
                <a:solidFill>
                  <a:srgbClr val="FFFFFF"/>
                </a:solidFill>
                <a:latin typeface="思源黑体"/>
                <a:ea typeface="思源黑体"/>
                <a:cs typeface="思源黑体"/>
                <a:sym typeface="思源黑体"/>
              </a:rPr>
              <a:t>2025/10/20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DAG1r9qO1tg</dc:identifier>
  <dcterms:modified xsi:type="dcterms:W3CDTF">2011-08-01T06:04:30Z</dcterms:modified>
  <cp:revision>1</cp:revision>
  <dc:title>小学期验收</dc:title>
</cp:coreProperties>
</file>